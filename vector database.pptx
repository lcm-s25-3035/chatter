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PartName="/docProps/custom.xml" ContentType="application/vnd.openxmlformats-officedocument.custom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y="5143500" cx="9144000"/>
  <p:notesSz cx="6858000" cy="9144000"/>
  <p:embeddedFontLst>
    <p:embeddedFont>
      <p:font typeface="Montserrat"/>
      <p:regular r:id="rId56"/>
      <p:bold r:id="rId57"/>
      <p:italic r:id="rId58"/>
      <p:boldItalic r:id="rId59"/>
    </p:embeddedFont>
    <p:embeddedFont>
      <p:font typeface="Lato"/>
      <p:regular r:id="rId60"/>
      <p:bold r:id="rId61"/>
      <p:italic r:id="rId62"/>
      <p:boldItalic r:id="rId63"/>
    </p:embeddedFont>
    <p:embeddedFont>
      <p:font typeface="Roboto Mono"/>
      <p:regular r:id="rId64"/>
      <p:bold r:id="rId65"/>
      <p:italic r:id="rId66"/>
      <p:boldItalic r:id="rId6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BE40BB6-2E75-4D1F-8B56-32D25E285127}">
  <a:tblStyle styleId="{7BE40BB6-2E75-4D1F-8B56-32D25E28512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62" Type="http://schemas.openxmlformats.org/officeDocument/2006/relationships/font" Target="fonts/Lato-italic.fntdata"/><Relationship Id="rId61" Type="http://schemas.openxmlformats.org/officeDocument/2006/relationships/font" Target="fonts/Lato-bold.fntdata"/><Relationship Id="rId20" Type="http://schemas.openxmlformats.org/officeDocument/2006/relationships/slide" Target="slides/slide14.xml"/><Relationship Id="rId64" Type="http://schemas.openxmlformats.org/officeDocument/2006/relationships/font" Target="fonts/RobotoMono-regular.fntdata"/><Relationship Id="rId63" Type="http://schemas.openxmlformats.org/officeDocument/2006/relationships/font" Target="fonts/Lato-boldItalic.fntdata"/><Relationship Id="rId22" Type="http://schemas.openxmlformats.org/officeDocument/2006/relationships/slide" Target="slides/slide16.xml"/><Relationship Id="rId66" Type="http://schemas.openxmlformats.org/officeDocument/2006/relationships/font" Target="fonts/RobotoMono-italic.fntdata"/><Relationship Id="rId21" Type="http://schemas.openxmlformats.org/officeDocument/2006/relationships/slide" Target="slides/slide15.xml"/><Relationship Id="rId65" Type="http://schemas.openxmlformats.org/officeDocument/2006/relationships/font" Target="fonts/RobotoMono-bold.fntdata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67" Type="http://schemas.openxmlformats.org/officeDocument/2006/relationships/font" Target="fonts/RobotoMono-boldItalic.fntdata"/><Relationship Id="rId60" Type="http://schemas.openxmlformats.org/officeDocument/2006/relationships/font" Target="fonts/Lato-regular.fntdata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slide" Target="slides/slide45.xml"/><Relationship Id="rId50" Type="http://schemas.openxmlformats.org/officeDocument/2006/relationships/slide" Target="slides/slide44.xml"/><Relationship Id="rId53" Type="http://schemas.openxmlformats.org/officeDocument/2006/relationships/slide" Target="slides/slide47.xml"/><Relationship Id="rId52" Type="http://schemas.openxmlformats.org/officeDocument/2006/relationships/slide" Target="slides/slide46.xml"/><Relationship Id="rId11" Type="http://schemas.openxmlformats.org/officeDocument/2006/relationships/slide" Target="slides/slide5.xml"/><Relationship Id="rId55" Type="http://schemas.openxmlformats.org/officeDocument/2006/relationships/slide" Target="slides/slide49.xml"/><Relationship Id="rId10" Type="http://schemas.openxmlformats.org/officeDocument/2006/relationships/slide" Target="slides/slide4.xml"/><Relationship Id="rId54" Type="http://schemas.openxmlformats.org/officeDocument/2006/relationships/slide" Target="slides/slide48.xml"/><Relationship Id="rId13" Type="http://schemas.openxmlformats.org/officeDocument/2006/relationships/slide" Target="slides/slide7.xml"/><Relationship Id="rId57" Type="http://schemas.openxmlformats.org/officeDocument/2006/relationships/font" Target="fonts/Montserrat-bold.fntdata"/><Relationship Id="rId12" Type="http://schemas.openxmlformats.org/officeDocument/2006/relationships/slide" Target="slides/slide6.xml"/><Relationship Id="rId56" Type="http://schemas.openxmlformats.org/officeDocument/2006/relationships/font" Target="fonts/Montserrat-regular.fntdata"/><Relationship Id="rId15" Type="http://schemas.openxmlformats.org/officeDocument/2006/relationships/slide" Target="slides/slide9.xml"/><Relationship Id="rId59" Type="http://schemas.openxmlformats.org/officeDocument/2006/relationships/font" Target="fonts/Montserrat-boldItalic.fntdata"/><Relationship Id="rId14" Type="http://schemas.openxmlformats.org/officeDocument/2006/relationships/slide" Target="slides/slide8.xml"/><Relationship Id="rId58" Type="http://schemas.openxmlformats.org/officeDocument/2006/relationships/font" Target="fonts/Montserrat-italic.fntdata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617996335c_1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617996335c_1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617996335c_1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617996335c_1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603f64f1b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603f64f1b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5f0dcd5a8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5f0dcd5a8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5e473e7a31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5e473e7a31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5e320e54bc_0_2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5e320e54bc_0_2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603cb3c9da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603cb3c9da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6052320cd9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6052320cd9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61c507b2de_1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61c507b2de_1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61fced9602_2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61fced9602_2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61fced9602_2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361fced9602_2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61c507b2de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361c507b2de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361c507b2de_1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" name="Google Shape;215;g361c507b2de_1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61c507b2de_1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61c507b2de_1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6052320cd9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6052320cd9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6052320cd9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6052320cd9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61c507b2de_1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61c507b2de_1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6082dbd38c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36082dbd38c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36082dbd38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36082dbd38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6082dbd38c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g36082dbd38c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61fced9602_2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361fced9602_2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36082dbd38c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1" name="Google Shape;271;g36082dbd38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361fced9602_2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361fced9602_2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61fced9602_2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361fced9602_2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6082dbd38c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36082dbd38c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35f0dcd5a82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5" name="Google Shape;295;g35f0dcd5a82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35e320e54bc_0_2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" name="Google Shape;302;g35e320e54bc_0_2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35f0dcd5a82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35f0dcd5a82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36191a178c4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" name="Google Shape;313;g36191a178c4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36171525dc4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36171525dc4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g36171525dc4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1" name="Google Shape;331;g36171525dc4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36171525dc4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9" name="Google Shape;339;g36171525dc4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35f0dcd5a82_0_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8" name="Google Shape;348;g35f0dcd5a82_0_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g35f0dcd5a82_0_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4" name="Google Shape;354;g35f0dcd5a82_0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g35f0dcd5a82_0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0" name="Google Shape;360;g35f0dcd5a82_0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35f0dcd5a82_0_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6" name="Google Shape;366;g35f0dcd5a82_0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g360212bd7c0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2" name="Google Shape;372;g360212bd7c0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360212bd7c0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0" name="Google Shape;380;g360212bd7c0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360212bd7c0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5" name="Google Shape;385;g360212bd7c0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36191a178c4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g36191a178c4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6191a178c4_2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1" name="Google Shape;401;g36191a178c4_2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g36191a178c4_2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9" name="Google Shape;409;g36191a178c4_2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362094530a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7" name="Google Shape;417;g362094530a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g360212bd7c0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4" name="Google Shape;424;g360212bd7c0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360212bd7c0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360212bd7c0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360212bd7c0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6" name="Google Shape;436;g360212bd7c0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g360212bd7c0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2" name="Google Shape;442;g360212bd7c0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g361c507b2de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8" name="Google Shape;448;g361c507b2de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fmla="val 0" name="adj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fmla="val 58774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9" name="Google Shape;39;p3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0" name="Google Shape;40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6" name="Google Shape;46;p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7" name="Google Shape;4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3" name="Google Shape;53;p5"/>
          <p:cNvSpPr txBox="1"/>
          <p:nvPr>
            <p:ph idx="1" type="body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5"/>
          <p:cNvSpPr txBox="1"/>
          <p:nvPr>
            <p:ph idx="2" type="body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1" name="Google Shape;61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7"/>
          <p:cNvSpPr txBox="1"/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7" name="Google Shape;67;p7"/>
          <p:cNvSpPr txBox="1"/>
          <p:nvPr>
            <p:ph idx="1" type="body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8" name="Google Shape;6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9" name="Google Shape;89;p8"/>
          <p:cNvSpPr txBox="1"/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0" name="Google Shape;90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9"/>
          <p:cNvSpPr txBox="1"/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6" name="Google Shape;96;p9"/>
          <p:cNvSpPr txBox="1"/>
          <p:nvPr>
            <p:ph idx="1" type="subTitle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97" name="Google Shape;97;p9"/>
          <p:cNvSpPr txBox="1"/>
          <p:nvPr>
            <p:ph idx="2" type="body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p10"/>
          <p:cNvSpPr txBox="1"/>
          <p:nvPr>
            <p:ph idx="1" type="body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4" name="Google Shape;104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5" name="Google Shape;125;p11"/>
          <p:cNvSpPr txBox="1"/>
          <p:nvPr>
            <p:ph hasCustomPrompt="1" type="title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/>
          <p:nvPr>
            <p:ph idx="1" type="body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7" name="Google Shape;12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focus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4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jp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1.png"/><Relationship Id="rId4" Type="http://schemas.openxmlformats.org/officeDocument/2006/relationships/image" Target="../media/image23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7.png"/><Relationship Id="rId4" Type="http://schemas.openxmlformats.org/officeDocument/2006/relationships/image" Target="../media/image15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3.png"/><Relationship Id="rId4" Type="http://schemas.openxmlformats.org/officeDocument/2006/relationships/image" Target="../media/image9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Relationship Id="rId3" Type="http://schemas.openxmlformats.org/officeDocument/2006/relationships/hyperlink" Target="https://www.pinecone.io" TargetMode="External"/><Relationship Id="rId4" Type="http://schemas.openxmlformats.org/officeDocument/2006/relationships/hyperlink" Target="https://www.pinecone.io" TargetMode="External"/><Relationship Id="rId5" Type="http://schemas.openxmlformats.org/officeDocument/2006/relationships/image" Target="../media/image22.png"/><Relationship Id="rId6" Type="http://schemas.openxmlformats.org/officeDocument/2006/relationships/image" Target="../media/image16.png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8.png"/><Relationship Id="rId4" Type="http://schemas.openxmlformats.org/officeDocument/2006/relationships/image" Target="../media/image20.png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7.png"/><Relationship Id="rId4" Type="http://schemas.openxmlformats.org/officeDocument/2006/relationships/image" Target="../media/image19.png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9.png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/>
          <p:nvPr>
            <p:ph type="ctrTitle"/>
          </p:nvPr>
        </p:nvSpPr>
        <p:spPr>
          <a:xfrm>
            <a:off x="3125925" y="333500"/>
            <a:ext cx="5777700" cy="100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-GB" sz="4000"/>
              <a:t>VECTOR DATABASE</a:t>
            </a:r>
            <a:endParaRPr b="1" sz="4000"/>
          </a:p>
        </p:txBody>
      </p:sp>
      <p:sp>
        <p:nvSpPr>
          <p:cNvPr id="135" name="Google Shape;135;p13"/>
          <p:cNvSpPr txBox="1"/>
          <p:nvPr>
            <p:ph idx="1" type="subTitle"/>
          </p:nvPr>
        </p:nvSpPr>
        <p:spPr>
          <a:xfrm>
            <a:off x="3537150" y="1625250"/>
            <a:ext cx="5249100" cy="313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2200">
                <a:latin typeface="Impact"/>
                <a:ea typeface="Impact"/>
                <a:cs typeface="Impact"/>
                <a:sym typeface="Impact"/>
              </a:rPr>
              <a:t>Sneha Painuli [</a:t>
            </a:r>
            <a:r>
              <a:rPr b="1" lang="en-GB" sz="2200">
                <a:latin typeface="Arial"/>
                <a:ea typeface="Arial"/>
                <a:cs typeface="Arial"/>
                <a:sym typeface="Arial"/>
              </a:rPr>
              <a:t>C0933116]</a:t>
            </a:r>
            <a:endParaRPr b="1" sz="2200">
              <a:latin typeface="Arial"/>
              <a:ea typeface="Arial"/>
              <a:cs typeface="Arial"/>
              <a:sym typeface="Arial"/>
            </a:endParaRPr>
          </a:p>
          <a:p>
            <a:pPr indent="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2200">
                <a:latin typeface="Impact"/>
                <a:ea typeface="Impact"/>
                <a:cs typeface="Impact"/>
                <a:sym typeface="Impact"/>
              </a:rPr>
              <a:t>Amita    	[</a:t>
            </a:r>
            <a:r>
              <a:rPr b="1" lang="en-GB" sz="2200">
                <a:latin typeface="Arial"/>
                <a:ea typeface="Arial"/>
                <a:cs typeface="Arial"/>
                <a:sym typeface="Arial"/>
              </a:rPr>
              <a:t>C0935607]</a:t>
            </a:r>
            <a:endParaRPr b="1" sz="2200">
              <a:latin typeface="Arial"/>
              <a:ea typeface="Arial"/>
              <a:cs typeface="Arial"/>
              <a:sym typeface="Arial"/>
            </a:endParaRPr>
          </a:p>
          <a:p>
            <a:pPr indent="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2200">
                <a:latin typeface="Impact"/>
                <a:ea typeface="Impact"/>
                <a:cs typeface="Impact"/>
                <a:sym typeface="Impact"/>
              </a:rPr>
              <a:t>Japjeet Kaur	 (</a:t>
            </a:r>
            <a:r>
              <a:rPr b="1" lang="en-GB" sz="2200">
                <a:latin typeface="Arial"/>
                <a:ea typeface="Arial"/>
                <a:cs typeface="Arial"/>
                <a:sym typeface="Arial"/>
              </a:rPr>
              <a:t>C0937720]</a:t>
            </a:r>
            <a:endParaRPr b="1" sz="2200">
              <a:latin typeface="Arial"/>
              <a:ea typeface="Arial"/>
              <a:cs typeface="Arial"/>
              <a:sym typeface="Arial"/>
            </a:endParaRPr>
          </a:p>
          <a:p>
            <a:pPr indent="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2200">
                <a:latin typeface="Impact"/>
                <a:ea typeface="Impact"/>
                <a:cs typeface="Impact"/>
                <a:sym typeface="Impact"/>
              </a:rPr>
              <a:t>Manjot Kaur [</a:t>
            </a:r>
            <a:r>
              <a:rPr b="1" lang="en-GB" sz="2200">
                <a:latin typeface="Arial"/>
                <a:ea typeface="Arial"/>
                <a:cs typeface="Arial"/>
                <a:sym typeface="Arial"/>
              </a:rPr>
              <a:t>C0938094]</a:t>
            </a:r>
            <a:endParaRPr b="1" sz="2200">
              <a:latin typeface="Arial"/>
              <a:ea typeface="Arial"/>
              <a:cs typeface="Arial"/>
              <a:sym typeface="Arial"/>
            </a:endParaRPr>
          </a:p>
          <a:p>
            <a:pPr indent="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2200">
                <a:latin typeface="Impact"/>
                <a:ea typeface="Impact"/>
                <a:cs typeface="Impact"/>
                <a:sym typeface="Impact"/>
              </a:rPr>
              <a:t>Anju Bala </a:t>
            </a:r>
            <a:r>
              <a:rPr b="1" lang="en-GB" sz="2200">
                <a:latin typeface="Impact"/>
                <a:ea typeface="Impact"/>
                <a:cs typeface="Impact"/>
                <a:sym typeface="Impact"/>
              </a:rPr>
              <a:t>[</a:t>
            </a:r>
            <a:r>
              <a:rPr b="1" lang="en-GB" sz="2200">
                <a:latin typeface="Arial"/>
                <a:ea typeface="Arial"/>
                <a:cs typeface="Arial"/>
                <a:sym typeface="Arial"/>
              </a:rPr>
              <a:t>C0935847]</a:t>
            </a:r>
            <a:endParaRPr b="1" sz="2200">
              <a:latin typeface="Arial"/>
              <a:ea typeface="Arial"/>
              <a:cs typeface="Arial"/>
              <a:sym typeface="Arial"/>
            </a:endParaRPr>
          </a:p>
          <a:p>
            <a:pPr indent="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2200">
                <a:latin typeface="Impact"/>
                <a:ea typeface="Impact"/>
                <a:cs typeface="Impact"/>
                <a:sym typeface="Impact"/>
              </a:rPr>
              <a:t>Nicolas [</a:t>
            </a:r>
            <a:r>
              <a:rPr lang="en-GB" sz="2200"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lang="en-GB" sz="2200">
                <a:latin typeface="Arial"/>
                <a:ea typeface="Arial"/>
                <a:cs typeface="Arial"/>
                <a:sym typeface="Arial"/>
              </a:rPr>
              <a:t>C0922995]</a:t>
            </a:r>
            <a:endParaRPr b="1" sz="2200">
              <a:latin typeface="Arial"/>
              <a:ea typeface="Arial"/>
              <a:cs typeface="Arial"/>
              <a:sym typeface="Arial"/>
            </a:endParaRPr>
          </a:p>
          <a:p>
            <a:pPr indent="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2200">
                <a:latin typeface="Impact"/>
                <a:ea typeface="Impact"/>
                <a:cs typeface="Impact"/>
                <a:sym typeface="Impact"/>
              </a:rPr>
              <a:t>Brian Martinez </a:t>
            </a:r>
            <a:r>
              <a:rPr b="1" lang="en-GB" sz="2200">
                <a:latin typeface="Impact"/>
                <a:ea typeface="Impact"/>
                <a:cs typeface="Impact"/>
                <a:sym typeface="Impact"/>
              </a:rPr>
              <a:t>[</a:t>
            </a:r>
            <a:r>
              <a:rPr b="1" lang="en-GB" sz="2200">
                <a:latin typeface="Arial"/>
                <a:ea typeface="Arial"/>
                <a:cs typeface="Arial"/>
                <a:sym typeface="Arial"/>
              </a:rPr>
              <a:t>C0940439</a:t>
            </a:r>
            <a:r>
              <a:rPr b="1" lang="en-GB" sz="2200">
                <a:latin typeface="Impact"/>
                <a:ea typeface="Impact"/>
                <a:cs typeface="Impact"/>
                <a:sym typeface="Impact"/>
              </a:rPr>
              <a:t>]</a:t>
            </a:r>
            <a:endParaRPr b="1" sz="2200">
              <a:latin typeface="Impact"/>
              <a:ea typeface="Impact"/>
              <a:cs typeface="Impact"/>
              <a:sym typeface="Impact"/>
            </a:endParaRPr>
          </a:p>
          <a:p>
            <a:pPr indent="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2200">
                <a:latin typeface="Impact"/>
                <a:ea typeface="Impact"/>
                <a:cs typeface="Impact"/>
                <a:sym typeface="Impact"/>
              </a:rPr>
              <a:t>Krishna Mohan Gadepalli [</a:t>
            </a:r>
            <a:r>
              <a:rPr b="1" lang="en-GB" sz="2200">
                <a:latin typeface="Arial"/>
                <a:ea typeface="Arial"/>
                <a:cs typeface="Arial"/>
                <a:sym typeface="Arial"/>
              </a:rPr>
              <a:t>C0937251] </a:t>
            </a:r>
            <a:endParaRPr sz="22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13"/>
          <p:cNvSpPr txBox="1"/>
          <p:nvPr/>
        </p:nvSpPr>
        <p:spPr>
          <a:xfrm>
            <a:off x="730425" y="3210575"/>
            <a:ext cx="2395500" cy="130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9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GROUP 6</a:t>
            </a:r>
            <a:endParaRPr sz="39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4"/>
          <p:cNvSpPr txBox="1"/>
          <p:nvPr>
            <p:ph type="ctrTitle"/>
          </p:nvPr>
        </p:nvSpPr>
        <p:spPr>
          <a:xfrm>
            <a:off x="930050" y="143075"/>
            <a:ext cx="7624500" cy="482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🧠</a:t>
            </a:r>
            <a:r>
              <a:rPr lang="en-GB" sz="2966"/>
              <a:t>Why traditional databases fall short?</a:t>
            </a:r>
            <a:endParaRPr sz="2966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1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1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1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✅</a:t>
            </a:r>
            <a:r>
              <a:rPr lang="en-GB" sz="1611"/>
              <a:t>SQL/NoSQL database work well for structured data like:</a:t>
            </a:r>
            <a:endParaRPr sz="161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11"/>
              <a:t>-numbers(e.g., marks, salary)</a:t>
            </a:r>
            <a:endParaRPr sz="161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11"/>
              <a:t>-dates(e.g., DOB)</a:t>
            </a:r>
            <a:endParaRPr sz="161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11"/>
              <a:t>Strings(e.g., names, emails)</a:t>
            </a:r>
            <a:endParaRPr sz="161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1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1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❌ </a:t>
            </a:r>
            <a:r>
              <a:rPr lang="en-GB" sz="1611"/>
              <a:t>But they struggle with unstructured data like:</a:t>
            </a:r>
            <a:endParaRPr sz="161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1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📝</a:t>
            </a:r>
            <a:r>
              <a:rPr lang="en-GB" sz="1611"/>
              <a:t>Text documents</a:t>
            </a:r>
            <a:endParaRPr sz="161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1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🖼️</a:t>
            </a:r>
            <a:r>
              <a:rPr lang="en-GB" sz="1611"/>
              <a:t>Images </a:t>
            </a:r>
            <a:endParaRPr sz="161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1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🎧</a:t>
            </a:r>
            <a:r>
              <a:rPr lang="en-GB" sz="1611"/>
              <a:t>Audio</a:t>
            </a:r>
            <a:endParaRPr sz="161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1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11"/>
              <a:t>The main limitation:</a:t>
            </a:r>
            <a:endParaRPr sz="161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11"/>
              <a:t>-SQL/NoSQL can only perform keyword or exact value matches.</a:t>
            </a:r>
            <a:endParaRPr sz="161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11"/>
              <a:t>-They don’t ‘understand’ what the text or image is really about.</a:t>
            </a:r>
            <a:endParaRPr sz="161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5"/>
          <p:cNvSpPr txBox="1"/>
          <p:nvPr>
            <p:ph type="ctrTitle"/>
          </p:nvPr>
        </p:nvSpPr>
        <p:spPr>
          <a:xfrm>
            <a:off x="541050" y="612575"/>
            <a:ext cx="8013600" cy="420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Introduce Semantic Search:Meaning-Based Search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33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33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211">
                <a:latin typeface="Arial"/>
                <a:ea typeface="Arial"/>
                <a:cs typeface="Arial"/>
                <a:sym typeface="Arial"/>
              </a:rPr>
              <a:t>Semantic search finds information based on the </a:t>
            </a:r>
            <a:r>
              <a:rPr i="1" lang="en-GB" sz="1211">
                <a:latin typeface="Arial"/>
                <a:ea typeface="Arial"/>
                <a:cs typeface="Arial"/>
                <a:sym typeface="Arial"/>
              </a:rPr>
              <a:t>meaning</a:t>
            </a:r>
            <a:r>
              <a:rPr lang="en-GB" sz="1211">
                <a:latin typeface="Arial"/>
                <a:ea typeface="Arial"/>
                <a:cs typeface="Arial"/>
                <a:sym typeface="Arial"/>
              </a:rPr>
              <a:t> of words, not just exact matches.</a:t>
            </a:r>
            <a:br>
              <a:rPr lang="en-GB" sz="1211">
                <a:latin typeface="Arial"/>
                <a:ea typeface="Arial"/>
                <a:cs typeface="Arial"/>
                <a:sym typeface="Arial"/>
              </a:rPr>
            </a:br>
            <a:r>
              <a:rPr lang="en-GB" sz="1211">
                <a:latin typeface="Arial"/>
                <a:ea typeface="Arial"/>
                <a:cs typeface="Arial"/>
                <a:sym typeface="Arial"/>
              </a:rPr>
              <a:t> For example, searching </a:t>
            </a:r>
            <a:r>
              <a:rPr b="1" lang="en-GB" sz="1211">
                <a:latin typeface="Arial"/>
                <a:ea typeface="Arial"/>
                <a:cs typeface="Arial"/>
                <a:sym typeface="Arial"/>
              </a:rPr>
              <a:t>"automobile"</a:t>
            </a:r>
            <a:r>
              <a:rPr lang="en-GB" sz="1211">
                <a:latin typeface="Arial"/>
                <a:ea typeface="Arial"/>
                <a:cs typeface="Arial"/>
                <a:sym typeface="Arial"/>
              </a:rPr>
              <a:t> also returns results like </a:t>
            </a:r>
            <a:r>
              <a:rPr b="1" lang="en-GB" sz="1211">
                <a:latin typeface="Arial"/>
                <a:ea typeface="Arial"/>
                <a:cs typeface="Arial"/>
                <a:sym typeface="Arial"/>
              </a:rPr>
              <a:t>"car"</a:t>
            </a:r>
            <a:r>
              <a:rPr lang="en-GB" sz="1211">
                <a:latin typeface="Arial"/>
                <a:ea typeface="Arial"/>
                <a:cs typeface="Arial"/>
                <a:sym typeface="Arial"/>
              </a:rPr>
              <a:t> or </a:t>
            </a:r>
            <a:r>
              <a:rPr b="1" lang="en-GB" sz="1211">
                <a:latin typeface="Arial"/>
                <a:ea typeface="Arial"/>
                <a:cs typeface="Arial"/>
                <a:sym typeface="Arial"/>
              </a:rPr>
              <a:t>"vehicle"</a:t>
            </a:r>
            <a:r>
              <a:rPr lang="en-GB" sz="1211">
                <a:latin typeface="Arial"/>
                <a:ea typeface="Arial"/>
                <a:cs typeface="Arial"/>
                <a:sym typeface="Arial"/>
              </a:rPr>
              <a:t>, even if those exact words weren’t used.</a:t>
            </a:r>
            <a:endParaRPr sz="1211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 sz="1211">
                <a:latin typeface="Arial"/>
                <a:ea typeface="Arial"/>
                <a:cs typeface="Arial"/>
                <a:sym typeface="Arial"/>
              </a:rPr>
              <a:t>Why is it powerful?</a:t>
            </a:r>
            <a:br>
              <a:rPr b="1" lang="en-GB" sz="1211">
                <a:latin typeface="Arial"/>
                <a:ea typeface="Arial"/>
                <a:cs typeface="Arial"/>
                <a:sym typeface="Arial"/>
              </a:rPr>
            </a:br>
            <a:r>
              <a:rPr lang="en-GB" sz="1211">
                <a:latin typeface="Arial"/>
                <a:ea typeface="Arial"/>
                <a:cs typeface="Arial"/>
                <a:sym typeface="Arial"/>
              </a:rPr>
              <a:t> It understands </a:t>
            </a:r>
            <a:r>
              <a:rPr b="1" lang="en-GB" sz="1211">
                <a:latin typeface="Arial"/>
                <a:ea typeface="Arial"/>
                <a:cs typeface="Arial"/>
                <a:sym typeface="Arial"/>
              </a:rPr>
              <a:t>context and intent</a:t>
            </a:r>
            <a:r>
              <a:rPr lang="en-GB" sz="1211">
                <a:latin typeface="Arial"/>
                <a:ea typeface="Arial"/>
                <a:cs typeface="Arial"/>
                <a:sym typeface="Arial"/>
              </a:rPr>
              <a:t>, going beyond simple keyword matching to deliver more accurate and relevant results.</a:t>
            </a:r>
            <a:endParaRPr sz="1211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 sz="1211">
                <a:latin typeface="Arial"/>
                <a:ea typeface="Arial"/>
                <a:cs typeface="Arial"/>
                <a:sym typeface="Arial"/>
              </a:rPr>
              <a:t>💡 How it Works:</a:t>
            </a:r>
            <a:br>
              <a:rPr b="1" lang="en-GB" sz="1211">
                <a:latin typeface="Arial"/>
                <a:ea typeface="Arial"/>
                <a:cs typeface="Arial"/>
                <a:sym typeface="Arial"/>
              </a:rPr>
            </a:br>
            <a:r>
              <a:rPr lang="en-GB" sz="1211">
                <a:latin typeface="Arial"/>
                <a:ea typeface="Arial"/>
                <a:cs typeface="Arial"/>
                <a:sym typeface="Arial"/>
              </a:rPr>
              <a:t> It converts text into </a:t>
            </a:r>
            <a:r>
              <a:rPr b="1" lang="en-GB" sz="1211">
                <a:latin typeface="Arial"/>
                <a:ea typeface="Arial"/>
                <a:cs typeface="Arial"/>
                <a:sym typeface="Arial"/>
              </a:rPr>
              <a:t>vectors</a:t>
            </a:r>
            <a:r>
              <a:rPr lang="en-GB" sz="1211">
                <a:latin typeface="Arial"/>
                <a:ea typeface="Arial"/>
                <a:cs typeface="Arial"/>
                <a:sym typeface="Arial"/>
              </a:rPr>
              <a:t>—numerical representations of meaning—and compares these mathematically to find similar content.</a:t>
            </a:r>
            <a:endParaRPr sz="1211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 sz="1211">
                <a:latin typeface="Arial"/>
                <a:ea typeface="Arial"/>
                <a:cs typeface="Arial"/>
                <a:sym typeface="Arial"/>
              </a:rPr>
              <a:t>✅ Real-World Use Cases:</a:t>
            </a:r>
            <a:br>
              <a:rPr b="1" lang="en-GB" sz="121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211">
                <a:latin typeface="Arial"/>
                <a:ea typeface="Arial"/>
                <a:cs typeface="Arial"/>
                <a:sym typeface="Arial"/>
              </a:rPr>
              <a:t> Used in </a:t>
            </a:r>
            <a:r>
              <a:rPr b="1" lang="en-GB" sz="1211">
                <a:latin typeface="Arial"/>
                <a:ea typeface="Arial"/>
                <a:cs typeface="Arial"/>
                <a:sym typeface="Arial"/>
              </a:rPr>
              <a:t>Google Search</a:t>
            </a:r>
            <a:r>
              <a:rPr lang="en-GB" sz="1211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b="1" lang="en-GB" sz="1211">
                <a:latin typeface="Arial"/>
                <a:ea typeface="Arial"/>
                <a:cs typeface="Arial"/>
                <a:sym typeface="Arial"/>
              </a:rPr>
              <a:t>ChatGPT</a:t>
            </a:r>
            <a:r>
              <a:rPr lang="en-GB" sz="1211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b="1" lang="en-GB" sz="1211">
                <a:latin typeface="Arial"/>
                <a:ea typeface="Arial"/>
                <a:cs typeface="Arial"/>
                <a:sym typeface="Arial"/>
              </a:rPr>
              <a:t>YouTube recommendations</a:t>
            </a:r>
            <a:r>
              <a:rPr lang="en-GB" sz="1211">
                <a:latin typeface="Arial"/>
                <a:ea typeface="Arial"/>
                <a:cs typeface="Arial"/>
                <a:sym typeface="Arial"/>
              </a:rPr>
              <a:t>, smart </a:t>
            </a:r>
            <a:r>
              <a:rPr b="1" lang="en-GB" sz="1211">
                <a:latin typeface="Arial"/>
                <a:ea typeface="Arial"/>
                <a:cs typeface="Arial"/>
                <a:sym typeface="Arial"/>
              </a:rPr>
              <a:t>resume matchers</a:t>
            </a:r>
            <a:r>
              <a:rPr lang="en-GB" sz="1211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b="1" lang="en-GB" sz="1211">
                <a:latin typeface="Arial"/>
                <a:ea typeface="Arial"/>
                <a:cs typeface="Arial"/>
                <a:sym typeface="Arial"/>
              </a:rPr>
              <a:t>legal document search</a:t>
            </a:r>
            <a:r>
              <a:rPr lang="en-GB" sz="1211">
                <a:latin typeface="Arial"/>
                <a:ea typeface="Arial"/>
                <a:cs typeface="Arial"/>
                <a:sym typeface="Arial"/>
              </a:rPr>
              <a:t>, and </a:t>
            </a:r>
            <a:r>
              <a:rPr b="1" lang="en-GB" sz="1211">
                <a:latin typeface="Arial"/>
                <a:ea typeface="Arial"/>
                <a:cs typeface="Arial"/>
                <a:sym typeface="Arial"/>
              </a:rPr>
              <a:t>AI chatbots</a:t>
            </a:r>
            <a:r>
              <a:rPr lang="en-GB" sz="1211">
                <a:latin typeface="Arial"/>
                <a:ea typeface="Arial"/>
                <a:cs typeface="Arial"/>
                <a:sym typeface="Arial"/>
              </a:rPr>
              <a:t>.</a:t>
            </a:r>
            <a:endParaRPr sz="1211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33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6"/>
          <p:cNvSpPr txBox="1"/>
          <p:nvPr>
            <p:ph type="ctrTitle"/>
          </p:nvPr>
        </p:nvSpPr>
        <p:spPr>
          <a:xfrm>
            <a:off x="341400" y="593375"/>
            <a:ext cx="8146200" cy="41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What is vector embedding ?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66"/>
              <a:t>Vector embeddings are numerical representations of data points that express different types of data as an array of numbers that machine learning models can process.</a:t>
            </a:r>
            <a:endParaRPr sz="1366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66"/>
              <a:t>In the embedding space, synonyms or similar kind of </a:t>
            </a:r>
            <a:r>
              <a:rPr lang="en-GB" sz="1366"/>
              <a:t>words (king</a:t>
            </a:r>
            <a:r>
              <a:rPr lang="en-GB" sz="1366"/>
              <a:t> or man, queen or girl) </a:t>
            </a:r>
            <a:r>
              <a:rPr lang="en-GB" sz="1366"/>
              <a:t>tend</a:t>
            </a:r>
            <a:r>
              <a:rPr lang="en-GB" sz="1366"/>
              <a:t> to appear in similar contexts and end up having similar embeddings.</a:t>
            </a:r>
            <a:endParaRPr sz="1366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66"/>
          </a:p>
        </p:txBody>
      </p:sp>
      <p:pic>
        <p:nvPicPr>
          <p:cNvPr id="152" name="Google Shape;152;p16" title="How-Embeddings-Work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1400" y="2571750"/>
            <a:ext cx="7731049" cy="2089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7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300"/>
              <a:t>VECTOR DATABASE</a:t>
            </a:r>
            <a:endParaRPr sz="3300"/>
          </a:p>
        </p:txBody>
      </p:sp>
      <p:sp>
        <p:nvSpPr>
          <p:cNvPr id="158" name="Google Shape;158;p17"/>
          <p:cNvSpPr txBox="1"/>
          <p:nvPr>
            <p:ph idx="1" type="body"/>
          </p:nvPr>
        </p:nvSpPr>
        <p:spPr>
          <a:xfrm>
            <a:off x="4781800" y="1567550"/>
            <a:ext cx="35547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625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2700"/>
              <a:t>A vector database is a specialized type of database designed to handle and process vectorized data,which are arrays of numerical values </a:t>
            </a:r>
            <a:r>
              <a:rPr lang="en-GB" sz="2700"/>
              <a:t>representing</a:t>
            </a:r>
            <a:r>
              <a:rPr lang="en-GB" sz="2700"/>
              <a:t> points in multidimensional space. A</a:t>
            </a:r>
            <a:r>
              <a:rPr lang="en-GB" sz="2700"/>
              <a:t> vector database indexes and store vector embeddings for faster retrieval and similarity search.</a:t>
            </a:r>
            <a:endParaRPr sz="2700"/>
          </a:p>
        </p:txBody>
      </p:sp>
      <p:pic>
        <p:nvPicPr>
          <p:cNvPr id="159" name="Google Shape;159;p17" title="Vector-Databases (1)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460250"/>
            <a:ext cx="4477000" cy="3357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8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Advantages of vector database</a:t>
            </a:r>
            <a:endParaRPr/>
          </a:p>
        </p:txBody>
      </p:sp>
      <p:sp>
        <p:nvSpPr>
          <p:cNvPr id="165" name="Google Shape;165;p18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Similarity search - </a:t>
            </a:r>
            <a:r>
              <a:rPr lang="en-GB"/>
              <a:t>quickly find similar items based on their features.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Scalability -  handle large amounts of data efficiently.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Flexibility - works with various types of data like images, audio, video, and text.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/>
              <a:t>Enhance performance - provide faster and more accurate search results.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9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 CASE OF VECTOR DB</a:t>
            </a:r>
            <a:endParaRPr/>
          </a:p>
        </p:txBody>
      </p:sp>
      <p:sp>
        <p:nvSpPr>
          <p:cNvPr id="171" name="Google Shape;171;p19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-344170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-GB" sz="2600"/>
              <a:t>Recommendation systems—platforms like Netflix or Spotify use vector DB to recommend movies or songs based on your past </a:t>
            </a:r>
            <a:r>
              <a:rPr lang="en-GB" sz="2600"/>
              <a:t>preferences</a:t>
            </a:r>
            <a:r>
              <a:rPr lang="en-GB" sz="2600"/>
              <a:t>.</a:t>
            </a:r>
            <a:endParaRPr sz="2600"/>
          </a:p>
          <a:p>
            <a:pPr indent="-344170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-GB" sz="2600"/>
              <a:t>Image search - google images Use vector DB to find </a:t>
            </a:r>
            <a:r>
              <a:rPr lang="en-GB" sz="2600"/>
              <a:t>visually similar images.</a:t>
            </a:r>
            <a:endParaRPr sz="2600"/>
          </a:p>
          <a:p>
            <a:pPr indent="-344170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-GB" sz="2600"/>
              <a:t>Natural language processing - companies like OpenAI use vector DB to understand and generate human-like language to improve chatbots and translation services.</a:t>
            </a:r>
            <a:endParaRPr sz="2600"/>
          </a:p>
          <a:p>
            <a:pPr indent="-344170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-GB" sz="2600"/>
              <a:t>E-commerce - Amazon utilizes vector db to suggests products similar to the ones you have viewed or purchased </a:t>
            </a:r>
            <a:endParaRPr sz="26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0"/>
          <p:cNvSpPr txBox="1"/>
          <p:nvPr>
            <p:ph type="title"/>
          </p:nvPr>
        </p:nvSpPr>
        <p:spPr>
          <a:xfrm>
            <a:off x="1297500" y="393750"/>
            <a:ext cx="7038900" cy="58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ChromaDB</a:t>
            </a:r>
            <a:endParaRPr/>
          </a:p>
        </p:txBody>
      </p:sp>
      <p:sp>
        <p:nvSpPr>
          <p:cNvPr id="177" name="Google Shape;177;p20"/>
          <p:cNvSpPr txBox="1"/>
          <p:nvPr>
            <p:ph idx="1" type="body"/>
          </p:nvPr>
        </p:nvSpPr>
        <p:spPr>
          <a:xfrm>
            <a:off x="1425625" y="1672625"/>
            <a:ext cx="3443700" cy="276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-271462" lvl="0" marL="457200" rtl="0" algn="l">
              <a:spcBef>
                <a:spcPts val="1200"/>
              </a:spcBef>
              <a:spcAft>
                <a:spcPts val="0"/>
              </a:spcAft>
              <a:buSzPct val="54261"/>
              <a:buFont typeface="Arial"/>
              <a:buChar char="●"/>
            </a:pPr>
            <a:r>
              <a:rPr lang="en-GB" sz="4975">
                <a:solidFill>
                  <a:srgbClr val="EFEFEF"/>
                </a:solidFill>
                <a:latin typeface="Arial"/>
                <a:ea typeface="Arial"/>
                <a:cs typeface="Arial"/>
                <a:sym typeface="Arial"/>
              </a:rPr>
              <a:t>An open-source, </a:t>
            </a:r>
            <a:r>
              <a:rPr lang="en-GB" sz="4975">
                <a:solidFill>
                  <a:srgbClr val="EFEFEF"/>
                </a:solidFill>
                <a:latin typeface="Arial"/>
                <a:ea typeface="Arial"/>
                <a:cs typeface="Arial"/>
                <a:sym typeface="Arial"/>
              </a:rPr>
              <a:t>local-first vector database runs on your laptop or private server, no cloud dependency</a:t>
            </a:r>
            <a:endParaRPr sz="4975">
              <a:solidFill>
                <a:srgbClr val="EFEFE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71462" lvl="0" marL="457200" rtl="0" algn="l">
              <a:spcBef>
                <a:spcPts val="0"/>
              </a:spcBef>
              <a:spcAft>
                <a:spcPts val="0"/>
              </a:spcAft>
              <a:buSzPct val="54261"/>
              <a:buFont typeface="Arial"/>
              <a:buChar char="●"/>
            </a:pPr>
            <a:r>
              <a:rPr lang="en-GB" sz="4975">
                <a:solidFill>
                  <a:srgbClr val="EFEFEF"/>
                </a:solidFill>
                <a:latin typeface="Arial"/>
                <a:ea typeface="Arial"/>
                <a:cs typeface="Arial"/>
                <a:sym typeface="Arial"/>
              </a:rPr>
              <a:t>Offers fast, private, and flexible data storage and retrieval</a:t>
            </a:r>
            <a:endParaRPr sz="4975">
              <a:solidFill>
                <a:srgbClr val="EFEFE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71462" lvl="0" marL="457200" rtl="0" algn="l">
              <a:spcBef>
                <a:spcPts val="0"/>
              </a:spcBef>
              <a:spcAft>
                <a:spcPts val="0"/>
              </a:spcAft>
              <a:buSzPct val="54261"/>
              <a:buFont typeface="Arial"/>
              <a:buChar char="●"/>
            </a:pPr>
            <a:r>
              <a:rPr lang="en-GB" sz="4975">
                <a:solidFill>
                  <a:srgbClr val="EFEFEF"/>
                </a:solidFill>
                <a:latin typeface="Arial"/>
                <a:ea typeface="Arial"/>
                <a:cs typeface="Arial"/>
                <a:sym typeface="Arial"/>
              </a:rPr>
              <a:t>Converts complex data into high-dimensional vectors capturing semantic meaning</a:t>
            </a:r>
            <a:endParaRPr sz="4975">
              <a:solidFill>
                <a:srgbClr val="EFEFE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71462" lvl="0" marL="457200" rtl="0" algn="l">
              <a:spcBef>
                <a:spcPts val="0"/>
              </a:spcBef>
              <a:spcAft>
                <a:spcPts val="0"/>
              </a:spcAft>
              <a:buSzPct val="54261"/>
              <a:buFont typeface="Arial"/>
              <a:buChar char="●"/>
            </a:pPr>
            <a:r>
              <a:rPr lang="en-GB" sz="4975">
                <a:solidFill>
                  <a:srgbClr val="EFEFEF"/>
                </a:solidFill>
                <a:latin typeface="Arial"/>
                <a:ea typeface="Arial"/>
                <a:cs typeface="Arial"/>
                <a:sym typeface="Arial"/>
              </a:rPr>
              <a:t>Supports advanced AI use cases such as semantic search, recommendation systems, and retrieval-augmented generation</a:t>
            </a:r>
            <a:br>
              <a:rPr lang="en-GB" sz="3375">
                <a:latin typeface="Arial"/>
                <a:ea typeface="Arial"/>
                <a:cs typeface="Arial"/>
                <a:sym typeface="Arial"/>
              </a:rPr>
            </a:br>
            <a:endParaRPr sz="3375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br>
              <a:rPr lang="en-GB" sz="3375">
                <a:latin typeface="Arial"/>
                <a:ea typeface="Arial"/>
                <a:cs typeface="Arial"/>
                <a:sym typeface="Arial"/>
              </a:rPr>
            </a:br>
            <a:endParaRPr sz="3375">
              <a:latin typeface="Arial"/>
              <a:ea typeface="Arial"/>
              <a:cs typeface="Arial"/>
              <a:sym typeface="Arial"/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br>
              <a:rPr lang="en-GB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78" name="Google Shape;178;p20" title="ChromaDB-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71675" y="1191150"/>
            <a:ext cx="3443650" cy="176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21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How to Use ChromaDB Vectors</a:t>
            </a:r>
            <a:endParaRPr/>
          </a:p>
        </p:txBody>
      </p:sp>
      <p:sp>
        <p:nvSpPr>
          <p:cNvPr id="184" name="Google Shape;184;p21"/>
          <p:cNvSpPr txBox="1"/>
          <p:nvPr>
            <p:ph idx="1" type="body"/>
          </p:nvPr>
        </p:nvSpPr>
        <p:spPr>
          <a:xfrm>
            <a:off x="473100" y="818500"/>
            <a:ext cx="7863300" cy="395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100">
              <a:latin typeface="Arial"/>
              <a:ea typeface="Arial"/>
              <a:cs typeface="Arial"/>
              <a:sym typeface="Arial"/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 sz="1100">
                <a:latin typeface="Arial"/>
                <a:ea typeface="Arial"/>
                <a:cs typeface="Arial"/>
                <a:sym typeface="Arial"/>
              </a:rPr>
              <a:t>It can work on both python as well as javascript</a:t>
            </a:r>
            <a:endParaRPr b="1" sz="1100"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SzPts val="1100"/>
              <a:buFont typeface="Arial"/>
              <a:buAutoNum type="arabicPeriod"/>
            </a:pPr>
            <a:r>
              <a:rPr b="1" lang="en-GB" sz="1100">
                <a:latin typeface="Arial"/>
                <a:ea typeface="Arial"/>
                <a:cs typeface="Arial"/>
                <a:sym typeface="Arial"/>
              </a:rPr>
              <a:t>Generate Embeddings</a:t>
            </a:r>
            <a:br>
              <a:rPr b="1" lang="en-GB" sz="1100">
                <a:latin typeface="Arial"/>
                <a:ea typeface="Arial"/>
                <a:cs typeface="Arial"/>
                <a:sym typeface="Arial"/>
              </a:rPr>
            </a:br>
            <a:r>
              <a:rPr lang="en-GB" sz="1100">
                <a:latin typeface="Arial"/>
                <a:ea typeface="Arial"/>
                <a:cs typeface="Arial"/>
                <a:sym typeface="Arial"/>
              </a:rPr>
              <a:t> Convert your raw data into vector form using an embedding model.</a:t>
            </a:r>
            <a:br>
              <a:rPr lang="en-GB" sz="1100">
                <a:latin typeface="Arial"/>
                <a:ea typeface="Arial"/>
                <a:cs typeface="Arial"/>
                <a:sym typeface="Arial"/>
              </a:rPr>
            </a:b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AutoNum type="arabicPeriod"/>
            </a:pPr>
            <a:r>
              <a:rPr b="1" lang="en-GB" sz="1100">
                <a:latin typeface="Arial"/>
                <a:ea typeface="Arial"/>
                <a:cs typeface="Arial"/>
                <a:sym typeface="Arial"/>
              </a:rPr>
              <a:t>Create a Collection</a:t>
            </a:r>
            <a:br>
              <a:rPr b="1" lang="en-GB" sz="1100">
                <a:latin typeface="Arial"/>
                <a:ea typeface="Arial"/>
                <a:cs typeface="Arial"/>
                <a:sym typeface="Arial"/>
              </a:rPr>
            </a:br>
            <a:r>
              <a:rPr lang="en-GB" sz="1100">
                <a:latin typeface="Arial"/>
                <a:ea typeface="Arial"/>
                <a:cs typeface="Arial"/>
                <a:sym typeface="Arial"/>
              </a:rPr>
              <a:t> Make a container in ChromaDB to hold your vectors and metadata.</a:t>
            </a:r>
            <a:br>
              <a:rPr lang="en-GB" sz="1100">
                <a:latin typeface="Arial"/>
                <a:ea typeface="Arial"/>
                <a:cs typeface="Arial"/>
                <a:sym typeface="Arial"/>
              </a:rPr>
            </a:b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AutoNum type="arabicPeriod"/>
            </a:pPr>
            <a:r>
              <a:rPr b="1" lang="en-GB" sz="1100">
                <a:latin typeface="Arial"/>
                <a:ea typeface="Arial"/>
                <a:cs typeface="Arial"/>
                <a:sym typeface="Arial"/>
              </a:rPr>
              <a:t>Add Data to Collection</a:t>
            </a:r>
            <a:br>
              <a:rPr b="1" lang="en-GB" sz="1100">
                <a:latin typeface="Arial"/>
                <a:ea typeface="Arial"/>
                <a:cs typeface="Arial"/>
                <a:sym typeface="Arial"/>
              </a:rPr>
            </a:br>
            <a:r>
              <a:rPr lang="en-GB" sz="1100">
                <a:latin typeface="Arial"/>
                <a:ea typeface="Arial"/>
                <a:cs typeface="Arial"/>
                <a:sym typeface="Arial"/>
              </a:rPr>
              <a:t> Insert embeddings, metadata, and unique IDs into your collection.</a:t>
            </a:r>
            <a:br>
              <a:rPr lang="en-GB" sz="1100">
                <a:latin typeface="Arial"/>
                <a:ea typeface="Arial"/>
                <a:cs typeface="Arial"/>
                <a:sym typeface="Arial"/>
              </a:rPr>
            </a:b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AutoNum type="arabicPeriod"/>
            </a:pPr>
            <a:r>
              <a:rPr b="1" lang="en-GB" sz="1100">
                <a:latin typeface="Arial"/>
                <a:ea typeface="Arial"/>
                <a:cs typeface="Arial"/>
                <a:sym typeface="Arial"/>
              </a:rPr>
              <a:t>Query with Vector</a:t>
            </a:r>
            <a:br>
              <a:rPr b="1" lang="en-GB" sz="1100">
                <a:latin typeface="Arial"/>
                <a:ea typeface="Arial"/>
                <a:cs typeface="Arial"/>
                <a:sym typeface="Arial"/>
              </a:rPr>
            </a:br>
            <a:r>
              <a:rPr lang="en-GB" sz="1100">
                <a:latin typeface="Arial"/>
                <a:ea typeface="Arial"/>
                <a:cs typeface="Arial"/>
                <a:sym typeface="Arial"/>
              </a:rPr>
              <a:t> Convert a search input into a vector and search for similar vectors in the collection.</a:t>
            </a:r>
            <a:br>
              <a:rPr lang="en-GB" sz="1100">
                <a:latin typeface="Arial"/>
                <a:ea typeface="Arial"/>
                <a:cs typeface="Arial"/>
                <a:sym typeface="Arial"/>
              </a:rPr>
            </a:b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AutoNum type="arabicPeriod"/>
            </a:pPr>
            <a:r>
              <a:rPr b="1" lang="en-GB" sz="1100">
                <a:latin typeface="Arial"/>
                <a:ea typeface="Arial"/>
                <a:cs typeface="Arial"/>
                <a:sym typeface="Arial"/>
              </a:rPr>
              <a:t>Retrieve Results</a:t>
            </a:r>
            <a:br>
              <a:rPr b="1" lang="en-GB" sz="1100">
                <a:latin typeface="Arial"/>
                <a:ea typeface="Arial"/>
                <a:cs typeface="Arial"/>
                <a:sym typeface="Arial"/>
              </a:rPr>
            </a:br>
            <a:r>
              <a:rPr lang="en-GB" sz="1100">
                <a:latin typeface="Arial"/>
                <a:ea typeface="Arial"/>
                <a:cs typeface="Arial"/>
                <a:sym typeface="Arial"/>
              </a:rPr>
              <a:t> Return the most similar items and use them in applications like semantic search or RAG.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2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Steps to use ChromaDB vector</a:t>
            </a:r>
            <a:endParaRPr/>
          </a:p>
        </p:txBody>
      </p:sp>
      <p:sp>
        <p:nvSpPr>
          <p:cNvPr id="190" name="Google Shape;190;p22"/>
          <p:cNvSpPr txBox="1"/>
          <p:nvPr>
            <p:ph idx="1" type="body"/>
          </p:nvPr>
        </p:nvSpPr>
        <p:spPr>
          <a:xfrm>
            <a:off x="0" y="1307850"/>
            <a:ext cx="9209700" cy="374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 Step 1. Install chromadb                                                                                                          step 2. </a:t>
            </a:r>
            <a:r>
              <a:rPr lang="en-GB" sz="1150">
                <a:latin typeface="Arial"/>
                <a:ea typeface="Arial"/>
                <a:cs typeface="Arial"/>
                <a:sym typeface="Arial"/>
              </a:rPr>
              <a:t>Create a Chroma Client</a:t>
            </a:r>
            <a:endParaRPr sz="115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50">
                <a:latin typeface="Arial"/>
                <a:ea typeface="Arial"/>
                <a:cs typeface="Arial"/>
                <a:sym typeface="Arial"/>
              </a:rPr>
              <a:t>                                                                                                                        </a:t>
            </a:r>
            <a:endParaRPr sz="115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Python</a:t>
            </a:r>
            <a:r>
              <a:rPr lang="en-GB" sz="1100">
                <a:solidFill>
                  <a:srgbClr val="71717A"/>
                </a:solidFill>
                <a:latin typeface="Arial"/>
                <a:ea typeface="Arial"/>
                <a:cs typeface="Arial"/>
                <a:sym typeface="Arial"/>
              </a:rPr>
              <a:t>Typescript</a:t>
            </a:r>
            <a:endParaRPr sz="1100">
              <a:solidFill>
                <a:srgbClr val="71717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6446"/>
                </a:solidFill>
                <a:highlight>
                  <a:srgbClr val="111827"/>
                </a:highlight>
                <a:latin typeface="Arial"/>
                <a:ea typeface="Arial"/>
                <a:cs typeface="Arial"/>
                <a:sym typeface="Arial"/>
              </a:rPr>
              <a:t>Py</a:t>
            </a:r>
            <a:endParaRPr/>
          </a:p>
        </p:txBody>
      </p:sp>
      <p:pic>
        <p:nvPicPr>
          <p:cNvPr id="191" name="Google Shape;191;p22" title="Screenshot 2025-06-08 14030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803425"/>
            <a:ext cx="3738024" cy="3033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22" title="Screenshot 2025-06-08 140813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61375" y="1803425"/>
            <a:ext cx="4656649" cy="1100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3"/>
          <p:cNvSpPr txBox="1"/>
          <p:nvPr>
            <p:ph idx="1" type="body"/>
          </p:nvPr>
        </p:nvSpPr>
        <p:spPr>
          <a:xfrm>
            <a:off x="355575" y="124875"/>
            <a:ext cx="8102700" cy="445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Step 3 create a collection: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200">
                <a:latin typeface="Arial"/>
                <a:ea typeface="Arial"/>
                <a:cs typeface="Arial"/>
                <a:sym typeface="Arial"/>
              </a:rPr>
              <a:t>Collections are where you'll store your embeddings, documents, and any additional metadata.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Step 4: </a:t>
            </a:r>
            <a:r>
              <a:rPr b="1" lang="en-GB" sz="1150">
                <a:latin typeface="Arial"/>
                <a:ea typeface="Arial"/>
                <a:cs typeface="Arial"/>
                <a:sym typeface="Arial"/>
              </a:rPr>
              <a:t>Add some text documents to the collection</a:t>
            </a:r>
            <a:endParaRPr b="1" sz="115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00">
                <a:latin typeface="Arial"/>
                <a:ea typeface="Arial"/>
                <a:cs typeface="Arial"/>
                <a:sym typeface="Arial"/>
              </a:rPr>
              <a:t>Chroma will store your text and handle embedding and indexing automatically. You can also customize the embedding model. You must provide unique string IDs for your documents.</a:t>
            </a:r>
            <a:endParaRPr sz="1200">
              <a:solidFill>
                <a:srgbClr val="71717A"/>
              </a:solidFill>
              <a:highlight>
                <a:srgbClr val="111827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t/>
            </a:r>
            <a:endParaRPr b="1" sz="115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98" name="Google Shape;198;p23" title="Screenshot 2025-06-08 14145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0513" y="882650"/>
            <a:ext cx="7852825" cy="994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4875" y="2929475"/>
            <a:ext cx="8570376" cy="1651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4"/>
          <p:cNvSpPr txBox="1"/>
          <p:nvPr>
            <p:ph idx="1" type="body"/>
          </p:nvPr>
        </p:nvSpPr>
        <p:spPr>
          <a:xfrm>
            <a:off x="243425" y="406400"/>
            <a:ext cx="8688900" cy="450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60000"/>
              </a:lnSpc>
              <a:spcBef>
                <a:spcPts val="2600"/>
              </a:spcBef>
              <a:spcAft>
                <a:spcPts val="0"/>
              </a:spcAft>
              <a:buNone/>
            </a:pPr>
            <a:r>
              <a:rPr b="1" lang="en-GB" sz="1650">
                <a:latin typeface="Arial"/>
                <a:ea typeface="Arial"/>
                <a:cs typeface="Arial"/>
                <a:sym typeface="Arial"/>
              </a:rPr>
              <a:t>5. Query the collection</a:t>
            </a:r>
            <a:endParaRPr b="1" sz="165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1200">
                <a:latin typeface="Arial"/>
                <a:ea typeface="Arial"/>
                <a:cs typeface="Arial"/>
                <a:sym typeface="Arial"/>
              </a:rPr>
              <a:t>You can query the collection with a list of query texts, and Chroma will return the </a:t>
            </a:r>
            <a:r>
              <a:rPr lang="en-GB" sz="1200">
                <a:latin typeface="Courier New"/>
                <a:ea typeface="Courier New"/>
                <a:cs typeface="Courier New"/>
                <a:sym typeface="Courier New"/>
              </a:rPr>
              <a:t>n</a:t>
            </a:r>
            <a:r>
              <a:rPr lang="en-GB" sz="1200">
                <a:latin typeface="Arial"/>
                <a:ea typeface="Arial"/>
                <a:cs typeface="Arial"/>
                <a:sym typeface="Arial"/>
              </a:rPr>
              <a:t> most similar results. It's that easy!</a:t>
            </a:r>
            <a:endParaRPr sz="12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t/>
            </a:r>
            <a:endParaRPr sz="12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t/>
            </a:r>
            <a:endParaRPr sz="12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37415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If </a:t>
            </a:r>
            <a:r>
              <a:rPr lang="en-GB" sz="1100">
                <a:solidFill>
                  <a:srgbClr val="EA580C"/>
                </a:solidFill>
                <a:highlight>
                  <a:srgbClr val="F1F5F9"/>
                </a:highlight>
                <a:latin typeface="Courier New"/>
                <a:ea typeface="Courier New"/>
                <a:cs typeface="Courier New"/>
                <a:sym typeface="Courier New"/>
              </a:rPr>
              <a:t>n_results</a:t>
            </a:r>
            <a:r>
              <a:rPr lang="en-GB" sz="1200">
                <a:solidFill>
                  <a:srgbClr val="37415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is not provided, Chroma will return 10 results by default. Here we only added 2 documents, so we set </a:t>
            </a:r>
            <a:r>
              <a:rPr lang="en-GB" sz="1100">
                <a:solidFill>
                  <a:srgbClr val="EA580C"/>
                </a:solidFill>
                <a:highlight>
                  <a:srgbClr val="F1F5F9"/>
                </a:highlight>
                <a:latin typeface="Courier New"/>
                <a:ea typeface="Courier New"/>
                <a:cs typeface="Courier New"/>
                <a:sym typeface="Courier New"/>
              </a:rPr>
              <a:t>n_res</a:t>
            </a:r>
            <a:r>
              <a:rPr lang="en-GB" sz="1100">
                <a:solidFill>
                  <a:srgbClr val="EA580C"/>
                </a:solidFill>
                <a:highlight>
                  <a:srgbClr val="F1F5F9"/>
                </a:highlight>
                <a:latin typeface="Courier New"/>
                <a:ea typeface="Courier New"/>
                <a:cs typeface="Courier New"/>
                <a:sym typeface="Courier New"/>
              </a:rPr>
              <a:t>ults=2</a:t>
            </a:r>
            <a:r>
              <a:rPr lang="en-GB" sz="1200">
                <a:solidFill>
                  <a:srgbClr val="37415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.</a:t>
            </a:r>
            <a:endParaRPr sz="12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t/>
            </a:r>
            <a:endParaRPr sz="12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t/>
            </a:r>
            <a:endParaRPr sz="12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t/>
            </a:r>
            <a:endParaRPr sz="12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t/>
            </a:r>
            <a:endParaRPr sz="12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5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205" name="Google Shape;205;p24" title="Screenshot 2025-06-08 14274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150" y="1327700"/>
            <a:ext cx="8276174" cy="909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2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Key Features </a:t>
            </a:r>
            <a:endParaRPr/>
          </a:p>
        </p:txBody>
      </p:sp>
      <p:sp>
        <p:nvSpPr>
          <p:cNvPr id="211" name="Google Shape;211;p25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32500"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3400">
                <a:latin typeface="Arial"/>
                <a:ea typeface="Arial"/>
                <a:cs typeface="Arial"/>
                <a:sym typeface="Arial"/>
              </a:rPr>
              <a:t>Local-First &amp; Serverless</a:t>
            </a:r>
            <a:br>
              <a:rPr b="1" lang="en-GB" sz="3400">
                <a:latin typeface="Arial"/>
                <a:ea typeface="Arial"/>
                <a:cs typeface="Arial"/>
                <a:sym typeface="Arial"/>
              </a:rPr>
            </a:br>
            <a:r>
              <a:rPr lang="en-GB" sz="3400">
                <a:latin typeface="Arial"/>
                <a:ea typeface="Arial"/>
                <a:cs typeface="Arial"/>
                <a:sym typeface="Arial"/>
              </a:rPr>
              <a:t> Works on your own machine without the need for cloud or server setup.</a:t>
            </a:r>
            <a:br>
              <a:rPr lang="en-GB" sz="3400">
                <a:latin typeface="Arial"/>
                <a:ea typeface="Arial"/>
                <a:cs typeface="Arial"/>
                <a:sym typeface="Arial"/>
              </a:rPr>
            </a:br>
            <a:endParaRPr sz="34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3400">
                <a:latin typeface="Arial"/>
                <a:ea typeface="Arial"/>
                <a:cs typeface="Arial"/>
                <a:sym typeface="Arial"/>
              </a:rPr>
              <a:t>Supports Multiple Similarity Metrics</a:t>
            </a:r>
            <a:br>
              <a:rPr b="1" lang="en-GB" sz="3400">
                <a:latin typeface="Arial"/>
                <a:ea typeface="Arial"/>
                <a:cs typeface="Arial"/>
                <a:sym typeface="Arial"/>
              </a:rPr>
            </a:br>
            <a:r>
              <a:rPr lang="en-GB" sz="3400">
                <a:latin typeface="Arial"/>
                <a:ea typeface="Arial"/>
                <a:cs typeface="Arial"/>
                <a:sym typeface="Arial"/>
              </a:rPr>
              <a:t> Use cosine, Euclidean (L2), or inner product for flexible vector comparison.</a:t>
            </a:r>
            <a:br>
              <a:rPr lang="en-GB" sz="3400">
                <a:latin typeface="Arial"/>
                <a:ea typeface="Arial"/>
                <a:cs typeface="Arial"/>
                <a:sym typeface="Arial"/>
              </a:rPr>
            </a:br>
            <a:endParaRPr sz="34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3400">
                <a:latin typeface="Arial"/>
                <a:ea typeface="Arial"/>
                <a:cs typeface="Arial"/>
                <a:sym typeface="Arial"/>
              </a:rPr>
              <a:t>Metadata Filtering</a:t>
            </a:r>
            <a:br>
              <a:rPr b="1" lang="en-GB" sz="3400">
                <a:latin typeface="Arial"/>
                <a:ea typeface="Arial"/>
                <a:cs typeface="Arial"/>
                <a:sym typeface="Arial"/>
              </a:rPr>
            </a:br>
            <a:r>
              <a:rPr lang="en-GB" sz="3400">
                <a:latin typeface="Arial"/>
                <a:ea typeface="Arial"/>
                <a:cs typeface="Arial"/>
                <a:sym typeface="Arial"/>
              </a:rPr>
              <a:t> Combine structured filters (e.g., tags, categories) with semantic search.</a:t>
            </a:r>
            <a:br>
              <a:rPr lang="en-GB" sz="3400">
                <a:latin typeface="Arial"/>
                <a:ea typeface="Arial"/>
                <a:cs typeface="Arial"/>
                <a:sym typeface="Arial"/>
              </a:rPr>
            </a:br>
            <a:endParaRPr sz="34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3400">
                <a:latin typeface="Arial"/>
                <a:ea typeface="Arial"/>
                <a:cs typeface="Arial"/>
                <a:sym typeface="Arial"/>
              </a:rPr>
              <a:t>Python API Integration</a:t>
            </a:r>
            <a:br>
              <a:rPr b="1" lang="en-GB" sz="3400">
                <a:latin typeface="Arial"/>
                <a:ea typeface="Arial"/>
                <a:cs typeface="Arial"/>
                <a:sym typeface="Arial"/>
              </a:rPr>
            </a:br>
            <a:r>
              <a:rPr lang="en-GB" sz="3400">
                <a:latin typeface="Arial"/>
                <a:ea typeface="Arial"/>
                <a:cs typeface="Arial"/>
                <a:sym typeface="Arial"/>
              </a:rPr>
              <a:t> Easy to use with clean Python syntax for developers.</a:t>
            </a:r>
            <a:br>
              <a:rPr lang="en-GB" sz="3400">
                <a:latin typeface="Arial"/>
                <a:ea typeface="Arial"/>
                <a:cs typeface="Arial"/>
                <a:sym typeface="Arial"/>
              </a:rPr>
            </a:br>
            <a:endParaRPr sz="34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3400">
                <a:latin typeface="Arial"/>
                <a:ea typeface="Arial"/>
                <a:cs typeface="Arial"/>
                <a:sym typeface="Arial"/>
              </a:rPr>
              <a:t>Fast &amp; Lightweight</a:t>
            </a:r>
            <a:br>
              <a:rPr b="1" lang="en-GB" sz="3400">
                <a:latin typeface="Arial"/>
                <a:ea typeface="Arial"/>
                <a:cs typeface="Arial"/>
                <a:sym typeface="Arial"/>
              </a:rPr>
            </a:br>
            <a:r>
              <a:rPr lang="en-GB" sz="3400">
                <a:latin typeface="Arial"/>
                <a:ea typeface="Arial"/>
                <a:cs typeface="Arial"/>
                <a:sym typeface="Arial"/>
              </a:rPr>
              <a:t> Optimized for low-latency search — great for prototyping and AI apps.</a:t>
            </a:r>
            <a:endParaRPr sz="34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25"/>
          <p:cNvSpPr txBox="1"/>
          <p:nvPr/>
        </p:nvSpPr>
        <p:spPr>
          <a:xfrm>
            <a:off x="0" y="2040467"/>
            <a:ext cx="91440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2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ChromaDB in RAG Architecture</a:t>
            </a:r>
            <a:endParaRPr/>
          </a:p>
        </p:txBody>
      </p:sp>
      <p:sp>
        <p:nvSpPr>
          <p:cNvPr id="218" name="Google Shape;218;p26"/>
          <p:cNvSpPr txBox="1"/>
          <p:nvPr>
            <p:ph idx="1" type="body"/>
          </p:nvPr>
        </p:nvSpPr>
        <p:spPr>
          <a:xfrm>
            <a:off x="55025" y="1460750"/>
            <a:ext cx="5177400" cy="3259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100">
                <a:latin typeface="Arial"/>
                <a:ea typeface="Arial"/>
                <a:cs typeface="Arial"/>
                <a:sym typeface="Arial"/>
              </a:rPr>
              <a:t>RAG Overview</a:t>
            </a:r>
            <a:r>
              <a:rPr lang="en-GB" sz="1100">
                <a:latin typeface="Arial"/>
                <a:ea typeface="Arial"/>
                <a:cs typeface="Arial"/>
                <a:sym typeface="Arial"/>
              </a:rPr>
              <a:t>: Combines vector search with language models to generate context-aware responses.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 sz="1100">
                <a:latin typeface="Arial"/>
                <a:ea typeface="Arial"/>
                <a:cs typeface="Arial"/>
                <a:sym typeface="Arial"/>
              </a:rPr>
              <a:t>ChromaDB's Role</a:t>
            </a:r>
            <a:r>
              <a:rPr lang="en-GB" sz="1100">
                <a:latin typeface="Arial"/>
                <a:ea typeface="Arial"/>
                <a:cs typeface="Arial"/>
                <a:sym typeface="Arial"/>
              </a:rPr>
              <a:t>: Stores and retrieves relevant document embeddings based on user queries.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 sz="1100">
                <a:latin typeface="Arial"/>
                <a:ea typeface="Arial"/>
                <a:cs typeface="Arial"/>
                <a:sym typeface="Arial"/>
              </a:rPr>
              <a:t>Workflow Steps</a:t>
            </a:r>
            <a:r>
              <a:rPr lang="en-GB" sz="1100">
                <a:latin typeface="Arial"/>
                <a:ea typeface="Arial"/>
                <a:cs typeface="Arial"/>
                <a:sym typeface="Arial"/>
              </a:rPr>
              <a:t>: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AutoNum type="arabicPeriod"/>
            </a:pPr>
            <a:r>
              <a:rPr lang="en-GB" sz="1100">
                <a:latin typeface="Arial"/>
                <a:ea typeface="Arial"/>
                <a:cs typeface="Arial"/>
                <a:sym typeface="Arial"/>
              </a:rPr>
              <a:t>User submits a query.</a:t>
            </a:r>
            <a:br>
              <a:rPr lang="en-GB" sz="1100">
                <a:latin typeface="Arial"/>
                <a:ea typeface="Arial"/>
                <a:cs typeface="Arial"/>
                <a:sym typeface="Arial"/>
              </a:rPr>
            </a:b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AutoNum type="arabicPeriod"/>
            </a:pPr>
            <a:r>
              <a:rPr lang="en-GB" sz="1100">
                <a:latin typeface="Arial"/>
                <a:ea typeface="Arial"/>
                <a:cs typeface="Arial"/>
                <a:sym typeface="Arial"/>
              </a:rPr>
              <a:t>Query is converted into a vector (embedding).</a:t>
            </a:r>
            <a:br>
              <a:rPr lang="en-GB" sz="1100">
                <a:latin typeface="Arial"/>
                <a:ea typeface="Arial"/>
                <a:cs typeface="Arial"/>
                <a:sym typeface="Arial"/>
              </a:rPr>
            </a:b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AutoNum type="arabicPeriod"/>
            </a:pPr>
            <a:r>
              <a:rPr lang="en-GB" sz="1100">
                <a:latin typeface="Arial"/>
                <a:ea typeface="Arial"/>
                <a:cs typeface="Arial"/>
                <a:sym typeface="Arial"/>
              </a:rPr>
              <a:t>ChromaDB retrieves semantically similar documents.</a:t>
            </a:r>
            <a:br>
              <a:rPr lang="en-GB" sz="1100">
                <a:latin typeface="Arial"/>
                <a:ea typeface="Arial"/>
                <a:cs typeface="Arial"/>
                <a:sym typeface="Arial"/>
              </a:rPr>
            </a:b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AutoNum type="arabicPeriod"/>
            </a:pPr>
            <a:r>
              <a:rPr lang="en-GB" sz="1100">
                <a:latin typeface="Arial"/>
                <a:ea typeface="Arial"/>
                <a:cs typeface="Arial"/>
                <a:sym typeface="Arial"/>
              </a:rPr>
              <a:t>Retrieved documents are provided to the language model.</a:t>
            </a:r>
            <a:br>
              <a:rPr lang="en-GB" sz="1100">
                <a:latin typeface="Arial"/>
                <a:ea typeface="Arial"/>
                <a:cs typeface="Arial"/>
                <a:sym typeface="Arial"/>
              </a:rPr>
            </a:b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AutoNum type="arabicPeriod"/>
            </a:pPr>
            <a:r>
              <a:rPr lang="en-GB" sz="1100">
                <a:latin typeface="Arial"/>
                <a:ea typeface="Arial"/>
                <a:cs typeface="Arial"/>
                <a:sym typeface="Arial"/>
              </a:rPr>
              <a:t>Language model generates a response grounded in retrieved context.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219" name="Google Shape;219;p26" title="WhatsApp Image 2025-06-08 at 1.50.49 PM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65700" y="1708150"/>
            <a:ext cx="4025900" cy="2328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27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Applications of ChromaDB in RAG Architectures</a:t>
            </a:r>
            <a:endParaRPr/>
          </a:p>
        </p:txBody>
      </p:sp>
      <p:sp>
        <p:nvSpPr>
          <p:cNvPr id="225" name="Google Shape;225;p27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-GB" sz="1100">
                <a:latin typeface="Arial"/>
                <a:ea typeface="Arial"/>
                <a:cs typeface="Arial"/>
                <a:sym typeface="Arial"/>
              </a:rPr>
              <a:t>Enables </a:t>
            </a:r>
            <a:r>
              <a:rPr b="1" lang="en-GB" sz="1100">
                <a:latin typeface="Arial"/>
                <a:ea typeface="Arial"/>
                <a:cs typeface="Arial"/>
                <a:sym typeface="Arial"/>
              </a:rPr>
              <a:t>document-based question answering</a:t>
            </a:r>
            <a:r>
              <a:rPr lang="en-GB" sz="1100">
                <a:latin typeface="Arial"/>
                <a:ea typeface="Arial"/>
                <a:cs typeface="Arial"/>
                <a:sym typeface="Arial"/>
              </a:rPr>
              <a:t> by retrieving relevant text chunks.</a:t>
            </a:r>
            <a:br>
              <a:rPr lang="en-GB" sz="1100">
                <a:latin typeface="Arial"/>
                <a:ea typeface="Arial"/>
                <a:cs typeface="Arial"/>
                <a:sym typeface="Arial"/>
              </a:rPr>
            </a:b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-GB" sz="1100">
                <a:latin typeface="Arial"/>
                <a:ea typeface="Arial"/>
                <a:cs typeface="Arial"/>
                <a:sym typeface="Arial"/>
              </a:rPr>
              <a:t>Powers </a:t>
            </a:r>
            <a:r>
              <a:rPr b="1" lang="en-GB" sz="1100">
                <a:latin typeface="Arial"/>
                <a:ea typeface="Arial"/>
                <a:cs typeface="Arial"/>
                <a:sym typeface="Arial"/>
              </a:rPr>
              <a:t>intelligent chatbots</a:t>
            </a:r>
            <a:r>
              <a:rPr lang="en-GB" sz="1100">
                <a:latin typeface="Arial"/>
                <a:ea typeface="Arial"/>
                <a:cs typeface="Arial"/>
                <a:sym typeface="Arial"/>
              </a:rPr>
              <a:t> with long-term memory using vectorized history.</a:t>
            </a:r>
            <a:br>
              <a:rPr lang="en-GB" sz="1100">
                <a:latin typeface="Arial"/>
                <a:ea typeface="Arial"/>
                <a:cs typeface="Arial"/>
                <a:sym typeface="Arial"/>
              </a:rPr>
            </a:b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-GB" sz="1100">
                <a:latin typeface="Arial"/>
                <a:ea typeface="Arial"/>
                <a:cs typeface="Arial"/>
                <a:sym typeface="Arial"/>
              </a:rPr>
              <a:t>Supports </a:t>
            </a:r>
            <a:r>
              <a:rPr b="1" lang="en-GB" sz="1100">
                <a:latin typeface="Arial"/>
                <a:ea typeface="Arial"/>
                <a:cs typeface="Arial"/>
                <a:sym typeface="Arial"/>
              </a:rPr>
              <a:t>enterprise knowledge assistants</a:t>
            </a:r>
            <a:r>
              <a:rPr lang="en-GB" sz="1100">
                <a:latin typeface="Arial"/>
                <a:ea typeface="Arial"/>
                <a:cs typeface="Arial"/>
                <a:sym typeface="Arial"/>
              </a:rPr>
              <a:t> for HR, IT, and internal support queries.</a:t>
            </a:r>
            <a:br>
              <a:rPr lang="en-GB" sz="1100">
                <a:latin typeface="Arial"/>
                <a:ea typeface="Arial"/>
                <a:cs typeface="Arial"/>
                <a:sym typeface="Arial"/>
              </a:rPr>
            </a:b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-GB" sz="1100">
                <a:latin typeface="Arial"/>
                <a:ea typeface="Arial"/>
                <a:cs typeface="Arial"/>
                <a:sym typeface="Arial"/>
              </a:rPr>
              <a:t>Assists in </a:t>
            </a:r>
            <a:r>
              <a:rPr b="1" lang="en-GB" sz="1100">
                <a:latin typeface="Arial"/>
                <a:ea typeface="Arial"/>
                <a:cs typeface="Arial"/>
                <a:sym typeface="Arial"/>
              </a:rPr>
              <a:t>legal and healthcare document retrieval</a:t>
            </a:r>
            <a:r>
              <a:rPr lang="en-GB" sz="1100">
                <a:latin typeface="Arial"/>
                <a:ea typeface="Arial"/>
                <a:cs typeface="Arial"/>
                <a:sym typeface="Arial"/>
              </a:rPr>
              <a:t> based on semantic relevance.</a:t>
            </a:r>
            <a:br>
              <a:rPr lang="en-GB" sz="1100">
                <a:latin typeface="Arial"/>
                <a:ea typeface="Arial"/>
                <a:cs typeface="Arial"/>
                <a:sym typeface="Arial"/>
              </a:rPr>
            </a:b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-GB" sz="1100">
                <a:latin typeface="Arial"/>
                <a:ea typeface="Arial"/>
                <a:cs typeface="Arial"/>
                <a:sym typeface="Arial"/>
              </a:rPr>
              <a:t>Enhances </a:t>
            </a:r>
            <a:r>
              <a:rPr b="1" lang="en-GB" sz="1100">
                <a:latin typeface="Arial"/>
                <a:ea typeface="Arial"/>
                <a:cs typeface="Arial"/>
                <a:sym typeface="Arial"/>
              </a:rPr>
              <a:t>academic research tools</a:t>
            </a:r>
            <a:r>
              <a:rPr lang="en-GB" sz="1100">
                <a:latin typeface="Arial"/>
                <a:ea typeface="Arial"/>
                <a:cs typeface="Arial"/>
                <a:sym typeface="Arial"/>
              </a:rPr>
              <a:t> for faster literature discovery and comparison.</a:t>
            </a:r>
            <a:br>
              <a:rPr lang="en-GB" sz="1100">
                <a:latin typeface="Arial"/>
                <a:ea typeface="Arial"/>
                <a:cs typeface="Arial"/>
                <a:sym typeface="Arial"/>
              </a:rPr>
            </a:b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-GB" sz="1100">
                <a:latin typeface="Arial"/>
                <a:ea typeface="Arial"/>
                <a:cs typeface="Arial"/>
                <a:sym typeface="Arial"/>
              </a:rPr>
              <a:t>Drives </a:t>
            </a:r>
            <a:r>
              <a:rPr b="1" lang="en-GB" sz="1100">
                <a:latin typeface="Arial"/>
                <a:ea typeface="Arial"/>
                <a:cs typeface="Arial"/>
                <a:sym typeface="Arial"/>
              </a:rPr>
              <a:t>semantic product recommendation systems</a:t>
            </a:r>
            <a:r>
              <a:rPr lang="en-GB" sz="1100">
                <a:latin typeface="Arial"/>
                <a:ea typeface="Arial"/>
                <a:cs typeface="Arial"/>
                <a:sym typeface="Arial"/>
              </a:rPr>
              <a:t> using vector similarity.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28"/>
          <p:cNvSpPr txBox="1"/>
          <p:nvPr>
            <p:ph idx="1" type="body"/>
          </p:nvPr>
        </p:nvSpPr>
        <p:spPr>
          <a:xfrm>
            <a:off x="1048800" y="506600"/>
            <a:ext cx="7599000" cy="427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l">
              <a:spcBef>
                <a:spcPts val="1800"/>
              </a:spcBef>
              <a:spcAft>
                <a:spcPts val="0"/>
              </a:spcAft>
              <a:buNone/>
            </a:pPr>
            <a:r>
              <a:rPr b="1" lang="en-GB" sz="1700">
                <a:latin typeface="Arial"/>
                <a:ea typeface="Arial"/>
                <a:cs typeface="Arial"/>
                <a:sym typeface="Arial"/>
              </a:rPr>
              <a:t>ChromaDB is Best For:</a:t>
            </a:r>
            <a:endParaRPr b="1" sz="17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800"/>
              </a:spcBef>
              <a:spcAft>
                <a:spcPts val="0"/>
              </a:spcAft>
              <a:buNone/>
            </a:pPr>
            <a:r>
              <a:rPr lang="en-GB" sz="1100">
                <a:latin typeface="Arial"/>
                <a:ea typeface="Arial"/>
                <a:cs typeface="Arial"/>
                <a:sym typeface="Arial"/>
              </a:rPr>
              <a:t>🔍 </a:t>
            </a:r>
            <a:r>
              <a:rPr b="1" lang="en-GB" sz="1100">
                <a:latin typeface="Arial"/>
                <a:ea typeface="Arial"/>
                <a:cs typeface="Arial"/>
                <a:sym typeface="Arial"/>
              </a:rPr>
              <a:t>Semantic Search</a:t>
            </a:r>
            <a:br>
              <a:rPr b="1" lang="en-GB" sz="1100">
                <a:latin typeface="Arial"/>
                <a:ea typeface="Arial"/>
                <a:cs typeface="Arial"/>
                <a:sym typeface="Arial"/>
              </a:rPr>
            </a:br>
            <a:r>
              <a:rPr lang="en-GB" sz="1100">
                <a:latin typeface="Arial"/>
                <a:ea typeface="Arial"/>
                <a:cs typeface="Arial"/>
                <a:sym typeface="Arial"/>
              </a:rPr>
              <a:t> Finding relevant documents based on meaning, not exact keywords.</a:t>
            </a:r>
            <a:br>
              <a:rPr lang="en-GB" sz="1100">
                <a:latin typeface="Arial"/>
                <a:ea typeface="Arial"/>
                <a:cs typeface="Arial"/>
                <a:sym typeface="Arial"/>
              </a:rPr>
            </a:b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800"/>
              </a:spcBef>
              <a:spcAft>
                <a:spcPts val="0"/>
              </a:spcAft>
              <a:buNone/>
            </a:pPr>
            <a:r>
              <a:rPr lang="en-GB" sz="1100">
                <a:latin typeface="Arial"/>
                <a:ea typeface="Arial"/>
                <a:cs typeface="Arial"/>
                <a:sym typeface="Arial"/>
              </a:rPr>
              <a:t>🤖 </a:t>
            </a:r>
            <a:r>
              <a:rPr b="1" lang="en-GB" sz="1100">
                <a:latin typeface="Arial"/>
                <a:ea typeface="Arial"/>
                <a:cs typeface="Arial"/>
                <a:sym typeface="Arial"/>
              </a:rPr>
              <a:t>Retrieval-Augmented Generation (RAG)</a:t>
            </a:r>
            <a:br>
              <a:rPr b="1" lang="en-GB" sz="1100">
                <a:latin typeface="Arial"/>
                <a:ea typeface="Arial"/>
                <a:cs typeface="Arial"/>
                <a:sym typeface="Arial"/>
              </a:rPr>
            </a:br>
            <a:r>
              <a:rPr lang="en-GB" sz="1100">
                <a:latin typeface="Arial"/>
                <a:ea typeface="Arial"/>
                <a:cs typeface="Arial"/>
                <a:sym typeface="Arial"/>
              </a:rPr>
              <a:t> Supplying external knowledge to LLMs for accurate, grounded responses.</a:t>
            </a:r>
            <a:br>
              <a:rPr lang="en-GB" sz="1100">
                <a:latin typeface="Arial"/>
                <a:ea typeface="Arial"/>
                <a:cs typeface="Arial"/>
                <a:sym typeface="Arial"/>
              </a:rPr>
            </a:b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800"/>
              </a:spcBef>
              <a:spcAft>
                <a:spcPts val="0"/>
              </a:spcAft>
              <a:buNone/>
            </a:pPr>
            <a:r>
              <a:rPr lang="en-GB" sz="1100">
                <a:latin typeface="Arial"/>
                <a:ea typeface="Arial"/>
                <a:cs typeface="Arial"/>
                <a:sym typeface="Arial"/>
              </a:rPr>
              <a:t>🎯 </a:t>
            </a:r>
            <a:r>
              <a:rPr b="1" lang="en-GB" sz="1100">
                <a:latin typeface="Arial"/>
                <a:ea typeface="Arial"/>
                <a:cs typeface="Arial"/>
                <a:sym typeface="Arial"/>
              </a:rPr>
              <a:t>Recommendation Systems</a:t>
            </a:r>
            <a:br>
              <a:rPr b="1" lang="en-GB" sz="1100">
                <a:latin typeface="Arial"/>
                <a:ea typeface="Arial"/>
                <a:cs typeface="Arial"/>
                <a:sym typeface="Arial"/>
              </a:rPr>
            </a:br>
            <a:r>
              <a:rPr lang="en-GB" sz="1100">
                <a:latin typeface="Arial"/>
                <a:ea typeface="Arial"/>
                <a:cs typeface="Arial"/>
                <a:sym typeface="Arial"/>
              </a:rPr>
              <a:t> Suggesting items based on vector similarity (e.g., products, content).</a:t>
            </a:r>
            <a:br>
              <a:rPr lang="en-GB" sz="1100">
                <a:latin typeface="Arial"/>
                <a:ea typeface="Arial"/>
                <a:cs typeface="Arial"/>
                <a:sym typeface="Arial"/>
              </a:rPr>
            </a:b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800"/>
              </a:spcBef>
              <a:spcAft>
                <a:spcPts val="0"/>
              </a:spcAft>
              <a:buNone/>
            </a:pPr>
            <a:r>
              <a:rPr lang="en-GB" sz="1100">
                <a:latin typeface="Arial"/>
                <a:ea typeface="Arial"/>
                <a:cs typeface="Arial"/>
                <a:sym typeface="Arial"/>
              </a:rPr>
              <a:t>🔗 </a:t>
            </a:r>
            <a:r>
              <a:rPr b="1" lang="en-GB" sz="1100">
                <a:latin typeface="Arial"/>
                <a:ea typeface="Arial"/>
                <a:cs typeface="Arial"/>
                <a:sym typeface="Arial"/>
              </a:rPr>
              <a:t>Hybrid Search</a:t>
            </a:r>
            <a:br>
              <a:rPr b="1" lang="en-GB" sz="1100">
                <a:latin typeface="Arial"/>
                <a:ea typeface="Arial"/>
                <a:cs typeface="Arial"/>
                <a:sym typeface="Arial"/>
              </a:rPr>
            </a:br>
            <a:r>
              <a:rPr lang="en-GB" sz="1100">
                <a:latin typeface="Arial"/>
                <a:ea typeface="Arial"/>
                <a:cs typeface="Arial"/>
                <a:sym typeface="Arial"/>
              </a:rPr>
              <a:t> Combining metadata filters (like SQL) with vector similarity for more precise results.</a:t>
            </a:r>
            <a:br>
              <a:rPr lang="en-GB" sz="1100">
                <a:latin typeface="Arial"/>
                <a:ea typeface="Arial"/>
                <a:cs typeface="Arial"/>
                <a:sym typeface="Arial"/>
              </a:rPr>
            </a:b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800"/>
              </a:spcBef>
              <a:spcAft>
                <a:spcPts val="0"/>
              </a:spcAft>
              <a:buNone/>
            </a:pPr>
            <a:r>
              <a:rPr lang="en-GB" sz="1100">
                <a:latin typeface="Arial"/>
                <a:ea typeface="Arial"/>
                <a:cs typeface="Arial"/>
                <a:sym typeface="Arial"/>
              </a:rPr>
              <a:t>🧪 </a:t>
            </a:r>
            <a:r>
              <a:rPr b="1" lang="en-GB" sz="1100">
                <a:latin typeface="Arial"/>
                <a:ea typeface="Arial"/>
                <a:cs typeface="Arial"/>
                <a:sym typeface="Arial"/>
              </a:rPr>
              <a:t>Prototyping AI Applications</a:t>
            </a:r>
            <a:br>
              <a:rPr b="1" lang="en-GB" sz="1100">
                <a:latin typeface="Arial"/>
                <a:ea typeface="Arial"/>
                <a:cs typeface="Arial"/>
                <a:sym typeface="Arial"/>
              </a:rPr>
            </a:br>
            <a:r>
              <a:rPr lang="en-GB" sz="1100">
                <a:latin typeface="Arial"/>
                <a:ea typeface="Arial"/>
                <a:cs typeface="Arial"/>
                <a:sym typeface="Arial"/>
              </a:rPr>
              <a:t> Fast, local setup for building LLM apps, chatbots, and intelligent search tools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800"/>
              </a:spcBef>
              <a:spcAft>
                <a:spcPts val="0"/>
              </a:spcAft>
              <a:buNone/>
            </a:pPr>
            <a:r>
              <a:t/>
            </a:r>
            <a:endParaRPr b="1" sz="17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4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29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1" lang="en-GB" sz="1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❌ </a:t>
            </a:r>
            <a:r>
              <a:rPr b="1" lang="en-GB" sz="1700">
                <a:latin typeface="Arial"/>
                <a:ea typeface="Arial"/>
                <a:cs typeface="Arial"/>
                <a:sym typeface="Arial"/>
              </a:rPr>
              <a:t>ChromaDB is </a:t>
            </a:r>
            <a:r>
              <a:rPr b="1" i="1" lang="en-GB" sz="1700">
                <a:latin typeface="Arial"/>
                <a:ea typeface="Arial"/>
                <a:cs typeface="Arial"/>
                <a:sym typeface="Arial"/>
              </a:rPr>
              <a:t>Not Ideal</a:t>
            </a:r>
            <a:r>
              <a:rPr b="1" lang="en-GB" sz="1700">
                <a:latin typeface="Arial"/>
                <a:ea typeface="Arial"/>
                <a:cs typeface="Arial"/>
                <a:sym typeface="Arial"/>
              </a:rPr>
              <a:t> For:</a:t>
            </a:r>
            <a:endParaRPr b="1" sz="17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29"/>
          <p:cNvSpPr txBox="1"/>
          <p:nvPr>
            <p:ph idx="1" type="body"/>
          </p:nvPr>
        </p:nvSpPr>
        <p:spPr>
          <a:xfrm>
            <a:off x="1297500" y="870850"/>
            <a:ext cx="7038900" cy="3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55000"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924">
                <a:latin typeface="Arial"/>
                <a:ea typeface="Arial"/>
                <a:cs typeface="Arial"/>
                <a:sym typeface="Arial"/>
              </a:rPr>
              <a:t>🧱 </a:t>
            </a:r>
            <a:r>
              <a:rPr b="1" lang="en-GB" sz="1924">
                <a:latin typeface="Arial"/>
                <a:ea typeface="Arial"/>
                <a:cs typeface="Arial"/>
                <a:sym typeface="Arial"/>
              </a:rPr>
              <a:t>Very Large-Scale Deployments</a:t>
            </a:r>
            <a:br>
              <a:rPr b="1" lang="en-GB" sz="1924">
                <a:latin typeface="Arial"/>
                <a:ea typeface="Arial"/>
                <a:cs typeface="Arial"/>
                <a:sym typeface="Arial"/>
              </a:rPr>
            </a:br>
            <a:r>
              <a:rPr lang="en-GB" sz="1924">
                <a:latin typeface="Arial"/>
                <a:ea typeface="Arial"/>
                <a:cs typeface="Arial"/>
                <a:sym typeface="Arial"/>
              </a:rPr>
              <a:t> Not yet optimized for billions of vectors or massive production-scale workloads (use FAISS or Pinecone instead).</a:t>
            </a:r>
            <a:br>
              <a:rPr lang="en-GB" sz="1924">
                <a:latin typeface="Arial"/>
                <a:ea typeface="Arial"/>
                <a:cs typeface="Arial"/>
                <a:sym typeface="Arial"/>
              </a:rPr>
            </a:br>
            <a:endParaRPr sz="1924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924">
                <a:latin typeface="Arial"/>
                <a:ea typeface="Arial"/>
                <a:cs typeface="Arial"/>
                <a:sym typeface="Arial"/>
              </a:rPr>
              <a:t>🛢️ </a:t>
            </a:r>
            <a:r>
              <a:rPr b="1" lang="en-GB" sz="1924">
                <a:latin typeface="Arial"/>
                <a:ea typeface="Arial"/>
                <a:cs typeface="Arial"/>
                <a:sym typeface="Arial"/>
              </a:rPr>
              <a:t>Traditional Relational Data Queries</a:t>
            </a:r>
            <a:br>
              <a:rPr b="1" lang="en-GB" sz="1924">
                <a:latin typeface="Arial"/>
                <a:ea typeface="Arial"/>
                <a:cs typeface="Arial"/>
                <a:sym typeface="Arial"/>
              </a:rPr>
            </a:br>
            <a:r>
              <a:rPr lang="en-GB" sz="1924">
                <a:latin typeface="Arial"/>
                <a:ea typeface="Arial"/>
                <a:cs typeface="Arial"/>
                <a:sym typeface="Arial"/>
              </a:rPr>
              <a:t> Doesn’t support complex SQL joins, aggregations, or transactions like PostgreSQL or MySQL.</a:t>
            </a:r>
            <a:br>
              <a:rPr lang="en-GB" sz="1924">
                <a:latin typeface="Arial"/>
                <a:ea typeface="Arial"/>
                <a:cs typeface="Arial"/>
                <a:sym typeface="Arial"/>
              </a:rPr>
            </a:br>
            <a:endParaRPr sz="1924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924">
                <a:latin typeface="Arial"/>
                <a:ea typeface="Arial"/>
                <a:cs typeface="Arial"/>
                <a:sym typeface="Arial"/>
              </a:rPr>
              <a:t>🕒 </a:t>
            </a:r>
            <a:r>
              <a:rPr b="1" lang="en-GB" sz="1924">
                <a:latin typeface="Arial"/>
                <a:ea typeface="Arial"/>
                <a:cs typeface="Arial"/>
                <a:sym typeface="Arial"/>
              </a:rPr>
              <a:t>Heavy Real-Time Streaming Ingestion</a:t>
            </a:r>
            <a:br>
              <a:rPr b="1" lang="en-GB" sz="1924">
                <a:latin typeface="Arial"/>
                <a:ea typeface="Arial"/>
                <a:cs typeface="Arial"/>
                <a:sym typeface="Arial"/>
              </a:rPr>
            </a:br>
            <a:r>
              <a:rPr lang="en-GB" sz="1924">
                <a:latin typeface="Arial"/>
                <a:ea typeface="Arial"/>
                <a:cs typeface="Arial"/>
                <a:sym typeface="Arial"/>
              </a:rPr>
              <a:t> Not designed for high-frequency, continuous real-time data ingestion pipelines.</a:t>
            </a:r>
            <a:br>
              <a:rPr lang="en-GB" sz="1924">
                <a:latin typeface="Arial"/>
                <a:ea typeface="Arial"/>
                <a:cs typeface="Arial"/>
                <a:sym typeface="Arial"/>
              </a:rPr>
            </a:br>
            <a:endParaRPr sz="1924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924">
                <a:latin typeface="Arial"/>
                <a:ea typeface="Arial"/>
                <a:cs typeface="Arial"/>
                <a:sym typeface="Arial"/>
              </a:rPr>
              <a:t>⚙️ </a:t>
            </a:r>
            <a:r>
              <a:rPr b="1" lang="en-GB" sz="1924">
                <a:latin typeface="Arial"/>
                <a:ea typeface="Arial"/>
                <a:cs typeface="Arial"/>
                <a:sym typeface="Arial"/>
              </a:rPr>
              <a:t>Advanced Index Customization</a:t>
            </a:r>
            <a:br>
              <a:rPr b="1" lang="en-GB" sz="1924">
                <a:latin typeface="Arial"/>
                <a:ea typeface="Arial"/>
                <a:cs typeface="Arial"/>
                <a:sym typeface="Arial"/>
              </a:rPr>
            </a:br>
            <a:r>
              <a:rPr lang="en-GB" sz="1924">
                <a:latin typeface="Arial"/>
                <a:ea typeface="Arial"/>
                <a:cs typeface="Arial"/>
                <a:sym typeface="Arial"/>
              </a:rPr>
              <a:t> Offers limited control over indexing techniques compared to FAISS (e.g., IVF, PQ, HNSW tuning).</a:t>
            </a:r>
            <a:br>
              <a:rPr lang="en-GB" sz="1924">
                <a:latin typeface="Arial"/>
                <a:ea typeface="Arial"/>
                <a:cs typeface="Arial"/>
                <a:sym typeface="Arial"/>
              </a:rPr>
            </a:br>
            <a:endParaRPr sz="1924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924">
                <a:latin typeface="Arial"/>
                <a:ea typeface="Arial"/>
                <a:cs typeface="Arial"/>
                <a:sym typeface="Arial"/>
              </a:rPr>
              <a:t>🧠 </a:t>
            </a:r>
            <a:r>
              <a:rPr b="1" lang="en-GB" sz="1924">
                <a:latin typeface="Arial"/>
                <a:ea typeface="Arial"/>
                <a:cs typeface="Arial"/>
                <a:sym typeface="Arial"/>
              </a:rPr>
              <a:t>Deep Model Integration</a:t>
            </a:r>
            <a:br>
              <a:rPr b="1" lang="en-GB" sz="1924">
                <a:latin typeface="Arial"/>
                <a:ea typeface="Arial"/>
                <a:cs typeface="Arial"/>
                <a:sym typeface="Arial"/>
              </a:rPr>
            </a:br>
            <a:r>
              <a:rPr lang="en-GB" sz="1924">
                <a:latin typeface="Arial"/>
                <a:ea typeface="Arial"/>
                <a:cs typeface="Arial"/>
                <a:sym typeface="Arial"/>
              </a:rPr>
              <a:t> Doesn’t handle training or fine-tuning models—only works with </a:t>
            </a:r>
            <a:r>
              <a:rPr b="1" lang="en-GB" sz="1924">
                <a:latin typeface="Arial"/>
                <a:ea typeface="Arial"/>
                <a:cs typeface="Arial"/>
                <a:sym typeface="Arial"/>
              </a:rPr>
              <a:t>pre-computed embeddings</a:t>
            </a:r>
            <a:r>
              <a:rPr lang="en-GB" sz="1924">
                <a:latin typeface="Arial"/>
                <a:ea typeface="Arial"/>
                <a:cs typeface="Arial"/>
                <a:sym typeface="Arial"/>
              </a:rPr>
              <a:t>.</a:t>
            </a:r>
            <a:endParaRPr sz="1924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30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FAISS?</a:t>
            </a:r>
            <a:endParaRPr/>
          </a:p>
        </p:txBody>
      </p:sp>
      <p:sp>
        <p:nvSpPr>
          <p:cNvPr id="242" name="Google Shape;242;p30"/>
          <p:cNvSpPr txBox="1"/>
          <p:nvPr>
            <p:ph idx="1" type="body"/>
          </p:nvPr>
        </p:nvSpPr>
        <p:spPr>
          <a:xfrm>
            <a:off x="1297500" y="2118525"/>
            <a:ext cx="3383400" cy="256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latin typeface="Arial"/>
                <a:ea typeface="Arial"/>
                <a:cs typeface="Arial"/>
                <a:sym typeface="Arial"/>
              </a:rPr>
              <a:t>FAISS stands for </a:t>
            </a:r>
            <a:r>
              <a:rPr b="1" lang="en-GB" sz="1100">
                <a:latin typeface="Arial"/>
                <a:ea typeface="Arial"/>
                <a:cs typeface="Arial"/>
                <a:sym typeface="Arial"/>
              </a:rPr>
              <a:t>Facebook AI Similarity Search</a:t>
            </a:r>
            <a:br>
              <a:rPr b="1" lang="en-GB" sz="1100">
                <a:latin typeface="Arial"/>
                <a:ea typeface="Arial"/>
                <a:cs typeface="Arial"/>
                <a:sym typeface="Arial"/>
              </a:rPr>
            </a:br>
            <a:endParaRPr b="1"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00">
                <a:latin typeface="Arial"/>
                <a:ea typeface="Arial"/>
                <a:cs typeface="Arial"/>
                <a:sym typeface="Arial"/>
              </a:rPr>
              <a:t>Developed by Facebook AI Research as an open-source library</a:t>
            </a:r>
            <a:br>
              <a:rPr lang="en-GB" sz="1100">
                <a:latin typeface="Arial"/>
                <a:ea typeface="Arial"/>
                <a:cs typeface="Arial"/>
                <a:sym typeface="Arial"/>
              </a:rPr>
            </a:b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00">
                <a:latin typeface="Arial"/>
                <a:ea typeface="Arial"/>
                <a:cs typeface="Arial"/>
                <a:sym typeface="Arial"/>
              </a:rPr>
              <a:t>Designed for fast and scalable similarity search on high-dimensional vectors</a:t>
            </a:r>
            <a:br>
              <a:rPr lang="en-GB" sz="1100">
                <a:latin typeface="Arial"/>
                <a:ea typeface="Arial"/>
                <a:cs typeface="Arial"/>
                <a:sym typeface="Arial"/>
              </a:rPr>
            </a:b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00">
                <a:latin typeface="Arial"/>
                <a:ea typeface="Arial"/>
                <a:cs typeface="Arial"/>
                <a:sym typeface="Arial"/>
              </a:rPr>
              <a:t>Supports efficient search on billions of vectors using CPU and GPU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600"/>
          </a:p>
        </p:txBody>
      </p:sp>
      <p:pic>
        <p:nvPicPr>
          <p:cNvPr id="243" name="Google Shape;243;p30" title="image3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33300" y="1971850"/>
            <a:ext cx="4158301" cy="2245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1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Why is Vector Similarity Search Important?</a:t>
            </a:r>
            <a:endParaRPr/>
          </a:p>
        </p:txBody>
      </p:sp>
      <p:sp>
        <p:nvSpPr>
          <p:cNvPr id="249" name="Google Shape;249;p31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●"/>
            </a:pPr>
            <a:r>
              <a:rPr lang="en-GB" sz="1400">
                <a:latin typeface="Arial"/>
                <a:ea typeface="Arial"/>
                <a:cs typeface="Arial"/>
                <a:sym typeface="Arial"/>
              </a:rPr>
              <a:t>Many ML models output </a:t>
            </a:r>
            <a:r>
              <a:rPr b="1" lang="en-GB" sz="1400">
                <a:latin typeface="Arial"/>
                <a:ea typeface="Arial"/>
                <a:cs typeface="Arial"/>
                <a:sym typeface="Arial"/>
              </a:rPr>
              <a:t>embedding vectors</a:t>
            </a:r>
            <a:r>
              <a:rPr lang="en-GB" sz="1400">
                <a:latin typeface="Arial"/>
                <a:ea typeface="Arial"/>
                <a:cs typeface="Arial"/>
                <a:sym typeface="Arial"/>
              </a:rPr>
              <a:t> (e.g., word embeddings, image features)</a:t>
            </a:r>
            <a:br>
              <a:rPr lang="en-GB" sz="1400">
                <a:latin typeface="Arial"/>
                <a:ea typeface="Arial"/>
                <a:cs typeface="Arial"/>
                <a:sym typeface="Arial"/>
              </a:rPr>
            </a:b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●"/>
            </a:pPr>
            <a:r>
              <a:rPr lang="en-GB" sz="1400">
                <a:latin typeface="Arial"/>
                <a:ea typeface="Arial"/>
                <a:cs typeface="Arial"/>
                <a:sym typeface="Arial"/>
              </a:rPr>
              <a:t>To find similar items, we search for nearest neighbors in embedding space</a:t>
            </a:r>
            <a:br>
              <a:rPr lang="en-GB" sz="1400">
                <a:latin typeface="Arial"/>
                <a:ea typeface="Arial"/>
                <a:cs typeface="Arial"/>
                <a:sym typeface="Arial"/>
              </a:rPr>
            </a:b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●"/>
            </a:pPr>
            <a:r>
              <a:rPr lang="en-GB" sz="1400">
                <a:latin typeface="Arial"/>
                <a:ea typeface="Arial"/>
                <a:cs typeface="Arial"/>
                <a:sym typeface="Arial"/>
              </a:rPr>
              <a:t>Example: Given a query sentence embedding, find most similar documents</a:t>
            </a:r>
            <a:br>
              <a:rPr lang="en-GB" sz="1400">
                <a:latin typeface="Arial"/>
                <a:ea typeface="Arial"/>
                <a:cs typeface="Arial"/>
                <a:sym typeface="Arial"/>
              </a:rPr>
            </a:b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●"/>
            </a:pPr>
            <a:r>
              <a:rPr lang="en-GB" sz="1400">
                <a:latin typeface="Arial"/>
                <a:ea typeface="Arial"/>
                <a:cs typeface="Arial"/>
                <a:sym typeface="Arial"/>
              </a:rPr>
              <a:t>Brute force search is slow and computationally expensive at large scale</a:t>
            </a:r>
            <a:br>
              <a:rPr lang="en-GB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2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 Challenges in Large Scale Similarity Search</a:t>
            </a:r>
            <a:endParaRPr/>
          </a:p>
        </p:txBody>
      </p:sp>
      <p:sp>
        <p:nvSpPr>
          <p:cNvPr id="255" name="Google Shape;255;p32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●"/>
            </a:pPr>
            <a:r>
              <a:rPr lang="en-GB" sz="1400">
                <a:latin typeface="Arial"/>
                <a:ea typeface="Arial"/>
                <a:cs typeface="Arial"/>
                <a:sym typeface="Arial"/>
              </a:rPr>
              <a:t>Dimensionality: vectors often have hundreds to thousands of dimensions</a:t>
            </a:r>
            <a:br>
              <a:rPr lang="en-GB" sz="1400">
                <a:latin typeface="Arial"/>
                <a:ea typeface="Arial"/>
                <a:cs typeface="Arial"/>
                <a:sym typeface="Arial"/>
              </a:rPr>
            </a:b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●"/>
            </a:pPr>
            <a:r>
              <a:rPr lang="en-GB" sz="1400">
                <a:latin typeface="Arial"/>
                <a:ea typeface="Arial"/>
                <a:cs typeface="Arial"/>
                <a:sym typeface="Arial"/>
              </a:rPr>
              <a:t>Dataset size: millions to billions of vectors</a:t>
            </a:r>
            <a:br>
              <a:rPr lang="en-GB" sz="1400">
                <a:latin typeface="Arial"/>
                <a:ea typeface="Arial"/>
                <a:cs typeface="Arial"/>
                <a:sym typeface="Arial"/>
              </a:rPr>
            </a:b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●"/>
            </a:pPr>
            <a:r>
              <a:rPr lang="en-GB" sz="1400">
                <a:latin typeface="Arial"/>
                <a:ea typeface="Arial"/>
                <a:cs typeface="Arial"/>
                <a:sym typeface="Arial"/>
              </a:rPr>
              <a:t>Time complexity of naive search: O(N) per query, too slow for large N</a:t>
            </a:r>
            <a:br>
              <a:rPr lang="en-GB" sz="1400">
                <a:latin typeface="Arial"/>
                <a:ea typeface="Arial"/>
                <a:cs typeface="Arial"/>
                <a:sym typeface="Arial"/>
              </a:rPr>
            </a:b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●"/>
            </a:pPr>
            <a:r>
              <a:rPr lang="en-GB" sz="1400">
                <a:latin typeface="Arial"/>
                <a:ea typeface="Arial"/>
                <a:cs typeface="Arial"/>
                <a:sym typeface="Arial"/>
              </a:rPr>
              <a:t>Need for approximate nearest neighbor (ANN) search to balance speed and accuracy</a:t>
            </a:r>
            <a:br>
              <a:rPr lang="en-GB" sz="1400">
                <a:latin typeface="Arial"/>
                <a:ea typeface="Arial"/>
                <a:cs typeface="Arial"/>
                <a:sym typeface="Arial"/>
              </a:rPr>
            </a:br>
            <a:endParaRPr b="1" sz="2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3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 What FAISS Offers</a:t>
            </a:r>
            <a:endParaRPr/>
          </a:p>
        </p:txBody>
      </p:sp>
      <p:sp>
        <p:nvSpPr>
          <p:cNvPr id="261" name="Google Shape;261;p33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rgbClr val="F1F5F9"/>
              </a:buClr>
              <a:buSzPts val="1100"/>
              <a:buFont typeface="Arial"/>
              <a:buChar char="●"/>
            </a:pPr>
            <a:r>
              <a:rPr lang="en-GB">
                <a:solidFill>
                  <a:srgbClr val="F1F5F9"/>
                </a:solidFill>
              </a:rPr>
              <a:t>Highly optimized similarity search algorithms in C++ with Python bindings</a:t>
            </a:r>
            <a:br>
              <a:rPr lang="en-GB">
                <a:solidFill>
                  <a:srgbClr val="F1F5F9"/>
                </a:solidFill>
              </a:rPr>
            </a:br>
            <a:endParaRPr>
              <a:solidFill>
                <a:srgbClr val="F1F5F9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1100"/>
              <a:buFont typeface="Arial"/>
              <a:buChar char="●"/>
            </a:pPr>
            <a:r>
              <a:rPr lang="en-GB">
                <a:solidFill>
                  <a:srgbClr val="F1F5F9"/>
                </a:solidFill>
              </a:rPr>
              <a:t>Supports:</a:t>
            </a:r>
            <a:br>
              <a:rPr lang="en-GB">
                <a:solidFill>
                  <a:srgbClr val="F1F5F9"/>
                </a:solidFill>
              </a:rPr>
            </a:br>
            <a:endParaRPr>
              <a:solidFill>
                <a:srgbClr val="F1F5F9"/>
              </a:solidFill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1100"/>
              <a:buFont typeface="Arial"/>
              <a:buChar char="○"/>
            </a:pPr>
            <a:r>
              <a:rPr lang="en-GB">
                <a:solidFill>
                  <a:srgbClr val="F1F5F9"/>
                </a:solidFill>
              </a:rPr>
              <a:t>Exact nearest neighbor search</a:t>
            </a:r>
            <a:br>
              <a:rPr lang="en-GB">
                <a:solidFill>
                  <a:srgbClr val="F1F5F9"/>
                </a:solidFill>
              </a:rPr>
            </a:br>
            <a:endParaRPr>
              <a:solidFill>
                <a:srgbClr val="F1F5F9"/>
              </a:solidFill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1100"/>
              <a:buFont typeface="Arial"/>
              <a:buChar char="○"/>
            </a:pPr>
            <a:r>
              <a:rPr lang="en-GB">
                <a:solidFill>
                  <a:srgbClr val="F1F5F9"/>
                </a:solidFill>
              </a:rPr>
              <a:t>Approximate nearest neighbor search with trade-offs</a:t>
            </a:r>
            <a:br>
              <a:rPr lang="en-GB">
                <a:solidFill>
                  <a:srgbClr val="F1F5F9"/>
                </a:solidFill>
              </a:rPr>
            </a:br>
            <a:endParaRPr>
              <a:solidFill>
                <a:srgbClr val="F1F5F9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1100"/>
              <a:buFont typeface="Arial"/>
              <a:buChar char="●"/>
            </a:pPr>
            <a:r>
              <a:rPr lang="en-GB">
                <a:solidFill>
                  <a:srgbClr val="F1F5F9"/>
                </a:solidFill>
              </a:rPr>
              <a:t>GPU acceleration to massively speed up searches</a:t>
            </a:r>
            <a:br>
              <a:rPr lang="en-GB">
                <a:solidFill>
                  <a:srgbClr val="F1F5F9"/>
                </a:solidFill>
              </a:rPr>
            </a:br>
            <a:endParaRPr>
              <a:solidFill>
                <a:srgbClr val="F1F5F9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1100"/>
              <a:buFont typeface="Arial"/>
              <a:buChar char="●"/>
            </a:pPr>
            <a:r>
              <a:rPr lang="en-GB">
                <a:solidFill>
                  <a:srgbClr val="F1F5F9"/>
                </a:solidFill>
              </a:rPr>
              <a:t>Multiple indexing strategies tailored for various dataset sizes and accuracy needs</a:t>
            </a:r>
            <a:br>
              <a:rPr lang="en-GB">
                <a:solidFill>
                  <a:srgbClr val="F1F5F9"/>
                </a:solidFill>
              </a:rPr>
            </a:br>
            <a:endParaRPr>
              <a:solidFill>
                <a:srgbClr val="F1F5F9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>
              <a:solidFill>
                <a:srgbClr val="F1F5F9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34"/>
          <p:cNvSpPr txBox="1"/>
          <p:nvPr>
            <p:ph type="title"/>
          </p:nvPr>
        </p:nvSpPr>
        <p:spPr>
          <a:xfrm>
            <a:off x="1297500" y="186075"/>
            <a:ext cx="7038900" cy="68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Key Index Types in FAISS</a:t>
            </a:r>
            <a:endParaRPr/>
          </a:p>
        </p:txBody>
      </p:sp>
      <p:sp>
        <p:nvSpPr>
          <p:cNvPr id="267" name="Google Shape;267;p3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268" name="Google Shape;268;p34"/>
          <p:cNvGraphicFramePr/>
          <p:nvPr/>
        </p:nvGraphicFramePr>
        <p:xfrm>
          <a:off x="38100" y="783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{7BE40BB6-2E75-4D1F-8B56-32D25E285127}</a:tableStyleId>
              </a:tblPr>
              <a:tblGrid>
                <a:gridCol w="962025"/>
                <a:gridCol w="2914650"/>
                <a:gridCol w="1828800"/>
                <a:gridCol w="3362325"/>
              </a:tblGrid>
              <a:tr h="38145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800">
                          <a:solidFill>
                            <a:schemeClr val="lt1"/>
                          </a:solidFill>
                        </a:rPr>
                        <a:t>Index Type</a:t>
                      </a:r>
                      <a:endParaRPr b="1" sz="8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800">
                          <a:solidFill>
                            <a:schemeClr val="lt1"/>
                          </a:solidFill>
                        </a:rPr>
                        <a:t>Description</a:t>
                      </a:r>
                      <a:endParaRPr b="1" sz="8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800">
                          <a:solidFill>
                            <a:schemeClr val="lt1"/>
                          </a:solidFill>
                        </a:rPr>
                        <a:t>Advantages</a:t>
                      </a:r>
                      <a:endParaRPr b="1" sz="8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800">
                          <a:solidFill>
                            <a:schemeClr val="lt1"/>
                          </a:solidFill>
                        </a:rPr>
                        <a:t>Use Case / When to Use</a:t>
                      </a:r>
                      <a:endParaRPr b="1" sz="8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816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800">
                          <a:solidFill>
                            <a:schemeClr val="lt1"/>
                          </a:solidFill>
                        </a:rPr>
                        <a:t>IndexFlatL2</a:t>
                      </a:r>
                      <a:endParaRPr b="1" sz="8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>
                          <a:solidFill>
                            <a:schemeClr val="lt1"/>
                          </a:solidFill>
                        </a:rPr>
                        <a:t>Exact brute-force search using Euclidean (L2) distance. Stores all vectors and compares all.</a:t>
                      </a:r>
                      <a:endParaRPr sz="11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>
                          <a:solidFill>
                            <a:schemeClr val="lt1"/>
                          </a:solidFill>
                        </a:rPr>
                        <a:t>- Simple, no training needed- 100% accurate results</a:t>
                      </a:r>
                      <a:endParaRPr sz="11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>
                          <a:solidFill>
                            <a:schemeClr val="lt1"/>
                          </a:solidFill>
                        </a:rPr>
                        <a:t>- Small datasets (thousands to low millions)- Baseline or testing- When accuracy is critical and dataset fits in memory</a:t>
                      </a:r>
                      <a:endParaRPr sz="11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816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800">
                          <a:solidFill>
                            <a:schemeClr val="lt1"/>
                          </a:solidFill>
                        </a:rPr>
                        <a:t>IndexIVFFlat</a:t>
                      </a:r>
                      <a:endParaRPr b="1" sz="8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>
                          <a:solidFill>
                            <a:schemeClr val="lt1"/>
                          </a:solidFill>
                        </a:rPr>
                        <a:t>Inverted File Index: clusters vectors using k-means, searches only in closest clusters.</a:t>
                      </a:r>
                      <a:endParaRPr sz="11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>
                          <a:solidFill>
                            <a:schemeClr val="lt1"/>
                          </a:solidFill>
                        </a:rPr>
                        <a:t>- Faster search by limiting candidates- Scales to millions</a:t>
                      </a:r>
                      <a:endParaRPr sz="11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>
                          <a:solidFill>
                            <a:schemeClr val="lt1"/>
                          </a:solidFill>
                        </a:rPr>
                        <a:t>- Large datasets (millions to billions)- When faster search with some accuracy loss is acceptable</a:t>
                      </a:r>
                      <a:endParaRPr sz="11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816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800">
                          <a:solidFill>
                            <a:schemeClr val="lt1"/>
                          </a:solidFill>
                        </a:rPr>
                        <a:t>IndexHNSW</a:t>
                      </a:r>
                      <a:endParaRPr b="1" sz="8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>
                          <a:solidFill>
                            <a:schemeClr val="lt1"/>
                          </a:solidFill>
                        </a:rPr>
                        <a:t>Graph-based index building a navigable small world graph to perform approximate nearest search.</a:t>
                      </a:r>
                      <a:endParaRPr sz="11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>
                          <a:solidFill>
                            <a:schemeClr val="lt1"/>
                          </a:solidFill>
                        </a:rPr>
                        <a:t>- High recall with fast search- No training needed</a:t>
                      </a:r>
                      <a:endParaRPr sz="11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>
                          <a:solidFill>
                            <a:schemeClr val="lt1"/>
                          </a:solidFill>
                        </a:rPr>
                        <a:t>- Medium to large datasets- When speed and accuracy both matter- Real-time applications requiring low latency</a:t>
                      </a:r>
                      <a:endParaRPr sz="11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816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800">
                          <a:solidFill>
                            <a:schemeClr val="lt1"/>
                          </a:solidFill>
                        </a:rPr>
                        <a:t>IndexPQ</a:t>
                      </a:r>
                      <a:endParaRPr b="1" sz="8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>
                          <a:solidFill>
                            <a:schemeClr val="lt1"/>
                          </a:solidFill>
                        </a:rPr>
                        <a:t>Product Quantization compresses vectors into compact codes, reducing memory and speeding search.</a:t>
                      </a:r>
                      <a:endParaRPr sz="11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>
                          <a:solidFill>
                            <a:schemeClr val="lt1"/>
                          </a:solidFill>
                        </a:rPr>
                        <a:t>- Significant memory savings- Fast approximate search</a:t>
                      </a:r>
                      <a:endParaRPr sz="11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>
                          <a:solidFill>
                            <a:schemeClr val="lt1"/>
                          </a:solidFill>
                        </a:rPr>
                        <a:t>- Very large datasets that cannot fit in RAM- Memory constrained environments- Use with IVF for combined benefits</a:t>
                      </a:r>
                      <a:endParaRPr sz="11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816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800">
                          <a:solidFill>
                            <a:schemeClr val="lt1"/>
                          </a:solidFill>
                        </a:rPr>
                        <a:t>Hybrid Indexes</a:t>
                      </a:r>
                      <a:endParaRPr b="1" sz="8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>
                          <a:solidFill>
                            <a:schemeClr val="lt1"/>
                          </a:solidFill>
                        </a:rPr>
                        <a:t>Combines methods like IVF + PQ to balance speed, accuracy, and memory use.</a:t>
                      </a:r>
                      <a:endParaRPr sz="11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>
                          <a:solidFill>
                            <a:schemeClr val="lt1"/>
                          </a:solidFill>
                        </a:rPr>
                        <a:t>- Tunable trade-offs- Efficient indexing and searching</a:t>
                      </a:r>
                      <a:endParaRPr sz="11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>
                          <a:solidFill>
                            <a:schemeClr val="lt1"/>
                          </a:solidFill>
                        </a:rPr>
                        <a:t>- Large-scale applications with strict latency and memory requirements- Production-grade search systems</a:t>
                      </a:r>
                      <a:endParaRPr sz="11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35"/>
          <p:cNvSpPr txBox="1"/>
          <p:nvPr>
            <p:ph type="title"/>
          </p:nvPr>
        </p:nvSpPr>
        <p:spPr>
          <a:xfrm>
            <a:off x="1052550" y="4044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0"/>
              </a:spcAft>
              <a:buNone/>
            </a:pPr>
            <a:r>
              <a:rPr b="1" lang="en-GB" sz="2300">
                <a:latin typeface="Arial"/>
                <a:ea typeface="Arial"/>
                <a:cs typeface="Arial"/>
                <a:sym typeface="Arial"/>
              </a:rPr>
              <a:t>Advantages of FAISS</a:t>
            </a:r>
            <a:endParaRPr b="1" sz="23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35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-GB"/>
              <a:t>High-speed vector search at scale</a:t>
            </a:r>
            <a:br>
              <a:rPr lang="en-GB"/>
            </a:b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-GB"/>
              <a:t>Supports multiple indexing and compression techniques</a:t>
            </a:r>
            <a:br>
              <a:rPr lang="en-GB"/>
            </a:b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-GB"/>
              <a:t>Open-source, well-maintained by Facebook AI Research</a:t>
            </a:r>
            <a:br>
              <a:rPr lang="en-GB"/>
            </a:b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-GB"/>
              <a:t>Python-friendly API with C++ backend for speed</a:t>
            </a:r>
            <a:br>
              <a:rPr lang="en-GB"/>
            </a:b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-GB"/>
              <a:t>GPU acceleration for demanding use cases</a:t>
            </a:r>
            <a:br>
              <a:rPr lang="en-GB"/>
            </a:b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LIMITATIONS </a:t>
            </a:r>
            <a:endParaRPr/>
          </a:p>
        </p:txBody>
      </p:sp>
      <p:sp>
        <p:nvSpPr>
          <p:cNvPr id="280" name="Google Shape;280;p36"/>
          <p:cNvSpPr txBox="1"/>
          <p:nvPr>
            <p:ph idx="1" type="body"/>
          </p:nvPr>
        </p:nvSpPr>
        <p:spPr>
          <a:xfrm>
            <a:off x="393700" y="1380050"/>
            <a:ext cx="7635900" cy="32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32500"/>
          </a:bodyPr>
          <a:lstStyle/>
          <a:p>
            <a:pPr indent="-335932" lvl="0" marL="457200" rtl="0" algn="l">
              <a:spcBef>
                <a:spcPts val="1200"/>
              </a:spcBef>
              <a:spcAft>
                <a:spcPts val="0"/>
              </a:spcAft>
              <a:buSzPct val="106288"/>
              <a:buFont typeface="Arial"/>
              <a:buChar char="●"/>
            </a:pPr>
            <a:r>
              <a:rPr b="1" lang="en-GB" sz="4893">
                <a:latin typeface="Arial"/>
                <a:ea typeface="Arial"/>
                <a:cs typeface="Arial"/>
                <a:sym typeface="Arial"/>
              </a:rPr>
              <a:t>Memory Intensive:</a:t>
            </a:r>
            <a:r>
              <a:rPr lang="en-GB" sz="4893">
                <a:latin typeface="Arial"/>
                <a:ea typeface="Arial"/>
                <a:cs typeface="Arial"/>
                <a:sym typeface="Arial"/>
              </a:rPr>
              <a:t>Large datasets must fit in RAM or GPU memory.</a:t>
            </a:r>
            <a:endParaRPr sz="4893">
              <a:latin typeface="Arial"/>
              <a:ea typeface="Arial"/>
              <a:cs typeface="Arial"/>
              <a:sym typeface="Arial"/>
            </a:endParaRPr>
          </a:p>
          <a:p>
            <a:pPr indent="-335932" lvl="0" marL="457200" rtl="0" algn="l">
              <a:spcBef>
                <a:spcPts val="0"/>
              </a:spcBef>
              <a:spcAft>
                <a:spcPts val="0"/>
              </a:spcAft>
              <a:buSzPct val="106288"/>
              <a:buFont typeface="Arial"/>
              <a:buChar char="●"/>
            </a:pPr>
            <a:r>
              <a:rPr b="1" lang="en-GB" sz="4893">
                <a:latin typeface="Arial"/>
                <a:ea typeface="Arial"/>
                <a:cs typeface="Arial"/>
                <a:sym typeface="Arial"/>
              </a:rPr>
              <a:t>No Native Delete Support:</a:t>
            </a:r>
            <a:r>
              <a:rPr lang="en-GB" sz="4893">
                <a:latin typeface="Arial"/>
                <a:ea typeface="Arial"/>
                <a:cs typeface="Arial"/>
                <a:sym typeface="Arial"/>
              </a:rPr>
              <a:t>Removing vectors is complex and not efficient.</a:t>
            </a:r>
            <a:endParaRPr sz="4893">
              <a:latin typeface="Arial"/>
              <a:ea typeface="Arial"/>
              <a:cs typeface="Arial"/>
              <a:sym typeface="Arial"/>
            </a:endParaRPr>
          </a:p>
          <a:p>
            <a:pPr indent="-335932" lvl="0" marL="457200" rtl="0" algn="l">
              <a:spcBef>
                <a:spcPts val="0"/>
              </a:spcBef>
              <a:spcAft>
                <a:spcPts val="0"/>
              </a:spcAft>
              <a:buSzPct val="106288"/>
              <a:buFont typeface="Arial"/>
              <a:buChar char="●"/>
            </a:pPr>
            <a:r>
              <a:rPr b="1" lang="en-GB" sz="4893">
                <a:latin typeface="Arial"/>
                <a:ea typeface="Arial"/>
                <a:cs typeface="Arial"/>
                <a:sym typeface="Arial"/>
              </a:rPr>
              <a:t>No Persistence: </a:t>
            </a:r>
            <a:r>
              <a:rPr lang="en-GB" sz="4893">
                <a:latin typeface="Arial"/>
                <a:ea typeface="Arial"/>
                <a:cs typeface="Arial"/>
                <a:sym typeface="Arial"/>
              </a:rPr>
              <a:t>Must manually save/load index files.</a:t>
            </a:r>
            <a:endParaRPr sz="4893">
              <a:latin typeface="Arial"/>
              <a:ea typeface="Arial"/>
              <a:cs typeface="Arial"/>
              <a:sym typeface="Arial"/>
            </a:endParaRPr>
          </a:p>
          <a:p>
            <a:pPr indent="-335932" lvl="0" marL="457200" rtl="0" algn="l">
              <a:spcBef>
                <a:spcPts val="0"/>
              </a:spcBef>
              <a:spcAft>
                <a:spcPts val="0"/>
              </a:spcAft>
              <a:buSzPct val="106288"/>
              <a:buFont typeface="Arial"/>
              <a:buChar char="●"/>
            </a:pPr>
            <a:r>
              <a:rPr b="1" lang="en-GB" sz="4893">
                <a:latin typeface="Arial"/>
                <a:ea typeface="Arial"/>
                <a:cs typeface="Arial"/>
                <a:sym typeface="Arial"/>
              </a:rPr>
              <a:t>No Metadata Storage :</a:t>
            </a:r>
            <a:r>
              <a:rPr lang="en-GB" sz="4893">
                <a:latin typeface="Arial"/>
                <a:ea typeface="Arial"/>
                <a:cs typeface="Arial"/>
                <a:sym typeface="Arial"/>
              </a:rPr>
              <a:t>Stores only vectors, not associated text or info.</a:t>
            </a:r>
            <a:endParaRPr sz="4893">
              <a:latin typeface="Arial"/>
              <a:ea typeface="Arial"/>
              <a:cs typeface="Arial"/>
              <a:sym typeface="Arial"/>
            </a:endParaRPr>
          </a:p>
          <a:p>
            <a:pPr indent="-331628" lvl="0" marL="457200" rtl="0" algn="l">
              <a:spcBef>
                <a:spcPts val="0"/>
              </a:spcBef>
              <a:spcAft>
                <a:spcPts val="0"/>
              </a:spcAft>
              <a:buSzPct val="102026"/>
              <a:buFont typeface="Arial"/>
              <a:buChar char="●"/>
            </a:pPr>
            <a:r>
              <a:rPr b="1" lang="en-GB" sz="4893">
                <a:latin typeface="Arial"/>
                <a:ea typeface="Arial"/>
                <a:cs typeface="Arial"/>
                <a:sym typeface="Arial"/>
              </a:rPr>
              <a:t>Single-Node Only: </a:t>
            </a:r>
            <a:r>
              <a:rPr lang="en-GB" sz="4893">
                <a:latin typeface="Arial"/>
                <a:ea typeface="Arial"/>
                <a:cs typeface="Arial"/>
                <a:sym typeface="Arial"/>
              </a:rPr>
              <a:t>No built-in support for distributed or multi-node setups.</a:t>
            </a:r>
            <a:br>
              <a:rPr lang="en-GB" sz="427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427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br>
              <a:rPr lang="en-GB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7"/>
          <p:cNvSpPr txBox="1"/>
          <p:nvPr>
            <p:ph type="title"/>
          </p:nvPr>
        </p:nvSpPr>
        <p:spPr>
          <a:xfrm>
            <a:off x="645575" y="393750"/>
            <a:ext cx="76908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buNone/>
            </a:pPr>
            <a:r>
              <a:rPr b="1" lang="en-GB" sz="1700">
                <a:latin typeface="Arial"/>
                <a:ea typeface="Arial"/>
                <a:cs typeface="Arial"/>
                <a:sym typeface="Arial"/>
              </a:rPr>
              <a:t>Real-World Use Cases</a:t>
            </a:r>
            <a:endParaRPr/>
          </a:p>
        </p:txBody>
      </p:sp>
      <p:sp>
        <p:nvSpPr>
          <p:cNvPr id="286" name="Google Shape;286;p37"/>
          <p:cNvSpPr txBox="1"/>
          <p:nvPr>
            <p:ph idx="1" type="body"/>
          </p:nvPr>
        </p:nvSpPr>
        <p:spPr>
          <a:xfrm>
            <a:off x="645575" y="1233775"/>
            <a:ext cx="7038900" cy="333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spcBef>
                <a:spcPts val="1800"/>
              </a:spcBef>
              <a:spcAft>
                <a:spcPts val="0"/>
              </a:spcAft>
              <a:buNone/>
            </a:pPr>
            <a:r>
              <a:rPr b="1" lang="en-GB" sz="4775">
                <a:latin typeface="Arial"/>
                <a:ea typeface="Arial"/>
                <a:cs typeface="Arial"/>
                <a:sym typeface="Arial"/>
              </a:rPr>
              <a:t>Meta (Facebook):</a:t>
            </a:r>
            <a:endParaRPr b="1" sz="4775">
              <a:latin typeface="Arial"/>
              <a:ea typeface="Arial"/>
              <a:cs typeface="Arial"/>
              <a:sym typeface="Arial"/>
            </a:endParaRPr>
          </a:p>
          <a:p>
            <a:pPr indent="-301242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Char char="●"/>
            </a:pPr>
            <a:r>
              <a:rPr lang="en-GB" sz="4575">
                <a:latin typeface="Arial"/>
                <a:ea typeface="Arial"/>
                <a:cs typeface="Arial"/>
                <a:sym typeface="Arial"/>
              </a:rPr>
              <a:t>Facial recognition</a:t>
            </a:r>
            <a:br>
              <a:rPr lang="en-GB" sz="4575">
                <a:latin typeface="Arial"/>
                <a:ea typeface="Arial"/>
                <a:cs typeface="Arial"/>
                <a:sym typeface="Arial"/>
              </a:rPr>
            </a:br>
            <a:endParaRPr sz="4575">
              <a:latin typeface="Arial"/>
              <a:ea typeface="Arial"/>
              <a:cs typeface="Arial"/>
              <a:sym typeface="Arial"/>
            </a:endParaRPr>
          </a:p>
          <a:p>
            <a:pPr indent="-301242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Char char="●"/>
            </a:pPr>
            <a:r>
              <a:rPr lang="en-GB" sz="4575">
                <a:latin typeface="Arial"/>
                <a:ea typeface="Arial"/>
                <a:cs typeface="Arial"/>
                <a:sym typeface="Arial"/>
              </a:rPr>
              <a:t>Video deduplication</a:t>
            </a:r>
            <a:br>
              <a:rPr lang="en-GB" sz="4575">
                <a:latin typeface="Arial"/>
                <a:ea typeface="Arial"/>
                <a:cs typeface="Arial"/>
                <a:sym typeface="Arial"/>
              </a:rPr>
            </a:br>
            <a:endParaRPr sz="4575">
              <a:latin typeface="Arial"/>
              <a:ea typeface="Arial"/>
              <a:cs typeface="Arial"/>
              <a:sym typeface="Arial"/>
            </a:endParaRPr>
          </a:p>
          <a:p>
            <a:pPr indent="-301242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Char char="●"/>
            </a:pPr>
            <a:r>
              <a:rPr lang="en-GB" sz="4575">
                <a:latin typeface="Arial"/>
                <a:ea typeface="Arial"/>
                <a:cs typeface="Arial"/>
                <a:sym typeface="Arial"/>
              </a:rPr>
              <a:t>Image search</a:t>
            </a:r>
            <a:br>
              <a:rPr lang="en-GB" sz="4575">
                <a:latin typeface="Arial"/>
                <a:ea typeface="Arial"/>
                <a:cs typeface="Arial"/>
                <a:sym typeface="Arial"/>
              </a:rPr>
            </a:br>
            <a:endParaRPr sz="4575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GB" sz="4775">
                <a:latin typeface="Arial"/>
                <a:ea typeface="Arial"/>
                <a:cs typeface="Arial"/>
                <a:sym typeface="Arial"/>
              </a:rPr>
              <a:t>Spotify:</a:t>
            </a:r>
            <a:endParaRPr b="1" sz="4775">
              <a:latin typeface="Arial"/>
              <a:ea typeface="Arial"/>
              <a:cs typeface="Arial"/>
              <a:sym typeface="Arial"/>
            </a:endParaRPr>
          </a:p>
          <a:p>
            <a:pPr indent="-301242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Char char="●"/>
            </a:pPr>
            <a:r>
              <a:rPr lang="en-GB" sz="4575">
                <a:latin typeface="Arial"/>
                <a:ea typeface="Arial"/>
                <a:cs typeface="Arial"/>
                <a:sym typeface="Arial"/>
              </a:rPr>
              <a:t>Music recommendation via audio embeddings</a:t>
            </a:r>
            <a:br>
              <a:rPr lang="en-GB" sz="4575">
                <a:latin typeface="Arial"/>
                <a:ea typeface="Arial"/>
                <a:cs typeface="Arial"/>
                <a:sym typeface="Arial"/>
              </a:rPr>
            </a:br>
            <a:endParaRPr sz="4575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GB" sz="4775">
                <a:latin typeface="Arial"/>
                <a:ea typeface="Arial"/>
                <a:cs typeface="Arial"/>
                <a:sym typeface="Arial"/>
              </a:rPr>
              <a:t>RAG (Retrieval-Augmented Generation):</a:t>
            </a:r>
            <a:endParaRPr b="1" sz="4775">
              <a:latin typeface="Arial"/>
              <a:ea typeface="Arial"/>
              <a:cs typeface="Arial"/>
              <a:sym typeface="Arial"/>
            </a:endParaRPr>
          </a:p>
          <a:p>
            <a:pPr indent="-301242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Char char="●"/>
            </a:pPr>
            <a:r>
              <a:rPr lang="en-GB" sz="4575">
                <a:latin typeface="Arial"/>
                <a:ea typeface="Arial"/>
                <a:cs typeface="Arial"/>
                <a:sym typeface="Arial"/>
              </a:rPr>
              <a:t>Use FAISS to store document embeddings.</a:t>
            </a:r>
            <a:br>
              <a:rPr lang="en-GB" sz="4575">
                <a:latin typeface="Arial"/>
                <a:ea typeface="Arial"/>
                <a:cs typeface="Arial"/>
                <a:sym typeface="Arial"/>
              </a:rPr>
            </a:br>
            <a:endParaRPr sz="4575">
              <a:latin typeface="Arial"/>
              <a:ea typeface="Arial"/>
              <a:cs typeface="Arial"/>
              <a:sym typeface="Arial"/>
            </a:endParaRPr>
          </a:p>
          <a:p>
            <a:pPr indent="-294892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91258"/>
              <a:buFont typeface="Arial"/>
              <a:buChar char="●"/>
            </a:pPr>
            <a:r>
              <a:rPr lang="en-GB" sz="4575">
                <a:latin typeface="Arial"/>
                <a:ea typeface="Arial"/>
                <a:cs typeface="Arial"/>
                <a:sym typeface="Arial"/>
              </a:rPr>
              <a:t>Retrieve relevant documents to feed into LLMs</a:t>
            </a:r>
            <a:r>
              <a:rPr lang="en-GB" sz="4175">
                <a:latin typeface="Arial"/>
                <a:ea typeface="Arial"/>
                <a:cs typeface="Arial"/>
                <a:sym typeface="Arial"/>
              </a:rPr>
              <a:t>.</a:t>
            </a:r>
            <a:br>
              <a:rPr lang="en-GB" sz="4175">
                <a:latin typeface="Arial"/>
                <a:ea typeface="Arial"/>
                <a:cs typeface="Arial"/>
                <a:sym typeface="Arial"/>
              </a:rPr>
            </a:br>
            <a:endParaRPr sz="4175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38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RAG Architecture with FAISS – Applications</a:t>
            </a:r>
            <a:endParaRPr/>
          </a:p>
        </p:txBody>
      </p:sp>
      <p:sp>
        <p:nvSpPr>
          <p:cNvPr id="292" name="Google Shape;292;p38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100">
              <a:solidFill>
                <a:srgbClr val="F1F5F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rgbClr val="F1F5F9"/>
                </a:solidFill>
                <a:latin typeface="Arial"/>
                <a:ea typeface="Arial"/>
                <a:cs typeface="Arial"/>
                <a:sym typeface="Arial"/>
              </a:rPr>
              <a:t>1️⃣</a:t>
            </a:r>
            <a:endParaRPr sz="1400">
              <a:solidFill>
                <a:srgbClr val="F1F5F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100">
                <a:solidFill>
                  <a:srgbClr val="F1F5F9"/>
                </a:solidFill>
                <a:latin typeface="Arial"/>
                <a:ea typeface="Arial"/>
                <a:cs typeface="Arial"/>
                <a:sym typeface="Arial"/>
              </a:rPr>
              <a:t>Customer Support Chatbots: </a:t>
            </a:r>
            <a:r>
              <a:rPr lang="en-GB" sz="1400">
                <a:solidFill>
                  <a:srgbClr val="F1F5F9"/>
                </a:solidFill>
                <a:latin typeface="Arial"/>
                <a:ea typeface="Arial"/>
                <a:cs typeface="Arial"/>
                <a:sym typeface="Arial"/>
              </a:rPr>
              <a:t>Fast retrieval of relevant FAQ or knowledge base answers from millions of documents.</a:t>
            </a:r>
            <a:endParaRPr sz="1400">
              <a:solidFill>
                <a:srgbClr val="F1F5F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rgbClr val="F1F5F9"/>
                </a:solidFill>
                <a:latin typeface="Arial"/>
                <a:ea typeface="Arial"/>
                <a:cs typeface="Arial"/>
                <a:sym typeface="Arial"/>
              </a:rPr>
              <a:t>2️⃣</a:t>
            </a:r>
            <a:endParaRPr sz="1400">
              <a:solidFill>
                <a:srgbClr val="F1F5F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100">
                <a:solidFill>
                  <a:srgbClr val="F1F5F9"/>
                </a:solidFill>
                <a:latin typeface="Arial"/>
                <a:ea typeface="Arial"/>
                <a:cs typeface="Arial"/>
                <a:sym typeface="Arial"/>
              </a:rPr>
              <a:t>Legal Document Retrieval: </a:t>
            </a:r>
            <a:r>
              <a:rPr lang="en-GB" sz="1400">
                <a:solidFill>
                  <a:srgbClr val="F1F5F9"/>
                </a:solidFill>
                <a:latin typeface="Arial"/>
                <a:ea typeface="Arial"/>
                <a:cs typeface="Arial"/>
                <a:sym typeface="Arial"/>
              </a:rPr>
              <a:t>Enables similarity-based search across large corpuses of legal contracts or case law.</a:t>
            </a:r>
            <a:endParaRPr sz="1400">
              <a:solidFill>
                <a:srgbClr val="F1F5F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rgbClr val="F1F5F9"/>
                </a:solidFill>
                <a:latin typeface="Arial"/>
                <a:ea typeface="Arial"/>
                <a:cs typeface="Arial"/>
                <a:sym typeface="Arial"/>
              </a:rPr>
              <a:t>3️⃣</a:t>
            </a:r>
            <a:endParaRPr sz="1400">
              <a:solidFill>
                <a:srgbClr val="F1F5F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100">
                <a:solidFill>
                  <a:srgbClr val="F1F5F9"/>
                </a:solidFill>
                <a:latin typeface="Arial"/>
                <a:ea typeface="Arial"/>
                <a:cs typeface="Arial"/>
                <a:sym typeface="Arial"/>
              </a:rPr>
              <a:t>Healthcare Q&amp;A Systems: </a:t>
            </a:r>
            <a:r>
              <a:rPr lang="en-GB" sz="1400">
                <a:solidFill>
                  <a:srgbClr val="F1F5F9"/>
                </a:solidFill>
                <a:latin typeface="Arial"/>
                <a:ea typeface="Arial"/>
                <a:cs typeface="Arial"/>
                <a:sym typeface="Arial"/>
              </a:rPr>
              <a:t>Accurately fetches medical literature or patient documents for doctor/patient queries.</a:t>
            </a:r>
            <a:endParaRPr sz="1400">
              <a:solidFill>
                <a:srgbClr val="F1F5F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rgbClr val="F1F5F9"/>
                </a:solidFill>
                <a:latin typeface="Arial"/>
                <a:ea typeface="Arial"/>
                <a:cs typeface="Arial"/>
                <a:sym typeface="Arial"/>
              </a:rPr>
              <a:t>4️⃣</a:t>
            </a:r>
            <a:endParaRPr sz="1400">
              <a:solidFill>
                <a:srgbClr val="F1F5F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100">
                <a:solidFill>
                  <a:srgbClr val="F1F5F9"/>
                </a:solidFill>
                <a:latin typeface="Arial"/>
                <a:ea typeface="Arial"/>
                <a:cs typeface="Arial"/>
                <a:sym typeface="Arial"/>
              </a:rPr>
              <a:t>E-commerce Search &amp; Recs: </a:t>
            </a:r>
            <a:r>
              <a:rPr lang="en-GB" sz="1400">
                <a:solidFill>
                  <a:srgbClr val="F1F5F9"/>
                </a:solidFill>
                <a:latin typeface="Arial"/>
                <a:ea typeface="Arial"/>
                <a:cs typeface="Arial"/>
                <a:sym typeface="Arial"/>
              </a:rPr>
              <a:t>Powers semantic product search and personalized recommendations at large scale.</a:t>
            </a:r>
            <a:endParaRPr sz="1400">
              <a:solidFill>
                <a:srgbClr val="F1F5F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rgbClr val="F1F5F9"/>
                </a:solidFill>
                <a:latin typeface="Arial"/>
                <a:ea typeface="Arial"/>
                <a:cs typeface="Arial"/>
                <a:sym typeface="Arial"/>
              </a:rPr>
              <a:t>5️⃣</a:t>
            </a:r>
            <a:endParaRPr sz="1400">
              <a:solidFill>
                <a:srgbClr val="F1F5F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100">
                <a:solidFill>
                  <a:srgbClr val="F1F5F9"/>
                </a:solidFill>
                <a:latin typeface="Arial"/>
                <a:ea typeface="Arial"/>
                <a:cs typeface="Arial"/>
                <a:sym typeface="Arial"/>
              </a:rPr>
              <a:t>Enterprise Knowledge Search: </a:t>
            </a:r>
            <a:r>
              <a:rPr lang="en-GB" sz="1400">
                <a:solidFill>
                  <a:srgbClr val="F1F5F9"/>
                </a:solidFill>
                <a:latin typeface="Arial"/>
                <a:ea typeface="Arial"/>
                <a:cs typeface="Arial"/>
                <a:sym typeface="Arial"/>
              </a:rPr>
              <a:t>Efficiently indexes internal documents (emails, reports) and retrieves contextual answers.</a:t>
            </a:r>
            <a:endParaRPr sz="1400">
              <a:solidFill>
                <a:srgbClr val="F1F5F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rgbClr val="F1F5F9"/>
                </a:solidFill>
                <a:latin typeface="Arial"/>
                <a:ea typeface="Arial"/>
                <a:cs typeface="Arial"/>
                <a:sym typeface="Arial"/>
              </a:rPr>
              <a:t>6️⃣</a:t>
            </a:r>
            <a:endParaRPr sz="1400">
              <a:solidFill>
                <a:srgbClr val="F1F5F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100">
                <a:solidFill>
                  <a:srgbClr val="F1F5F9"/>
                </a:solidFill>
                <a:latin typeface="Arial"/>
                <a:ea typeface="Arial"/>
                <a:cs typeface="Arial"/>
                <a:sym typeface="Arial"/>
              </a:rPr>
              <a:t>Developer Assistants: </a:t>
            </a:r>
            <a:r>
              <a:rPr lang="en-GB" sz="1400">
                <a:solidFill>
                  <a:srgbClr val="F1F5F9"/>
                </a:solidFill>
                <a:latin typeface="Arial"/>
                <a:ea typeface="Arial"/>
                <a:cs typeface="Arial"/>
                <a:sym typeface="Arial"/>
              </a:rPr>
              <a:t>Retrieves code snippets, documentation, and solutions using semantic similarity.</a:t>
            </a:r>
            <a:endParaRPr sz="1400">
              <a:solidFill>
                <a:srgbClr val="F1F5F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>
              <a:solidFill>
                <a:srgbClr val="F1F5F9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9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2900"/>
              <a:t>PgVector</a:t>
            </a:r>
            <a:endParaRPr b="1" sz="2900"/>
          </a:p>
        </p:txBody>
      </p:sp>
      <p:sp>
        <p:nvSpPr>
          <p:cNvPr id="298" name="Google Shape;298;p39"/>
          <p:cNvSpPr txBox="1"/>
          <p:nvPr>
            <p:ph idx="1" type="body"/>
          </p:nvPr>
        </p:nvSpPr>
        <p:spPr>
          <a:xfrm>
            <a:off x="311700" y="1017725"/>
            <a:ext cx="8520600" cy="355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2101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58"/>
              <a:buChar char="●"/>
            </a:pPr>
            <a:r>
              <a:rPr lang="en-GB" sz="1157"/>
              <a:t>A PostgreSQL extension for vector similarity search</a:t>
            </a:r>
            <a:br>
              <a:rPr lang="en-GB" sz="1157"/>
            </a:br>
            <a:endParaRPr sz="1157"/>
          </a:p>
          <a:p>
            <a:pPr indent="-302101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58"/>
              <a:buChar char="●"/>
            </a:pPr>
            <a:r>
              <a:rPr lang="en-GB" sz="1157"/>
              <a:t>Enables storing and querying dense embeddings</a:t>
            </a:r>
            <a:endParaRPr sz="1157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358"/>
              <a:buNone/>
            </a:pPr>
            <a:br>
              <a:rPr lang="en-GB" sz="1157"/>
            </a:br>
            <a:r>
              <a:rPr b="1" lang="en-GB" sz="1157"/>
              <a:t>Use Case</a:t>
            </a:r>
            <a:r>
              <a:rPr lang="en-GB" sz="1157"/>
              <a:t>:</a:t>
            </a:r>
            <a:br>
              <a:rPr lang="en-GB" sz="1157"/>
            </a:br>
            <a:endParaRPr sz="1157"/>
          </a:p>
          <a:p>
            <a:pPr indent="-302101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58"/>
              <a:buChar char="●"/>
            </a:pPr>
            <a:r>
              <a:rPr lang="en-GB" sz="1157"/>
              <a:t>Semantic search, RAG, recommendation, hybrid SQL+vector search</a:t>
            </a:r>
            <a:endParaRPr sz="1157"/>
          </a:p>
          <a:p>
            <a:pPr indent="0" lvl="0" marL="0" rtl="0" algn="l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SzPts val="358"/>
              <a:buNone/>
            </a:pPr>
            <a:r>
              <a:rPr b="1" lang="en-GB" sz="1222"/>
              <a:t> Key Features</a:t>
            </a:r>
            <a:endParaRPr b="1" sz="1222"/>
          </a:p>
          <a:p>
            <a:pPr indent="-302101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58"/>
              <a:buChar char="●"/>
            </a:pPr>
            <a:r>
              <a:rPr lang="en-GB" sz="1157"/>
              <a:t>Works inside PostgreSQL</a:t>
            </a:r>
            <a:br>
              <a:rPr lang="en-GB" sz="1157"/>
            </a:br>
            <a:endParaRPr sz="1157"/>
          </a:p>
          <a:p>
            <a:pPr indent="-302101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58"/>
              <a:buChar char="●"/>
            </a:pPr>
            <a:r>
              <a:rPr lang="en-GB" sz="1157"/>
              <a:t>Supports full SQL queries</a:t>
            </a:r>
            <a:br>
              <a:rPr lang="en-GB" sz="1157"/>
            </a:br>
            <a:endParaRPr sz="1157"/>
          </a:p>
          <a:p>
            <a:pPr indent="-302101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58"/>
              <a:buChar char="●"/>
            </a:pPr>
            <a:r>
              <a:rPr lang="en-GB" sz="1157"/>
              <a:t>Cosine / L2 / inner product distances</a:t>
            </a:r>
            <a:br>
              <a:rPr lang="en-GB" sz="1157"/>
            </a:br>
            <a:endParaRPr sz="1157"/>
          </a:p>
          <a:p>
            <a:pPr indent="-302101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58"/>
              <a:buChar char="●"/>
            </a:pPr>
            <a:r>
              <a:rPr lang="en-GB" sz="1157"/>
              <a:t>Combine filters + semantic search</a:t>
            </a:r>
            <a:br>
              <a:rPr lang="en-GB" sz="1157"/>
            </a:br>
            <a:endParaRPr sz="1157"/>
          </a:p>
          <a:p>
            <a:pPr indent="-302101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58"/>
              <a:buChar char="●"/>
            </a:pPr>
            <a:r>
              <a:rPr lang="en-GB" sz="1157"/>
              <a:t>IVFFlat for approximate ANN</a:t>
            </a:r>
            <a:endParaRPr sz="1157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358"/>
              <a:buNone/>
            </a:pPr>
            <a:r>
              <a:t/>
            </a:r>
            <a:endParaRPr sz="1222"/>
          </a:p>
        </p:txBody>
      </p:sp>
      <p:pic>
        <p:nvPicPr>
          <p:cNvPr id="299" name="Google Shape;299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84775" y="985838"/>
            <a:ext cx="3067050" cy="3171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0"/>
          <p:cNvSpPr txBox="1"/>
          <p:nvPr>
            <p:ph idx="1" type="body"/>
          </p:nvPr>
        </p:nvSpPr>
        <p:spPr>
          <a:xfrm>
            <a:off x="1297500" y="415700"/>
            <a:ext cx="7038900" cy="406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358"/>
              <a:buFont typeface="Arial"/>
              <a:buNone/>
            </a:pPr>
            <a:r>
              <a:rPr b="1" lang="en-GB" sz="1857"/>
              <a:t>pgvector is best for:</a:t>
            </a:r>
            <a:br>
              <a:rPr lang="en-GB" sz="1857"/>
            </a:br>
            <a:endParaRPr sz="1857"/>
          </a:p>
          <a:p>
            <a:pPr indent="-346551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58"/>
              <a:buChar char="●"/>
            </a:pPr>
            <a:r>
              <a:rPr lang="en-GB" sz="1857"/>
              <a:t>SQL + vector use cases</a:t>
            </a:r>
            <a:br>
              <a:rPr lang="en-GB" sz="1857"/>
            </a:br>
            <a:endParaRPr sz="1857"/>
          </a:p>
          <a:p>
            <a:pPr indent="-346551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58"/>
              <a:buChar char="●"/>
            </a:pPr>
            <a:r>
              <a:rPr lang="en-GB" sz="1857"/>
              <a:t>Simple deployments</a:t>
            </a:r>
            <a:br>
              <a:rPr lang="en-GB" sz="1857"/>
            </a:br>
            <a:endParaRPr sz="1857"/>
          </a:p>
          <a:p>
            <a:pPr indent="-346551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58"/>
              <a:buChar char="●"/>
            </a:pPr>
            <a:r>
              <a:rPr lang="en-GB" sz="1857"/>
              <a:t>Tight integration with metadata</a:t>
            </a:r>
            <a:br>
              <a:rPr lang="en-GB" sz="1857"/>
            </a:br>
            <a:endParaRPr sz="1857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358"/>
              <a:buFont typeface="Arial"/>
              <a:buNone/>
            </a:pPr>
            <a:r>
              <a:rPr b="1" lang="en-GB" sz="1857"/>
              <a:t>Not ideal for:</a:t>
            </a:r>
            <a:br>
              <a:rPr b="1" lang="en-GB" sz="1857"/>
            </a:br>
            <a:endParaRPr b="1" sz="1857"/>
          </a:p>
          <a:p>
            <a:pPr indent="-346551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58"/>
              <a:buChar char="●"/>
            </a:pPr>
            <a:r>
              <a:rPr lang="en-GB" sz="1857"/>
              <a:t>High-scale, distributed retrieval</a:t>
            </a:r>
            <a:br>
              <a:rPr lang="en-GB" sz="1857"/>
            </a:br>
            <a:endParaRPr sz="1857"/>
          </a:p>
          <a:p>
            <a:pPr indent="-346551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58"/>
              <a:buChar char="●"/>
            </a:pPr>
            <a:r>
              <a:rPr lang="en-GB" sz="1857"/>
              <a:t>Time-sensitive memory (use ChronoMind)</a:t>
            </a:r>
            <a:endParaRPr sz="1857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24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41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 How pgvector Works?</a:t>
            </a:r>
            <a:endParaRPr/>
          </a:p>
        </p:txBody>
      </p:sp>
      <p:sp>
        <p:nvSpPr>
          <p:cNvPr id="310" name="Google Shape;310;p41"/>
          <p:cNvSpPr txBox="1"/>
          <p:nvPr>
            <p:ph idx="1" type="body"/>
          </p:nvPr>
        </p:nvSpPr>
        <p:spPr>
          <a:xfrm>
            <a:off x="1297500" y="1167275"/>
            <a:ext cx="7038900" cy="331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Stores embeddings using a </a:t>
            </a:r>
            <a:r>
              <a:rPr lang="en-GB">
                <a:latin typeface="Roboto Mono"/>
                <a:ea typeface="Roboto Mono"/>
                <a:cs typeface="Roboto Mono"/>
                <a:sym typeface="Roboto Mono"/>
              </a:rPr>
              <a:t>VECTOR(n)</a:t>
            </a:r>
            <a:r>
              <a:rPr lang="en-GB"/>
              <a:t> column</a:t>
            </a:r>
            <a:br>
              <a:rPr lang="en-GB"/>
            </a:br>
            <a:endParaRPr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Supports similarity metrics:</a:t>
            </a:r>
            <a:br>
              <a:rPr lang="en-GB"/>
            </a:br>
            <a:endParaRPr/>
          </a:p>
          <a:p>
            <a:pPr indent="-311150" lvl="0" marL="45720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n-GB"/>
              <a:t>Cosine distance</a:t>
            </a:r>
            <a:br>
              <a:rPr lang="en-GB"/>
            </a:br>
            <a:endParaRPr/>
          </a:p>
          <a:p>
            <a:pPr indent="-31115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n-GB"/>
              <a:t>L2 (Euclidean)</a:t>
            </a:r>
            <a:br>
              <a:rPr lang="en-GB"/>
            </a:br>
            <a:endParaRPr/>
          </a:p>
          <a:p>
            <a:pPr indent="-31115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n-GB"/>
              <a:t>Inner product</a:t>
            </a:r>
            <a:br>
              <a:rPr lang="en-GB"/>
            </a:br>
            <a:endParaRPr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Can use exact or approximate search (IVFFlat)</a:t>
            </a:r>
            <a:endParaRPr/>
          </a:p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5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5" name="Google Shape;315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3750" y="1548075"/>
            <a:ext cx="3896326" cy="3055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6" name="Google Shape;316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80225" y="1548075"/>
            <a:ext cx="4668524" cy="3055299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Google Shape;317;p42"/>
          <p:cNvSpPr txBox="1"/>
          <p:nvPr/>
        </p:nvSpPr>
        <p:spPr>
          <a:xfrm>
            <a:off x="366400" y="1073325"/>
            <a:ext cx="2172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900">
                <a:solidFill>
                  <a:schemeClr val="accent6"/>
                </a:solidFill>
                <a:latin typeface="Lato"/>
                <a:ea typeface="Lato"/>
                <a:cs typeface="Lato"/>
                <a:sym typeface="Lato"/>
              </a:rPr>
              <a:t>STEP 1:</a:t>
            </a:r>
            <a:endParaRPr sz="1900">
              <a:solidFill>
                <a:schemeClr val="accent6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318" name="Google Shape;318;p42"/>
          <p:cNvSpPr txBox="1"/>
          <p:nvPr/>
        </p:nvSpPr>
        <p:spPr>
          <a:xfrm>
            <a:off x="4605675" y="1014600"/>
            <a:ext cx="2102100" cy="4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900">
                <a:solidFill>
                  <a:schemeClr val="accent6"/>
                </a:solidFill>
                <a:latin typeface="Lato"/>
                <a:ea typeface="Lato"/>
                <a:cs typeface="Lato"/>
                <a:sym typeface="Lato"/>
              </a:rPr>
              <a:t>STEP2:</a:t>
            </a:r>
            <a:endParaRPr sz="1900">
              <a:solidFill>
                <a:schemeClr val="accent6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319" name="Google Shape;319;p42"/>
          <p:cNvSpPr txBox="1"/>
          <p:nvPr>
            <p:ph type="title"/>
          </p:nvPr>
        </p:nvSpPr>
        <p:spPr>
          <a:xfrm>
            <a:off x="1283600" y="95325"/>
            <a:ext cx="7038900" cy="6693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000">
                <a:solidFill>
                  <a:srgbClr val="0000FF"/>
                </a:solidFill>
              </a:rPr>
              <a:t>INSTALLATION AND SET UP </a:t>
            </a:r>
            <a:endParaRPr b="1" sz="3000">
              <a:solidFill>
                <a:srgbClr val="0000FF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3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250" y="1638000"/>
            <a:ext cx="4229401" cy="3255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6" name="Google Shape;326;p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35825" y="1638000"/>
            <a:ext cx="4585900" cy="3255825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43"/>
          <p:cNvSpPr txBox="1"/>
          <p:nvPr/>
        </p:nvSpPr>
        <p:spPr>
          <a:xfrm>
            <a:off x="436800" y="1109400"/>
            <a:ext cx="20082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900">
                <a:solidFill>
                  <a:schemeClr val="accent6"/>
                </a:solidFill>
                <a:latin typeface="Lato"/>
                <a:ea typeface="Lato"/>
                <a:cs typeface="Lato"/>
                <a:sym typeface="Lato"/>
              </a:rPr>
              <a:t>STEP 3:</a:t>
            </a:r>
            <a:endParaRPr sz="1900">
              <a:solidFill>
                <a:schemeClr val="accent6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328" name="Google Shape;328;p43"/>
          <p:cNvSpPr txBox="1"/>
          <p:nvPr/>
        </p:nvSpPr>
        <p:spPr>
          <a:xfrm>
            <a:off x="4572000" y="1109400"/>
            <a:ext cx="1972800" cy="45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900">
                <a:solidFill>
                  <a:schemeClr val="accent6"/>
                </a:solidFill>
                <a:latin typeface="Lato"/>
                <a:ea typeface="Lato"/>
                <a:cs typeface="Lato"/>
                <a:sym typeface="Lato"/>
              </a:rPr>
              <a:t>STEP 4:</a:t>
            </a:r>
            <a:endParaRPr sz="1900">
              <a:solidFill>
                <a:schemeClr val="accent6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4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334" name="Google Shape;334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1453" y="1307850"/>
            <a:ext cx="4829600" cy="357595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4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23704" y="1468918"/>
            <a:ext cx="4667250" cy="3465682"/>
          </a:xfrm>
          <a:prstGeom prst="rect">
            <a:avLst/>
          </a:prstGeom>
          <a:noFill/>
          <a:ln>
            <a:noFill/>
          </a:ln>
        </p:spPr>
      </p:pic>
      <p:sp>
        <p:nvSpPr>
          <p:cNvPr id="336" name="Google Shape;336;p44"/>
          <p:cNvSpPr txBox="1"/>
          <p:nvPr/>
        </p:nvSpPr>
        <p:spPr>
          <a:xfrm>
            <a:off x="1094400" y="580975"/>
            <a:ext cx="20082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900">
                <a:solidFill>
                  <a:schemeClr val="accent6"/>
                </a:solidFill>
                <a:latin typeface="Lato"/>
                <a:ea typeface="Lato"/>
                <a:cs typeface="Lato"/>
                <a:sym typeface="Lato"/>
              </a:rPr>
              <a:t>STEP 5:</a:t>
            </a:r>
            <a:endParaRPr sz="1900">
              <a:solidFill>
                <a:schemeClr val="accent6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5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342" name="Google Shape;342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2850" y="1381325"/>
            <a:ext cx="4505075" cy="3528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3" name="Google Shape;343;p4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69350" y="1381325"/>
            <a:ext cx="4284351" cy="3528725"/>
          </a:xfrm>
          <a:prstGeom prst="rect">
            <a:avLst/>
          </a:prstGeom>
          <a:noFill/>
          <a:ln>
            <a:noFill/>
          </a:ln>
        </p:spPr>
      </p:pic>
      <p:sp>
        <p:nvSpPr>
          <p:cNvPr id="344" name="Google Shape;344;p45"/>
          <p:cNvSpPr txBox="1"/>
          <p:nvPr/>
        </p:nvSpPr>
        <p:spPr>
          <a:xfrm>
            <a:off x="871300" y="804075"/>
            <a:ext cx="20082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900">
                <a:solidFill>
                  <a:schemeClr val="accent6"/>
                </a:solidFill>
                <a:latin typeface="Lato"/>
                <a:ea typeface="Lato"/>
                <a:cs typeface="Lato"/>
                <a:sym typeface="Lato"/>
              </a:rPr>
              <a:t>STEP 6:</a:t>
            </a:r>
            <a:endParaRPr sz="1900">
              <a:solidFill>
                <a:schemeClr val="accent6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345" name="Google Shape;345;p45"/>
          <p:cNvSpPr txBox="1"/>
          <p:nvPr/>
        </p:nvSpPr>
        <p:spPr>
          <a:xfrm>
            <a:off x="4769350" y="804075"/>
            <a:ext cx="20082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900">
                <a:solidFill>
                  <a:schemeClr val="accent6"/>
                </a:solidFill>
                <a:latin typeface="Lato"/>
                <a:ea typeface="Lato"/>
                <a:cs typeface="Lato"/>
                <a:sym typeface="Lato"/>
              </a:rPr>
              <a:t>STEP 7:</a:t>
            </a:r>
            <a:endParaRPr sz="1900">
              <a:solidFill>
                <a:schemeClr val="accent6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4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500"/>
              <a:t>Advantages</a:t>
            </a:r>
            <a:endParaRPr b="1" sz="3500"/>
          </a:p>
        </p:txBody>
      </p:sp>
      <p:sp>
        <p:nvSpPr>
          <p:cNvPr id="351" name="Google Shape;351;p46"/>
          <p:cNvSpPr txBox="1"/>
          <p:nvPr>
            <p:ph idx="1" type="body"/>
          </p:nvPr>
        </p:nvSpPr>
        <p:spPr>
          <a:xfrm>
            <a:off x="1297500" y="1237725"/>
            <a:ext cx="7038900" cy="324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10000"/>
          </a:bodyPr>
          <a:lstStyle/>
          <a:p>
            <a:pPr indent="-321015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GB" sz="5821"/>
              <a:t>Built into PostgreSQL—no extra infrastructure</a:t>
            </a:r>
            <a:br>
              <a:rPr lang="en-GB" sz="5821"/>
            </a:br>
            <a:endParaRPr sz="5821"/>
          </a:p>
          <a:p>
            <a:pPr indent="-321015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GB" sz="5821"/>
              <a:t>Query vectors using simple SQL</a:t>
            </a:r>
            <a:br>
              <a:rPr lang="en-GB" sz="5821"/>
            </a:br>
            <a:endParaRPr sz="5821"/>
          </a:p>
          <a:p>
            <a:pPr indent="-321015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GB" sz="5821"/>
              <a:t>Combine vector + metadata filters</a:t>
            </a:r>
            <a:br>
              <a:rPr lang="en-GB" sz="5821"/>
            </a:br>
            <a:endParaRPr sz="5821"/>
          </a:p>
          <a:p>
            <a:pPr indent="-321015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GB" sz="5821"/>
              <a:t>Supports exact and approximate search</a:t>
            </a:r>
            <a:br>
              <a:rPr lang="en-GB" sz="5821"/>
            </a:br>
            <a:endParaRPr sz="5821"/>
          </a:p>
          <a:p>
            <a:pPr indent="-321015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GB" sz="5821"/>
              <a:t>Easy to prototype RAG apps</a:t>
            </a:r>
            <a:br>
              <a:rPr lang="en-GB" sz="5821"/>
            </a:br>
            <a:endParaRPr sz="5821"/>
          </a:p>
          <a:p>
            <a:pPr indent="-321015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GB" sz="5821"/>
              <a:t>Works with popular cloud Postgres providers ( Amazon RDS (PostgreSQL), Google Cloud SQL, Azure Database for PostgreSQL,etc).</a:t>
            </a:r>
            <a:endParaRPr sz="5821"/>
          </a:p>
          <a:p>
            <a:pPr indent="-249237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47"/>
          <p:cNvSpPr txBox="1"/>
          <p:nvPr>
            <p:ph type="title"/>
          </p:nvPr>
        </p:nvSpPr>
        <p:spPr>
          <a:xfrm>
            <a:off x="1274025" y="40550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/>
              <a:t> </a:t>
            </a:r>
            <a:r>
              <a:rPr b="1" lang="en-GB" sz="3100"/>
              <a:t>Disadvantages</a:t>
            </a:r>
            <a:endParaRPr b="1" sz="3100"/>
          </a:p>
        </p:txBody>
      </p:sp>
      <p:sp>
        <p:nvSpPr>
          <p:cNvPr id="357" name="Google Shape;357;p47"/>
          <p:cNvSpPr txBox="1"/>
          <p:nvPr>
            <p:ph idx="1" type="body"/>
          </p:nvPr>
        </p:nvSpPr>
        <p:spPr>
          <a:xfrm>
            <a:off x="1274025" y="157930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-340201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GB" sz="1900"/>
              <a:t>Not ideal for very large datasets</a:t>
            </a:r>
            <a:br>
              <a:rPr lang="en-GB" sz="1900"/>
            </a:br>
            <a:endParaRPr sz="1900"/>
          </a:p>
          <a:p>
            <a:pPr indent="-340201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GB" sz="1900"/>
              <a:t>Slower than FAISS/ScaNN for ANN</a:t>
            </a:r>
            <a:br>
              <a:rPr lang="en-GB" sz="1900"/>
            </a:br>
            <a:endParaRPr sz="1900"/>
          </a:p>
          <a:p>
            <a:pPr indent="-340201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GB" sz="1900"/>
              <a:t>No support for time-based relevance</a:t>
            </a:r>
            <a:br>
              <a:rPr lang="en-GB" sz="1900"/>
            </a:br>
            <a:endParaRPr sz="1900"/>
          </a:p>
          <a:p>
            <a:pPr indent="-340201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GB" sz="1900"/>
              <a:t>Indexing (IVFFlat) must be managed manually</a:t>
            </a:r>
            <a:br>
              <a:rPr lang="en-GB" sz="1900"/>
            </a:br>
            <a:endParaRPr sz="1900"/>
          </a:p>
          <a:p>
            <a:pPr indent="-340201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GB" sz="1900"/>
              <a:t>Requires tuning for optimal performance</a:t>
            </a:r>
            <a:endParaRPr sz="19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48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3300"/>
              <a:t>When to Use pgvector?</a:t>
            </a:r>
            <a:endParaRPr b="1" sz="33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3300"/>
          </a:p>
        </p:txBody>
      </p:sp>
      <p:sp>
        <p:nvSpPr>
          <p:cNvPr id="363" name="Google Shape;363;p48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</a:pPr>
            <a:r>
              <a:rPr lang="en-GB" sz="1700"/>
              <a:t> Already using PostgreSQL</a:t>
            </a:r>
            <a:br>
              <a:rPr lang="en-GB" sz="1700"/>
            </a:b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</a:pPr>
            <a:r>
              <a:rPr lang="en-GB" sz="1700"/>
              <a:t> Want to filter + search (SQL + embeddings)</a:t>
            </a:r>
            <a:br>
              <a:rPr lang="en-GB" sz="1700"/>
            </a:b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</a:pPr>
            <a:r>
              <a:rPr lang="en-GB" sz="1700"/>
              <a:t> Building early RAG prototypes</a:t>
            </a:r>
            <a:br>
              <a:rPr lang="en-GB" sz="1700"/>
            </a:b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</a:pPr>
            <a:r>
              <a:rPr lang="en-GB" sz="1700"/>
              <a:t> Handling up to ~1M rows efficiently</a:t>
            </a:r>
            <a:endParaRPr sz="17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49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3100"/>
              <a:t>Application  in RAG </a:t>
            </a:r>
            <a:endParaRPr sz="3100"/>
          </a:p>
        </p:txBody>
      </p:sp>
      <p:sp>
        <p:nvSpPr>
          <p:cNvPr id="369" name="Google Shape;369;p49"/>
          <p:cNvSpPr txBox="1"/>
          <p:nvPr>
            <p:ph idx="1" type="body"/>
          </p:nvPr>
        </p:nvSpPr>
        <p:spPr>
          <a:xfrm>
            <a:off x="1297500" y="1105175"/>
            <a:ext cx="7038900" cy="365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900"/>
          </a:p>
          <a:p>
            <a:pPr indent="-336550" lvl="0" marL="45720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</a:pPr>
            <a:r>
              <a:rPr lang="en-GB" sz="1700"/>
              <a:t>Generate text embeddings using OpenAI/Cohere</a:t>
            </a:r>
            <a:br>
              <a:rPr lang="en-GB" sz="1700"/>
            </a:br>
            <a:endParaRPr sz="1700"/>
          </a:p>
          <a:p>
            <a:pPr indent="-33655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</a:pPr>
            <a:r>
              <a:rPr lang="en-GB" sz="1700"/>
              <a:t>Store embeddings in PostgreSQL using pgvector</a:t>
            </a:r>
            <a:br>
              <a:rPr lang="en-GB" sz="1700"/>
            </a:br>
            <a:endParaRPr sz="1700"/>
          </a:p>
          <a:p>
            <a:pPr indent="-33655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</a:pPr>
            <a:r>
              <a:rPr lang="en-GB" sz="1700"/>
              <a:t>On query:</a:t>
            </a:r>
            <a:br>
              <a:rPr lang="en-GB" sz="1700"/>
            </a:br>
            <a:endParaRPr sz="1700"/>
          </a:p>
          <a:p>
            <a:pPr indent="-336550" lvl="1" marL="9144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Char char="○"/>
            </a:pPr>
            <a:r>
              <a:rPr lang="en-GB" sz="1700"/>
              <a:t>Convert input → vector</a:t>
            </a:r>
            <a:br>
              <a:rPr lang="en-GB" sz="1700"/>
            </a:br>
            <a:endParaRPr sz="1700"/>
          </a:p>
          <a:p>
            <a:pPr indent="-336550" lvl="1" marL="9144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Char char="○"/>
            </a:pPr>
            <a:r>
              <a:rPr lang="en-GB" sz="1700"/>
              <a:t>Run top-k similarity search using SQL</a:t>
            </a:r>
            <a:br>
              <a:rPr lang="en-GB" sz="1700"/>
            </a:br>
            <a:endParaRPr sz="1700"/>
          </a:p>
          <a:p>
            <a:pPr indent="-336550" lvl="1" marL="9144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Char char="○"/>
            </a:pPr>
            <a:r>
              <a:rPr lang="en-GB" sz="1700"/>
              <a:t>Feed results into the LLM</a:t>
            </a:r>
            <a:endParaRPr sz="170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50"/>
          <p:cNvSpPr txBox="1"/>
          <p:nvPr>
            <p:ph type="title"/>
          </p:nvPr>
        </p:nvSpPr>
        <p:spPr>
          <a:xfrm>
            <a:off x="1129700" y="393750"/>
            <a:ext cx="72066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/>
              <a:t>Pinecone</a:t>
            </a:r>
            <a:endParaRPr b="1" sz="2600"/>
          </a:p>
        </p:txBody>
      </p:sp>
      <p:sp>
        <p:nvSpPr>
          <p:cNvPr id="375" name="Google Shape;375;p50"/>
          <p:cNvSpPr txBox="1"/>
          <p:nvPr>
            <p:ph idx="1" type="body"/>
          </p:nvPr>
        </p:nvSpPr>
        <p:spPr>
          <a:xfrm>
            <a:off x="1043250" y="985350"/>
            <a:ext cx="4196700" cy="350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58"/>
              <a:buNone/>
            </a:pPr>
            <a:r>
              <a:rPr lang="en-GB" sz="1157">
                <a:latin typeface="Arial"/>
                <a:ea typeface="Arial"/>
                <a:cs typeface="Arial"/>
                <a:sym typeface="Arial"/>
              </a:rPr>
              <a:t>Pinecone is a </a:t>
            </a:r>
            <a:r>
              <a:rPr b="1" lang="en-GB" sz="1157">
                <a:latin typeface="Arial"/>
                <a:ea typeface="Arial"/>
                <a:cs typeface="Arial"/>
                <a:sym typeface="Arial"/>
              </a:rPr>
              <a:t>fully managed vector database</a:t>
            </a:r>
            <a:r>
              <a:rPr lang="en-GB" sz="1157">
                <a:latin typeface="Arial"/>
                <a:ea typeface="Arial"/>
                <a:cs typeface="Arial"/>
                <a:sym typeface="Arial"/>
              </a:rPr>
              <a:t> designed for similarity search.</a:t>
            </a:r>
            <a:br>
              <a:rPr lang="en-GB" sz="1157">
                <a:latin typeface="Arial"/>
                <a:ea typeface="Arial"/>
                <a:cs typeface="Arial"/>
                <a:sym typeface="Arial"/>
              </a:rPr>
            </a:br>
            <a:endParaRPr sz="1157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58"/>
              <a:buNone/>
            </a:pPr>
            <a:r>
              <a:rPr lang="en-GB" sz="1157">
                <a:latin typeface="Arial"/>
                <a:ea typeface="Arial"/>
                <a:cs typeface="Arial"/>
                <a:sym typeface="Arial"/>
              </a:rPr>
              <a:t>It enables fast, scalable search across </a:t>
            </a:r>
            <a:r>
              <a:rPr b="1" lang="en-GB" sz="1157">
                <a:latin typeface="Arial"/>
                <a:ea typeface="Arial"/>
                <a:cs typeface="Arial"/>
                <a:sym typeface="Arial"/>
              </a:rPr>
              <a:t>high-dimensional embeddings</a:t>
            </a:r>
            <a:r>
              <a:rPr lang="en-GB" sz="1157">
                <a:latin typeface="Arial"/>
                <a:ea typeface="Arial"/>
                <a:cs typeface="Arial"/>
                <a:sym typeface="Arial"/>
              </a:rPr>
              <a:t> (text, images,</a:t>
            </a:r>
            <a:endParaRPr sz="1157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58"/>
              <a:buNone/>
            </a:pPr>
            <a:r>
              <a:rPr lang="en-GB" sz="1157">
                <a:latin typeface="Arial"/>
                <a:ea typeface="Arial"/>
                <a:cs typeface="Arial"/>
                <a:sym typeface="Arial"/>
              </a:rPr>
              <a:t> etc.)</a:t>
            </a:r>
            <a:br>
              <a:rPr lang="en-GB" sz="1157">
                <a:latin typeface="Arial"/>
                <a:ea typeface="Arial"/>
                <a:cs typeface="Arial"/>
                <a:sym typeface="Arial"/>
              </a:rPr>
            </a:br>
            <a:endParaRPr sz="1157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58"/>
              <a:buNone/>
            </a:pPr>
            <a:r>
              <a:rPr lang="en-GB" sz="1157">
                <a:latin typeface="Arial"/>
                <a:ea typeface="Arial"/>
                <a:cs typeface="Arial"/>
                <a:sym typeface="Arial"/>
              </a:rPr>
              <a:t>Ideal for </a:t>
            </a:r>
            <a:r>
              <a:rPr b="1" lang="en-GB" sz="1157">
                <a:latin typeface="Arial"/>
                <a:ea typeface="Arial"/>
                <a:cs typeface="Arial"/>
                <a:sym typeface="Arial"/>
              </a:rPr>
              <a:t>semantic search</a:t>
            </a:r>
            <a:r>
              <a:rPr lang="en-GB" sz="1157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b="1" lang="en-GB" sz="1157">
                <a:latin typeface="Arial"/>
                <a:ea typeface="Arial"/>
                <a:cs typeface="Arial"/>
                <a:sym typeface="Arial"/>
              </a:rPr>
              <a:t>recommendation systems</a:t>
            </a:r>
            <a:r>
              <a:rPr lang="en-GB" sz="1157">
                <a:latin typeface="Arial"/>
                <a:ea typeface="Arial"/>
                <a:cs typeface="Arial"/>
                <a:sym typeface="Arial"/>
              </a:rPr>
              <a:t>, and </a:t>
            </a:r>
            <a:r>
              <a:rPr b="1" lang="en-GB" sz="1157">
                <a:latin typeface="Arial"/>
                <a:ea typeface="Arial"/>
                <a:cs typeface="Arial"/>
                <a:sym typeface="Arial"/>
              </a:rPr>
              <a:t>RAG architectures</a:t>
            </a:r>
            <a:r>
              <a:rPr lang="en-GB" sz="1157">
                <a:latin typeface="Arial"/>
                <a:ea typeface="Arial"/>
                <a:cs typeface="Arial"/>
                <a:sym typeface="Arial"/>
              </a:rPr>
              <a:t>.</a:t>
            </a:r>
            <a:endParaRPr sz="1157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58"/>
              <a:buNone/>
            </a:pPr>
            <a:r>
              <a:t/>
            </a:r>
            <a:endParaRPr sz="1157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58"/>
              <a:buNone/>
            </a:pPr>
            <a:r>
              <a:t/>
            </a:r>
            <a:endParaRPr sz="1157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8"/>
              <a:buNone/>
            </a:pPr>
            <a:r>
              <a:rPr b="1" lang="en-GB" sz="1543"/>
              <a:t>Use Case</a:t>
            </a:r>
            <a:r>
              <a:rPr lang="en-GB" sz="1543"/>
              <a:t>:</a:t>
            </a:r>
            <a:br>
              <a:rPr lang="en-GB" sz="1143"/>
            </a:br>
            <a:r>
              <a:rPr lang="en-GB" sz="1143"/>
              <a:t>Retrieval-Augmented Generation (RAG)</a:t>
            </a:r>
            <a:br>
              <a:rPr lang="en-GB" sz="1143"/>
            </a:br>
            <a:endParaRPr sz="1143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8"/>
              <a:buNone/>
            </a:pPr>
            <a:r>
              <a:rPr lang="en-GB" sz="1143"/>
              <a:t>Semantic search (text, image, code)</a:t>
            </a:r>
            <a:br>
              <a:rPr lang="en-GB" sz="1143"/>
            </a:br>
            <a:endParaRPr sz="1143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8"/>
              <a:buNone/>
            </a:pPr>
            <a:r>
              <a:rPr lang="en-GB" sz="1143"/>
              <a:t>Personalized recommendations</a:t>
            </a:r>
            <a:br>
              <a:rPr lang="en-GB" sz="1143"/>
            </a:br>
            <a:endParaRPr sz="1143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8"/>
              <a:buNone/>
            </a:pPr>
            <a:r>
              <a:rPr lang="en-GB" sz="1143"/>
              <a:t>Chatbots with long-term memory</a:t>
            </a:r>
            <a:br>
              <a:rPr lang="en-GB" sz="1143"/>
            </a:br>
            <a:endParaRPr sz="1143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8"/>
              <a:buNone/>
            </a:pPr>
            <a:r>
              <a:rPr lang="en-GB" sz="1143"/>
              <a:t>Duplicate detection and anomaly detection</a:t>
            </a:r>
            <a:endParaRPr sz="1143"/>
          </a:p>
          <a:p>
            <a:pPr indent="0" lvl="0" marL="0" rtl="0" algn="l">
              <a:lnSpc>
                <a:spcPct val="85000"/>
              </a:lnSpc>
              <a:spcBef>
                <a:spcPts val="1400"/>
              </a:spcBef>
              <a:spcAft>
                <a:spcPts val="400"/>
              </a:spcAft>
              <a:buClr>
                <a:srgbClr val="000000"/>
              </a:buClr>
              <a:buSzPts val="116"/>
              <a:buFont typeface="Arial"/>
              <a:buNone/>
            </a:pPr>
            <a:r>
              <a:t/>
            </a:r>
            <a:endParaRPr sz="922"/>
          </a:p>
        </p:txBody>
      </p:sp>
      <p:pic>
        <p:nvPicPr>
          <p:cNvPr id="376" name="Google Shape;376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39950" y="708950"/>
            <a:ext cx="3668150" cy="1918350"/>
          </a:xfrm>
          <a:prstGeom prst="rect">
            <a:avLst/>
          </a:prstGeom>
          <a:noFill/>
          <a:ln>
            <a:noFill/>
          </a:ln>
        </p:spPr>
      </p:pic>
      <p:sp>
        <p:nvSpPr>
          <p:cNvPr id="377" name="Google Shape;377;p50"/>
          <p:cNvSpPr txBox="1"/>
          <p:nvPr/>
        </p:nvSpPr>
        <p:spPr>
          <a:xfrm>
            <a:off x="4629150" y="2729100"/>
            <a:ext cx="4392000" cy="211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5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16"/>
              <a:buFont typeface="Arial"/>
              <a:buNone/>
            </a:pPr>
            <a:r>
              <a:rPr b="1" lang="en-GB" sz="1064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Key Features</a:t>
            </a:r>
            <a:endParaRPr b="1" sz="1064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4874" lvl="0" marL="457200" rtl="0" algn="l">
              <a:lnSpc>
                <a:spcPct val="8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44"/>
              <a:buFont typeface="Lato"/>
              <a:buChar char="●"/>
            </a:pPr>
            <a:r>
              <a:rPr lang="en-GB" sz="1057">
                <a:solidFill>
                  <a:schemeClr val="lt1"/>
                </a:solidFill>
              </a:rPr>
              <a:t>Fully managed </a:t>
            </a:r>
            <a:r>
              <a:rPr b="1" lang="en-GB" sz="1057">
                <a:solidFill>
                  <a:schemeClr val="lt1"/>
                </a:solidFill>
              </a:rPr>
              <a:t>vector database as a service</a:t>
            </a:r>
            <a:br>
              <a:rPr b="1" lang="en-GB" sz="1057">
                <a:solidFill>
                  <a:schemeClr val="lt1"/>
                </a:solidFill>
              </a:rPr>
            </a:br>
            <a:endParaRPr b="1" sz="1057">
              <a:solidFill>
                <a:schemeClr val="lt1"/>
              </a:solidFill>
            </a:endParaRPr>
          </a:p>
          <a:p>
            <a:pPr indent="-294874" lvl="0" marL="45720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44"/>
              <a:buFont typeface="Lato"/>
              <a:buChar char="●"/>
            </a:pPr>
            <a:r>
              <a:rPr lang="en-GB" sz="1057">
                <a:solidFill>
                  <a:schemeClr val="lt1"/>
                </a:solidFill>
              </a:rPr>
              <a:t>Fast </a:t>
            </a:r>
            <a:r>
              <a:rPr b="1" lang="en-GB" sz="1057">
                <a:solidFill>
                  <a:schemeClr val="lt1"/>
                </a:solidFill>
              </a:rPr>
              <a:t>approximate nearest neighbor (ANN)</a:t>
            </a:r>
            <a:r>
              <a:rPr lang="en-GB" sz="1057">
                <a:solidFill>
                  <a:schemeClr val="lt1"/>
                </a:solidFill>
              </a:rPr>
              <a:t> search</a:t>
            </a:r>
            <a:br>
              <a:rPr lang="en-GB" sz="1057">
                <a:solidFill>
                  <a:schemeClr val="lt1"/>
                </a:solidFill>
              </a:rPr>
            </a:br>
            <a:endParaRPr sz="1057">
              <a:solidFill>
                <a:schemeClr val="lt1"/>
              </a:solidFill>
            </a:endParaRPr>
          </a:p>
          <a:p>
            <a:pPr indent="-294874" lvl="0" marL="45720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44"/>
              <a:buFont typeface="Lato"/>
              <a:buChar char="●"/>
            </a:pPr>
            <a:r>
              <a:rPr lang="en-GB" sz="1057">
                <a:solidFill>
                  <a:schemeClr val="lt1"/>
                </a:solidFill>
              </a:rPr>
              <a:t>Scalable to </a:t>
            </a:r>
            <a:r>
              <a:rPr b="1" lang="en-GB" sz="1057">
                <a:solidFill>
                  <a:schemeClr val="lt1"/>
                </a:solidFill>
              </a:rPr>
              <a:t>millions or billions</a:t>
            </a:r>
            <a:r>
              <a:rPr lang="en-GB" sz="1057">
                <a:solidFill>
                  <a:schemeClr val="lt1"/>
                </a:solidFill>
              </a:rPr>
              <a:t> of vectors</a:t>
            </a:r>
            <a:br>
              <a:rPr lang="en-GB" sz="1057">
                <a:solidFill>
                  <a:schemeClr val="lt1"/>
                </a:solidFill>
              </a:rPr>
            </a:br>
            <a:endParaRPr sz="1057">
              <a:solidFill>
                <a:schemeClr val="lt1"/>
              </a:solidFill>
            </a:endParaRPr>
          </a:p>
          <a:p>
            <a:pPr indent="-294874" lvl="0" marL="45720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44"/>
              <a:buFont typeface="Lato"/>
              <a:buChar char="●"/>
            </a:pPr>
            <a:r>
              <a:rPr lang="en-GB" sz="1057">
                <a:solidFill>
                  <a:schemeClr val="lt1"/>
                </a:solidFill>
              </a:rPr>
              <a:t>Built-in </a:t>
            </a:r>
            <a:r>
              <a:rPr b="1" lang="en-GB" sz="1057">
                <a:solidFill>
                  <a:schemeClr val="lt1"/>
                </a:solidFill>
              </a:rPr>
              <a:t>metadata filtering</a:t>
            </a:r>
            <a:r>
              <a:rPr lang="en-GB" sz="1057">
                <a:solidFill>
                  <a:schemeClr val="lt1"/>
                </a:solidFill>
              </a:rPr>
              <a:t> and </a:t>
            </a:r>
            <a:r>
              <a:rPr b="1" lang="en-GB" sz="1057">
                <a:solidFill>
                  <a:schemeClr val="lt1"/>
                </a:solidFill>
              </a:rPr>
              <a:t>namespaces</a:t>
            </a:r>
            <a:br>
              <a:rPr b="1" lang="en-GB" sz="1057">
                <a:solidFill>
                  <a:schemeClr val="lt1"/>
                </a:solidFill>
              </a:rPr>
            </a:br>
            <a:endParaRPr b="1" sz="1057">
              <a:solidFill>
                <a:schemeClr val="lt1"/>
              </a:solidFill>
            </a:endParaRPr>
          </a:p>
          <a:p>
            <a:pPr indent="-294874" lvl="0" marL="45720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44"/>
              <a:buFont typeface="Lato"/>
              <a:buChar char="●"/>
            </a:pPr>
            <a:r>
              <a:rPr lang="en-GB" sz="1057">
                <a:solidFill>
                  <a:schemeClr val="lt1"/>
                </a:solidFill>
              </a:rPr>
              <a:t>Supports </a:t>
            </a:r>
            <a:r>
              <a:rPr b="1" lang="en-GB" sz="1057">
                <a:solidFill>
                  <a:schemeClr val="lt1"/>
                </a:solidFill>
              </a:rPr>
              <a:t>real-time upserts</a:t>
            </a:r>
            <a:r>
              <a:rPr lang="en-GB" sz="1057">
                <a:solidFill>
                  <a:schemeClr val="lt1"/>
                </a:solidFill>
              </a:rPr>
              <a:t>, deletions, and updates</a:t>
            </a:r>
            <a:br>
              <a:rPr lang="en-GB" sz="1057">
                <a:solidFill>
                  <a:schemeClr val="lt1"/>
                </a:solidFill>
              </a:rPr>
            </a:br>
            <a:endParaRPr sz="1057">
              <a:solidFill>
                <a:schemeClr val="lt1"/>
              </a:solidFill>
            </a:endParaRPr>
          </a:p>
          <a:p>
            <a:pPr indent="-294874" lvl="0" marL="45720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44"/>
              <a:buFont typeface="Lato"/>
              <a:buChar char="●"/>
            </a:pPr>
            <a:r>
              <a:rPr lang="en-GB" sz="1057">
                <a:solidFill>
                  <a:schemeClr val="lt1"/>
                </a:solidFill>
              </a:rPr>
              <a:t>Simple </a:t>
            </a:r>
            <a:r>
              <a:rPr b="1" lang="en-GB" sz="1057">
                <a:solidFill>
                  <a:schemeClr val="lt1"/>
                </a:solidFill>
              </a:rPr>
              <a:t>REST API &amp; Python SDK</a:t>
            </a:r>
            <a:endParaRPr sz="18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51"/>
          <p:cNvSpPr txBox="1"/>
          <p:nvPr>
            <p:ph idx="1" type="body"/>
          </p:nvPr>
        </p:nvSpPr>
        <p:spPr>
          <a:xfrm>
            <a:off x="1297500" y="169100"/>
            <a:ext cx="7038900" cy="4309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SzPts val="1018"/>
              <a:buNone/>
            </a:pPr>
            <a:r>
              <a:rPr b="1" lang="en-GB" sz="1502">
                <a:latin typeface="Arial"/>
                <a:ea typeface="Arial"/>
                <a:cs typeface="Arial"/>
                <a:sym typeface="Arial"/>
              </a:rPr>
              <a:t>Best For</a:t>
            </a:r>
            <a:endParaRPr b="1" sz="1502">
              <a:latin typeface="Arial"/>
              <a:ea typeface="Arial"/>
              <a:cs typeface="Arial"/>
              <a:sym typeface="Arial"/>
            </a:endParaRPr>
          </a:p>
          <a:p>
            <a:pPr indent="-312261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318"/>
              <a:buFont typeface="Arial"/>
              <a:buChar char="●"/>
            </a:pPr>
            <a:r>
              <a:rPr lang="en-GB" sz="1317">
                <a:latin typeface="Arial"/>
                <a:ea typeface="Arial"/>
                <a:cs typeface="Arial"/>
                <a:sym typeface="Arial"/>
              </a:rPr>
              <a:t>Scalable RAG pipelines using OpenAI/BERT embeddings</a:t>
            </a:r>
            <a:br>
              <a:rPr lang="en-GB" sz="1317">
                <a:latin typeface="Arial"/>
                <a:ea typeface="Arial"/>
                <a:cs typeface="Arial"/>
                <a:sym typeface="Arial"/>
              </a:rPr>
            </a:br>
            <a:endParaRPr sz="1317">
              <a:latin typeface="Arial"/>
              <a:ea typeface="Arial"/>
              <a:cs typeface="Arial"/>
              <a:sym typeface="Arial"/>
            </a:endParaRPr>
          </a:p>
          <a:p>
            <a:pPr indent="-312261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18"/>
              <a:buFont typeface="Arial"/>
              <a:buChar char="●"/>
            </a:pPr>
            <a:r>
              <a:rPr lang="en-GB" sz="1317">
                <a:latin typeface="Arial"/>
                <a:ea typeface="Arial"/>
                <a:cs typeface="Arial"/>
                <a:sym typeface="Arial"/>
              </a:rPr>
              <a:t>Teams that want </a:t>
            </a:r>
            <a:r>
              <a:rPr b="1" lang="en-GB" sz="1317">
                <a:latin typeface="Arial"/>
                <a:ea typeface="Arial"/>
                <a:cs typeface="Arial"/>
                <a:sym typeface="Arial"/>
              </a:rPr>
              <a:t>production-ready search</a:t>
            </a:r>
            <a:r>
              <a:rPr lang="en-GB" sz="1317">
                <a:latin typeface="Arial"/>
                <a:ea typeface="Arial"/>
                <a:cs typeface="Arial"/>
                <a:sym typeface="Arial"/>
              </a:rPr>
              <a:t> without DevOps overhead</a:t>
            </a:r>
            <a:br>
              <a:rPr lang="en-GB" sz="1317">
                <a:latin typeface="Arial"/>
                <a:ea typeface="Arial"/>
                <a:cs typeface="Arial"/>
                <a:sym typeface="Arial"/>
              </a:rPr>
            </a:br>
            <a:endParaRPr sz="1317">
              <a:latin typeface="Arial"/>
              <a:ea typeface="Arial"/>
              <a:cs typeface="Arial"/>
              <a:sym typeface="Arial"/>
            </a:endParaRPr>
          </a:p>
          <a:p>
            <a:pPr indent="-312261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18"/>
              <a:buFont typeface="Arial"/>
              <a:buChar char="●"/>
            </a:pPr>
            <a:r>
              <a:rPr lang="en-GB" sz="1317">
                <a:latin typeface="Arial"/>
                <a:ea typeface="Arial"/>
                <a:cs typeface="Arial"/>
                <a:sym typeface="Arial"/>
              </a:rPr>
              <a:t>Applications needing </a:t>
            </a:r>
            <a:r>
              <a:rPr b="1" lang="en-GB" sz="1317">
                <a:latin typeface="Arial"/>
                <a:ea typeface="Arial"/>
                <a:cs typeface="Arial"/>
                <a:sym typeface="Arial"/>
              </a:rPr>
              <a:t>real-time similarity search</a:t>
            </a:r>
            <a:br>
              <a:rPr b="1" lang="en-GB" sz="1317">
                <a:latin typeface="Arial"/>
                <a:ea typeface="Arial"/>
                <a:cs typeface="Arial"/>
                <a:sym typeface="Arial"/>
              </a:rPr>
            </a:br>
            <a:endParaRPr b="1" sz="1317">
              <a:latin typeface="Arial"/>
              <a:ea typeface="Arial"/>
              <a:cs typeface="Arial"/>
              <a:sym typeface="Arial"/>
            </a:endParaRPr>
          </a:p>
          <a:p>
            <a:pPr indent="-312261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18"/>
              <a:buFont typeface="Arial"/>
              <a:buChar char="●"/>
            </a:pPr>
            <a:r>
              <a:rPr lang="en-GB" sz="1317">
                <a:latin typeface="Arial"/>
                <a:ea typeface="Arial"/>
                <a:cs typeface="Arial"/>
                <a:sym typeface="Arial"/>
              </a:rPr>
              <a:t>Enterprises with cloud infrastructure (Pinecone is cloud-native)</a:t>
            </a:r>
            <a:br>
              <a:rPr lang="en-GB" sz="1317">
                <a:latin typeface="Arial"/>
                <a:ea typeface="Arial"/>
                <a:cs typeface="Arial"/>
                <a:sym typeface="Arial"/>
              </a:rPr>
            </a:br>
            <a:endParaRPr sz="1317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SzPts val="1018"/>
              <a:buNone/>
            </a:pPr>
            <a:r>
              <a:rPr b="1" lang="en-GB" sz="1502">
                <a:latin typeface="Arial"/>
                <a:ea typeface="Arial"/>
                <a:cs typeface="Arial"/>
                <a:sym typeface="Arial"/>
              </a:rPr>
              <a:t>Not Ideal For</a:t>
            </a:r>
            <a:endParaRPr b="1" sz="1502">
              <a:latin typeface="Arial"/>
              <a:ea typeface="Arial"/>
              <a:cs typeface="Arial"/>
              <a:sym typeface="Arial"/>
            </a:endParaRPr>
          </a:p>
          <a:p>
            <a:pPr indent="-312261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318"/>
              <a:buFont typeface="Arial"/>
              <a:buChar char="●"/>
            </a:pPr>
            <a:r>
              <a:rPr lang="en-GB" sz="1317">
                <a:latin typeface="Arial"/>
                <a:ea typeface="Arial"/>
                <a:cs typeface="Arial"/>
                <a:sym typeface="Arial"/>
              </a:rPr>
              <a:t>Projects requiring </a:t>
            </a:r>
            <a:r>
              <a:rPr b="1" lang="en-GB" sz="1317">
                <a:latin typeface="Arial"/>
                <a:ea typeface="Arial"/>
                <a:cs typeface="Arial"/>
                <a:sym typeface="Arial"/>
              </a:rPr>
              <a:t>fully offline or local-only setup</a:t>
            </a:r>
            <a:br>
              <a:rPr b="1" lang="en-GB" sz="1317">
                <a:latin typeface="Arial"/>
                <a:ea typeface="Arial"/>
                <a:cs typeface="Arial"/>
                <a:sym typeface="Arial"/>
              </a:rPr>
            </a:br>
            <a:endParaRPr b="1" sz="1317">
              <a:latin typeface="Arial"/>
              <a:ea typeface="Arial"/>
              <a:cs typeface="Arial"/>
              <a:sym typeface="Arial"/>
            </a:endParaRPr>
          </a:p>
          <a:p>
            <a:pPr indent="-312261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18"/>
              <a:buFont typeface="Arial"/>
              <a:buChar char="●"/>
            </a:pPr>
            <a:r>
              <a:rPr lang="en-GB" sz="1317">
                <a:latin typeface="Arial"/>
                <a:ea typeface="Arial"/>
                <a:cs typeface="Arial"/>
                <a:sym typeface="Arial"/>
              </a:rPr>
              <a:t>Open-source-only environments (Pinecone is closed-source)</a:t>
            </a:r>
            <a:br>
              <a:rPr lang="en-GB" sz="1317">
                <a:latin typeface="Arial"/>
                <a:ea typeface="Arial"/>
                <a:cs typeface="Arial"/>
                <a:sym typeface="Arial"/>
              </a:rPr>
            </a:br>
            <a:endParaRPr sz="1317">
              <a:latin typeface="Arial"/>
              <a:ea typeface="Arial"/>
              <a:cs typeface="Arial"/>
              <a:sym typeface="Arial"/>
            </a:endParaRPr>
          </a:p>
          <a:p>
            <a:pPr indent="-312261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18"/>
              <a:buFont typeface="Arial"/>
              <a:buChar char="●"/>
            </a:pPr>
            <a:r>
              <a:rPr lang="en-GB" sz="1317">
                <a:latin typeface="Arial"/>
                <a:ea typeface="Arial"/>
                <a:cs typeface="Arial"/>
                <a:sym typeface="Arial"/>
              </a:rPr>
              <a:t>Lightweight apps with very small vector datasets</a:t>
            </a:r>
            <a:br>
              <a:rPr lang="en-GB" sz="1317">
                <a:latin typeface="Arial"/>
                <a:ea typeface="Arial"/>
                <a:cs typeface="Arial"/>
                <a:sym typeface="Arial"/>
              </a:rPr>
            </a:br>
            <a:endParaRPr sz="1317">
              <a:latin typeface="Arial"/>
              <a:ea typeface="Arial"/>
              <a:cs typeface="Arial"/>
              <a:sym typeface="Arial"/>
            </a:endParaRPr>
          </a:p>
          <a:p>
            <a:pPr indent="-312261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18"/>
              <a:buFont typeface="Arial"/>
              <a:buChar char="●"/>
            </a:pPr>
            <a:r>
              <a:rPr lang="en-GB" sz="1317">
                <a:latin typeface="Arial"/>
                <a:ea typeface="Arial"/>
                <a:cs typeface="Arial"/>
                <a:sym typeface="Arial"/>
              </a:rPr>
              <a:t>Developers who want full control over vector indexing methods (FAISS gives more flexibility)</a:t>
            </a:r>
            <a:endParaRPr sz="1317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1018"/>
              <a:buNone/>
            </a:pPr>
            <a:r>
              <a:t/>
            </a:r>
            <a:endParaRPr sz="1502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52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100"/>
              <a:t>How Pinecone Works?</a:t>
            </a:r>
            <a:endParaRPr b="1" sz="3100"/>
          </a:p>
        </p:txBody>
      </p:sp>
      <p:sp>
        <p:nvSpPr>
          <p:cNvPr id="388" name="Google Shape;388;p52"/>
          <p:cNvSpPr txBox="1"/>
          <p:nvPr>
            <p:ph idx="1" type="body"/>
          </p:nvPr>
        </p:nvSpPr>
        <p:spPr>
          <a:xfrm>
            <a:off x="1297500" y="1167275"/>
            <a:ext cx="7038900" cy="331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Arial"/>
              <a:buChar char="●"/>
            </a:pPr>
            <a:r>
              <a:rPr lang="en-GB" sz="1600">
                <a:latin typeface="Arial"/>
                <a:ea typeface="Arial"/>
                <a:cs typeface="Arial"/>
                <a:sym typeface="Arial"/>
              </a:rPr>
              <a:t>Stores vector embeddings (e.g., from BERT, OpenAI, SentenceTransformer).</a:t>
            </a:r>
            <a:br>
              <a:rPr lang="en-GB" sz="1600">
                <a:latin typeface="Arial"/>
                <a:ea typeface="Arial"/>
                <a:cs typeface="Arial"/>
                <a:sym typeface="Arial"/>
              </a:rPr>
            </a:b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Arial"/>
              <a:buChar char="●"/>
            </a:pPr>
            <a:r>
              <a:rPr lang="en-GB" sz="1600">
                <a:latin typeface="Arial"/>
                <a:ea typeface="Arial"/>
                <a:cs typeface="Arial"/>
                <a:sym typeface="Arial"/>
              </a:rPr>
              <a:t>Indexes them using approximate nearest neighbor (ANN) search algorithms.</a:t>
            </a:r>
            <a:br>
              <a:rPr lang="en-GB" sz="1600">
                <a:latin typeface="Arial"/>
                <a:ea typeface="Arial"/>
                <a:cs typeface="Arial"/>
                <a:sym typeface="Arial"/>
              </a:rPr>
            </a:b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Arial"/>
              <a:buChar char="●"/>
            </a:pPr>
            <a:r>
              <a:rPr lang="en-GB" sz="1600">
                <a:latin typeface="Arial"/>
                <a:ea typeface="Arial"/>
                <a:cs typeface="Arial"/>
                <a:sym typeface="Arial"/>
              </a:rPr>
              <a:t>Returns the </a:t>
            </a:r>
            <a:r>
              <a:rPr b="1" lang="en-GB" sz="1600">
                <a:latin typeface="Arial"/>
                <a:ea typeface="Arial"/>
                <a:cs typeface="Arial"/>
                <a:sym typeface="Arial"/>
              </a:rPr>
              <a:t>most semantically similar vectors</a:t>
            </a:r>
            <a:r>
              <a:rPr lang="en-GB" sz="1600">
                <a:latin typeface="Arial"/>
                <a:ea typeface="Arial"/>
                <a:cs typeface="Arial"/>
                <a:sym typeface="Arial"/>
              </a:rPr>
              <a:t> to a query embedding.</a:t>
            </a:r>
            <a:br>
              <a:rPr lang="en-GB" sz="1600">
                <a:latin typeface="Arial"/>
                <a:ea typeface="Arial"/>
                <a:cs typeface="Arial"/>
                <a:sym typeface="Arial"/>
              </a:rPr>
            </a:b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Arial"/>
              <a:buChar char="●"/>
            </a:pPr>
            <a:r>
              <a:rPr lang="en-GB" sz="1600">
                <a:latin typeface="Arial"/>
                <a:ea typeface="Arial"/>
                <a:cs typeface="Arial"/>
                <a:sym typeface="Arial"/>
              </a:rPr>
              <a:t>Supports </a:t>
            </a:r>
            <a:r>
              <a:rPr b="1" lang="en-GB" sz="1600">
                <a:latin typeface="Arial"/>
                <a:ea typeface="Arial"/>
                <a:cs typeface="Arial"/>
                <a:sym typeface="Arial"/>
              </a:rPr>
              <a:t>metadata filtering</a:t>
            </a:r>
            <a:r>
              <a:rPr lang="en-GB" sz="1600"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b="1" lang="en-GB" sz="1600">
                <a:latin typeface="Arial"/>
                <a:ea typeface="Arial"/>
                <a:cs typeface="Arial"/>
                <a:sym typeface="Arial"/>
              </a:rPr>
              <a:t>real-time updates</a:t>
            </a:r>
            <a:r>
              <a:rPr lang="en-GB" sz="1600">
                <a:latin typeface="Arial"/>
                <a:ea typeface="Arial"/>
                <a:cs typeface="Arial"/>
                <a:sym typeface="Arial"/>
              </a:rPr>
              <a:t>.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80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53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00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INSTALLATION AND SET UP </a:t>
            </a:r>
            <a:endParaRPr b="1" sz="3000">
              <a:solidFill>
                <a:srgbClr val="0000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53"/>
          <p:cNvSpPr txBox="1"/>
          <p:nvPr>
            <p:ph idx="1" type="body"/>
          </p:nvPr>
        </p:nvSpPr>
        <p:spPr>
          <a:xfrm>
            <a:off x="1297500" y="1002875"/>
            <a:ext cx="7038900" cy="347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Go to 👉</a:t>
            </a:r>
            <a:r>
              <a:rPr lang="en-GB" sz="1100">
                <a:solidFill>
                  <a:srgbClr val="000000"/>
                </a:solidFill>
                <a:uFill>
                  <a:noFill/>
                </a:u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-GB" sz="11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https://www.pinecone.io</a:t>
            </a:r>
            <a:endParaRPr/>
          </a:p>
        </p:txBody>
      </p:sp>
      <p:pic>
        <p:nvPicPr>
          <p:cNvPr id="395" name="Google Shape;395;p5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8700" y="1625275"/>
            <a:ext cx="5142627" cy="33561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6" name="Google Shape;396;p5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498150" y="1622375"/>
            <a:ext cx="3170649" cy="3356100"/>
          </a:xfrm>
          <a:prstGeom prst="rect">
            <a:avLst/>
          </a:prstGeom>
          <a:noFill/>
          <a:ln>
            <a:noFill/>
          </a:ln>
        </p:spPr>
      </p:pic>
      <p:sp>
        <p:nvSpPr>
          <p:cNvPr id="397" name="Google Shape;397;p53"/>
          <p:cNvSpPr txBox="1"/>
          <p:nvPr/>
        </p:nvSpPr>
        <p:spPr>
          <a:xfrm>
            <a:off x="436800" y="1109400"/>
            <a:ext cx="20082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900">
                <a:solidFill>
                  <a:schemeClr val="accent6"/>
                </a:solidFill>
                <a:latin typeface="Lato"/>
                <a:ea typeface="Lato"/>
                <a:cs typeface="Lato"/>
                <a:sym typeface="Lato"/>
              </a:rPr>
              <a:t>STEP 1:</a:t>
            </a:r>
            <a:endParaRPr sz="1900">
              <a:solidFill>
                <a:schemeClr val="accent6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398" name="Google Shape;398;p53"/>
          <p:cNvSpPr txBox="1"/>
          <p:nvPr/>
        </p:nvSpPr>
        <p:spPr>
          <a:xfrm>
            <a:off x="5498150" y="1093775"/>
            <a:ext cx="20082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900">
                <a:solidFill>
                  <a:schemeClr val="accent6"/>
                </a:solidFill>
                <a:latin typeface="Lato"/>
                <a:ea typeface="Lato"/>
                <a:cs typeface="Lato"/>
                <a:sym typeface="Lato"/>
              </a:rPr>
              <a:t>STEP 2:</a:t>
            </a:r>
            <a:endParaRPr sz="1900">
              <a:solidFill>
                <a:schemeClr val="accent6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3" name="Google Shape;403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66525"/>
            <a:ext cx="3889599" cy="342457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4" name="Google Shape;404;p5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76599" y="1553400"/>
            <a:ext cx="4797202" cy="3450817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p54"/>
          <p:cNvSpPr txBox="1"/>
          <p:nvPr/>
        </p:nvSpPr>
        <p:spPr>
          <a:xfrm>
            <a:off x="519000" y="933250"/>
            <a:ext cx="20082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900">
                <a:solidFill>
                  <a:schemeClr val="accent6"/>
                </a:solidFill>
                <a:latin typeface="Lato"/>
                <a:ea typeface="Lato"/>
                <a:cs typeface="Lato"/>
                <a:sym typeface="Lato"/>
              </a:rPr>
              <a:t>STEP 3:</a:t>
            </a:r>
            <a:endParaRPr sz="1900">
              <a:solidFill>
                <a:schemeClr val="accent6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406" name="Google Shape;406;p54"/>
          <p:cNvSpPr txBox="1"/>
          <p:nvPr/>
        </p:nvSpPr>
        <p:spPr>
          <a:xfrm>
            <a:off x="4276600" y="874275"/>
            <a:ext cx="20082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900">
                <a:solidFill>
                  <a:schemeClr val="accent6"/>
                </a:solidFill>
                <a:latin typeface="Lato"/>
                <a:ea typeface="Lato"/>
                <a:cs typeface="Lato"/>
                <a:sym typeface="Lato"/>
              </a:rPr>
              <a:t>STEP 4:</a:t>
            </a:r>
            <a:endParaRPr sz="1900">
              <a:solidFill>
                <a:schemeClr val="accent6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1" name="Google Shape;411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613500"/>
            <a:ext cx="3995275" cy="3299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412" name="Google Shape;412;p5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76600" y="1613500"/>
            <a:ext cx="4691523" cy="3299824"/>
          </a:xfrm>
          <a:prstGeom prst="rect">
            <a:avLst/>
          </a:prstGeom>
          <a:noFill/>
          <a:ln>
            <a:noFill/>
          </a:ln>
        </p:spPr>
      </p:pic>
      <p:sp>
        <p:nvSpPr>
          <p:cNvPr id="413" name="Google Shape;413;p55"/>
          <p:cNvSpPr txBox="1"/>
          <p:nvPr/>
        </p:nvSpPr>
        <p:spPr>
          <a:xfrm>
            <a:off x="565975" y="945000"/>
            <a:ext cx="20082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900">
                <a:solidFill>
                  <a:schemeClr val="accent6"/>
                </a:solidFill>
                <a:latin typeface="Lato"/>
                <a:ea typeface="Lato"/>
                <a:cs typeface="Lato"/>
                <a:sym typeface="Lato"/>
              </a:rPr>
              <a:t>STEP 5:</a:t>
            </a:r>
            <a:endParaRPr sz="1900">
              <a:solidFill>
                <a:schemeClr val="accent6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414" name="Google Shape;414;p55"/>
          <p:cNvSpPr txBox="1"/>
          <p:nvPr/>
        </p:nvSpPr>
        <p:spPr>
          <a:xfrm>
            <a:off x="4276600" y="874275"/>
            <a:ext cx="20082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900">
                <a:solidFill>
                  <a:schemeClr val="accent6"/>
                </a:solidFill>
                <a:latin typeface="Lato"/>
                <a:ea typeface="Lato"/>
                <a:cs typeface="Lato"/>
                <a:sym typeface="Lato"/>
              </a:rPr>
              <a:t>STEP 6:</a:t>
            </a:r>
            <a:endParaRPr sz="1900">
              <a:solidFill>
                <a:schemeClr val="accent6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8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56"/>
          <p:cNvSpPr txBox="1"/>
          <p:nvPr>
            <p:ph type="title"/>
          </p:nvPr>
        </p:nvSpPr>
        <p:spPr>
          <a:xfrm>
            <a:off x="1297500" y="346775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/>
              <a:t>Components of Pinecone</a:t>
            </a:r>
            <a:endParaRPr b="1"/>
          </a:p>
        </p:txBody>
      </p:sp>
      <p:sp>
        <p:nvSpPr>
          <p:cNvPr id="420" name="Google Shape;420;p56"/>
          <p:cNvSpPr txBox="1"/>
          <p:nvPr>
            <p:ph idx="1" type="body"/>
          </p:nvPr>
        </p:nvSpPr>
        <p:spPr>
          <a:xfrm>
            <a:off x="965275" y="1096800"/>
            <a:ext cx="7371000" cy="338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 sz="1200">
                <a:latin typeface="Arial"/>
                <a:ea typeface="Arial"/>
                <a:cs typeface="Arial"/>
                <a:sym typeface="Arial"/>
              </a:rPr>
              <a:t>1. Index</a:t>
            </a:r>
            <a:endParaRPr b="1" sz="1200"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</a:pPr>
            <a:r>
              <a:rPr lang="en-GB" sz="1200">
                <a:latin typeface="Arial"/>
                <a:ea typeface="Arial"/>
                <a:cs typeface="Arial"/>
                <a:sym typeface="Arial"/>
              </a:rPr>
              <a:t>A container/database to store and manage all vectors.</a:t>
            </a:r>
            <a:br>
              <a:rPr lang="en-GB" sz="1200">
                <a:latin typeface="Arial"/>
                <a:ea typeface="Arial"/>
                <a:cs typeface="Arial"/>
                <a:sym typeface="Arial"/>
              </a:rPr>
            </a:br>
            <a:endParaRPr sz="1200"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</a:pPr>
            <a:r>
              <a:rPr lang="en-GB" sz="1200">
                <a:latin typeface="Arial"/>
                <a:ea typeface="Arial"/>
                <a:cs typeface="Arial"/>
                <a:sym typeface="Arial"/>
              </a:rPr>
              <a:t>Organizes data for efficient search and retrieval.</a:t>
            </a:r>
            <a:endParaRPr sz="12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 sz="1200">
                <a:latin typeface="Arial"/>
                <a:ea typeface="Arial"/>
                <a:cs typeface="Arial"/>
                <a:sym typeface="Arial"/>
              </a:rPr>
              <a:t>2. Namespace</a:t>
            </a:r>
            <a:endParaRPr b="1" sz="1200"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</a:pPr>
            <a:r>
              <a:rPr lang="en-GB" sz="1200">
                <a:latin typeface="Arial"/>
                <a:ea typeface="Arial"/>
                <a:cs typeface="Arial"/>
                <a:sym typeface="Arial"/>
              </a:rPr>
              <a:t>A logical grouping inside an index (like a sub-folder).</a:t>
            </a:r>
            <a:br>
              <a:rPr lang="en-GB" sz="1200">
                <a:latin typeface="Arial"/>
                <a:ea typeface="Arial"/>
                <a:cs typeface="Arial"/>
                <a:sym typeface="Arial"/>
              </a:rPr>
            </a:br>
            <a:endParaRPr sz="1200"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</a:pPr>
            <a:r>
              <a:rPr lang="en-GB" sz="1200">
                <a:latin typeface="Arial"/>
                <a:ea typeface="Arial"/>
                <a:cs typeface="Arial"/>
                <a:sym typeface="Arial"/>
              </a:rPr>
              <a:t>Keeps datasets separate without multiple indexes.</a:t>
            </a:r>
            <a:endParaRPr sz="12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 sz="1200">
                <a:latin typeface="Arial"/>
                <a:ea typeface="Arial"/>
                <a:cs typeface="Arial"/>
                <a:sym typeface="Arial"/>
              </a:rPr>
              <a:t>3. Vector</a:t>
            </a:r>
            <a:endParaRPr b="1" sz="1200"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</a:pPr>
            <a:r>
              <a:rPr lang="en-GB" sz="1200">
                <a:latin typeface="Arial"/>
                <a:ea typeface="Arial"/>
                <a:cs typeface="Arial"/>
                <a:sym typeface="Arial"/>
              </a:rPr>
              <a:t>A list of numbers representing data (text, images, etc.) </a:t>
            </a:r>
            <a:endParaRPr sz="1200">
              <a:latin typeface="Arial"/>
              <a:ea typeface="Arial"/>
              <a:cs typeface="Arial"/>
              <a:sym typeface="Arial"/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200">
                <a:latin typeface="Arial"/>
                <a:ea typeface="Arial"/>
                <a:cs typeface="Arial"/>
                <a:sym typeface="Arial"/>
              </a:rPr>
              <a:t>mathematically.</a:t>
            </a:r>
            <a:endParaRPr sz="1200"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</a:pPr>
            <a:r>
              <a:rPr lang="en-GB" sz="1200">
                <a:latin typeface="Arial"/>
                <a:ea typeface="Arial"/>
                <a:cs typeface="Arial"/>
                <a:sym typeface="Arial"/>
              </a:rPr>
              <a:t>Enables similarity comparison between data points.</a:t>
            </a:r>
            <a:endParaRPr sz="12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200"/>
          </a:p>
        </p:txBody>
      </p:sp>
      <p:pic>
        <p:nvPicPr>
          <p:cNvPr id="421" name="Google Shape;421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32625" y="928800"/>
            <a:ext cx="3006250" cy="37178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57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buNone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Advantages of Pinecone</a:t>
            </a:r>
            <a:endParaRPr sz="3500"/>
          </a:p>
        </p:txBody>
      </p:sp>
      <p:sp>
        <p:nvSpPr>
          <p:cNvPr id="427" name="Google Shape;427;p57"/>
          <p:cNvSpPr txBox="1"/>
          <p:nvPr>
            <p:ph idx="1" type="body"/>
          </p:nvPr>
        </p:nvSpPr>
        <p:spPr>
          <a:xfrm>
            <a:off x="1297500" y="1179000"/>
            <a:ext cx="7038900" cy="329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Arial"/>
              <a:buChar char="●"/>
            </a:pPr>
            <a:r>
              <a:rPr b="1" lang="en-GB" sz="1700">
                <a:latin typeface="Arial"/>
                <a:ea typeface="Arial"/>
                <a:cs typeface="Arial"/>
                <a:sym typeface="Arial"/>
              </a:rPr>
              <a:t>Fully managed</a:t>
            </a:r>
            <a:r>
              <a:rPr lang="en-GB" sz="1700">
                <a:latin typeface="Arial"/>
                <a:ea typeface="Arial"/>
                <a:cs typeface="Arial"/>
                <a:sym typeface="Arial"/>
              </a:rPr>
              <a:t> – no infrastructure maintenance.</a:t>
            </a:r>
            <a:br>
              <a:rPr lang="en-GB" sz="1700">
                <a:latin typeface="Arial"/>
                <a:ea typeface="Arial"/>
                <a:cs typeface="Arial"/>
                <a:sym typeface="Arial"/>
              </a:rPr>
            </a:b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Arial"/>
              <a:buChar char="●"/>
            </a:pPr>
            <a:r>
              <a:rPr b="1" lang="en-GB" sz="1700">
                <a:latin typeface="Arial"/>
                <a:ea typeface="Arial"/>
                <a:cs typeface="Arial"/>
                <a:sym typeface="Arial"/>
              </a:rPr>
              <a:t>Highly scalable</a:t>
            </a:r>
            <a:r>
              <a:rPr lang="en-GB" sz="1700">
                <a:latin typeface="Arial"/>
                <a:ea typeface="Arial"/>
                <a:cs typeface="Arial"/>
                <a:sym typeface="Arial"/>
              </a:rPr>
              <a:t> – handles millions of vectors.</a:t>
            </a:r>
            <a:br>
              <a:rPr lang="en-GB" sz="1700">
                <a:latin typeface="Arial"/>
                <a:ea typeface="Arial"/>
                <a:cs typeface="Arial"/>
                <a:sym typeface="Arial"/>
              </a:rPr>
            </a:b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Arial"/>
              <a:buChar char="●"/>
            </a:pPr>
            <a:r>
              <a:rPr b="1" lang="en-GB" sz="1700">
                <a:latin typeface="Arial"/>
                <a:ea typeface="Arial"/>
                <a:cs typeface="Arial"/>
                <a:sym typeface="Arial"/>
              </a:rPr>
              <a:t>Fast and accurate</a:t>
            </a:r>
            <a:r>
              <a:rPr lang="en-GB" sz="1700">
                <a:latin typeface="Arial"/>
                <a:ea typeface="Arial"/>
                <a:cs typeface="Arial"/>
                <a:sym typeface="Arial"/>
              </a:rPr>
              <a:t> vector similarity search.</a:t>
            </a:r>
            <a:br>
              <a:rPr lang="en-GB" sz="1700">
                <a:latin typeface="Arial"/>
                <a:ea typeface="Arial"/>
                <a:cs typeface="Arial"/>
                <a:sym typeface="Arial"/>
              </a:rPr>
            </a:b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Arial"/>
              <a:buChar char="●"/>
            </a:pPr>
            <a:r>
              <a:rPr lang="en-GB" sz="1700">
                <a:latin typeface="Arial"/>
                <a:ea typeface="Arial"/>
                <a:cs typeface="Arial"/>
                <a:sym typeface="Arial"/>
              </a:rPr>
              <a:t>Built-in </a:t>
            </a:r>
            <a:r>
              <a:rPr b="1" lang="en-GB" sz="1700">
                <a:latin typeface="Arial"/>
                <a:ea typeface="Arial"/>
                <a:cs typeface="Arial"/>
                <a:sym typeface="Arial"/>
              </a:rPr>
              <a:t>metadata filtering</a:t>
            </a:r>
            <a:r>
              <a:rPr lang="en-GB" sz="1700">
                <a:latin typeface="Arial"/>
                <a:ea typeface="Arial"/>
                <a:cs typeface="Arial"/>
                <a:sym typeface="Arial"/>
              </a:rPr>
              <a:t> and namespaces.</a:t>
            </a:r>
            <a:br>
              <a:rPr lang="en-GB" sz="1700">
                <a:latin typeface="Arial"/>
                <a:ea typeface="Arial"/>
                <a:cs typeface="Arial"/>
                <a:sym typeface="Arial"/>
              </a:rPr>
            </a:b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Arial"/>
              <a:buChar char="●"/>
            </a:pPr>
            <a:r>
              <a:rPr b="1" lang="en-GB" sz="1700">
                <a:latin typeface="Arial"/>
                <a:ea typeface="Arial"/>
                <a:cs typeface="Arial"/>
                <a:sym typeface="Arial"/>
              </a:rPr>
              <a:t>Real-time updates</a:t>
            </a:r>
            <a:r>
              <a:rPr lang="en-GB" sz="1700">
                <a:latin typeface="Arial"/>
                <a:ea typeface="Arial"/>
                <a:cs typeface="Arial"/>
                <a:sym typeface="Arial"/>
              </a:rPr>
              <a:t> and low-latency search.</a:t>
            </a: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58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buNone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Disadvantages of Pinecone</a:t>
            </a:r>
            <a:endParaRPr b="1" sz="3500"/>
          </a:p>
        </p:txBody>
      </p:sp>
      <p:sp>
        <p:nvSpPr>
          <p:cNvPr id="433" name="Google Shape;433;p58"/>
          <p:cNvSpPr txBox="1"/>
          <p:nvPr>
            <p:ph idx="1" type="body"/>
          </p:nvPr>
        </p:nvSpPr>
        <p:spPr>
          <a:xfrm>
            <a:off x="1297500" y="1190750"/>
            <a:ext cx="7038900" cy="328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Arial"/>
              <a:buChar char="●"/>
            </a:pPr>
            <a:r>
              <a:rPr b="1" lang="en-GB" sz="1700">
                <a:latin typeface="Arial"/>
                <a:ea typeface="Arial"/>
                <a:cs typeface="Arial"/>
                <a:sym typeface="Arial"/>
              </a:rPr>
              <a:t>Paid service</a:t>
            </a:r>
            <a:r>
              <a:rPr lang="en-GB" sz="1700">
                <a:latin typeface="Arial"/>
                <a:ea typeface="Arial"/>
                <a:cs typeface="Arial"/>
                <a:sym typeface="Arial"/>
              </a:rPr>
              <a:t> – not open-source (free tier has limits).</a:t>
            </a:r>
            <a:br>
              <a:rPr lang="en-GB" sz="1700">
                <a:latin typeface="Arial"/>
                <a:ea typeface="Arial"/>
                <a:cs typeface="Arial"/>
                <a:sym typeface="Arial"/>
              </a:rPr>
            </a:b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Arial"/>
              <a:buChar char="●"/>
            </a:pPr>
            <a:r>
              <a:rPr b="1" lang="en-GB" sz="1700">
                <a:latin typeface="Arial"/>
                <a:ea typeface="Arial"/>
                <a:cs typeface="Arial"/>
                <a:sym typeface="Arial"/>
              </a:rPr>
              <a:t>Cloud-dependent</a:t>
            </a:r>
            <a:r>
              <a:rPr lang="en-GB" sz="1700">
                <a:latin typeface="Arial"/>
                <a:ea typeface="Arial"/>
                <a:cs typeface="Arial"/>
                <a:sym typeface="Arial"/>
              </a:rPr>
              <a:t> – no fully offline/local version.</a:t>
            </a:r>
            <a:br>
              <a:rPr lang="en-GB" sz="1700">
                <a:latin typeface="Arial"/>
                <a:ea typeface="Arial"/>
                <a:cs typeface="Arial"/>
                <a:sym typeface="Arial"/>
              </a:rPr>
            </a:b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Arial"/>
              <a:buChar char="●"/>
            </a:pPr>
            <a:r>
              <a:rPr lang="en-GB" sz="1700">
                <a:latin typeface="Arial"/>
                <a:ea typeface="Arial"/>
                <a:cs typeface="Arial"/>
                <a:sym typeface="Arial"/>
              </a:rPr>
              <a:t>Less flexibility than open-source tools (e.g., FAISS).</a:t>
            </a:r>
            <a:br>
              <a:rPr lang="en-GB" sz="1700">
                <a:latin typeface="Arial"/>
                <a:ea typeface="Arial"/>
                <a:cs typeface="Arial"/>
                <a:sym typeface="Arial"/>
              </a:rPr>
            </a:b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Arial"/>
              <a:buChar char="●"/>
            </a:pPr>
            <a:r>
              <a:rPr lang="en-GB" sz="1700">
                <a:latin typeface="Arial"/>
                <a:ea typeface="Arial"/>
                <a:cs typeface="Arial"/>
                <a:sym typeface="Arial"/>
              </a:rPr>
              <a:t>Not ideal for small, lightweight/local projects.</a:t>
            </a: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59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/>
              <a:t>When to Use Pinecone ?</a:t>
            </a:r>
            <a:endParaRPr b="1"/>
          </a:p>
        </p:txBody>
      </p:sp>
      <p:sp>
        <p:nvSpPr>
          <p:cNvPr id="439" name="Google Shape;439;p59"/>
          <p:cNvSpPr txBox="1"/>
          <p:nvPr>
            <p:ph idx="1" type="body"/>
          </p:nvPr>
        </p:nvSpPr>
        <p:spPr>
          <a:xfrm>
            <a:off x="1297500" y="1120300"/>
            <a:ext cx="7038900" cy="335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600">
                <a:latin typeface="Arial"/>
                <a:ea typeface="Arial"/>
                <a:cs typeface="Arial"/>
                <a:sym typeface="Arial"/>
              </a:rPr>
              <a:t>Use Pinecone when: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●"/>
            </a:pPr>
            <a:r>
              <a:rPr lang="en-GB" sz="1600">
                <a:latin typeface="Arial"/>
                <a:ea typeface="Arial"/>
                <a:cs typeface="Arial"/>
                <a:sym typeface="Arial"/>
              </a:rPr>
              <a:t>You need </a:t>
            </a:r>
            <a:r>
              <a:rPr b="1" lang="en-GB" sz="1600">
                <a:latin typeface="Arial"/>
                <a:ea typeface="Arial"/>
                <a:cs typeface="Arial"/>
                <a:sym typeface="Arial"/>
              </a:rPr>
              <a:t>production-grade vector search</a:t>
            </a:r>
            <a:r>
              <a:rPr lang="en-GB" sz="1600">
                <a:latin typeface="Arial"/>
                <a:ea typeface="Arial"/>
                <a:cs typeface="Arial"/>
                <a:sym typeface="Arial"/>
              </a:rPr>
              <a:t> with minimal ops overhead.</a:t>
            </a:r>
            <a:br>
              <a:rPr lang="en-GB" sz="1600">
                <a:latin typeface="Arial"/>
                <a:ea typeface="Arial"/>
                <a:cs typeface="Arial"/>
                <a:sym typeface="Arial"/>
              </a:rPr>
            </a:b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●"/>
            </a:pPr>
            <a:r>
              <a:rPr lang="en-GB" sz="1600">
                <a:latin typeface="Arial"/>
                <a:ea typeface="Arial"/>
                <a:cs typeface="Arial"/>
                <a:sym typeface="Arial"/>
              </a:rPr>
              <a:t>You’re scaling to </a:t>
            </a:r>
            <a:r>
              <a:rPr b="1" lang="en-GB" sz="1600">
                <a:latin typeface="Arial"/>
                <a:ea typeface="Arial"/>
                <a:cs typeface="Arial"/>
                <a:sym typeface="Arial"/>
              </a:rPr>
              <a:t>millions of documents or queries</a:t>
            </a:r>
            <a:r>
              <a:rPr lang="en-GB" sz="1600">
                <a:latin typeface="Arial"/>
                <a:ea typeface="Arial"/>
                <a:cs typeface="Arial"/>
                <a:sym typeface="Arial"/>
              </a:rPr>
              <a:t>.</a:t>
            </a:r>
            <a:br>
              <a:rPr lang="en-GB" sz="1600">
                <a:latin typeface="Arial"/>
                <a:ea typeface="Arial"/>
                <a:cs typeface="Arial"/>
                <a:sym typeface="Arial"/>
              </a:rPr>
            </a:b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●"/>
            </a:pPr>
            <a:r>
              <a:rPr lang="en-GB" sz="1600">
                <a:latin typeface="Arial"/>
                <a:ea typeface="Arial"/>
                <a:cs typeface="Arial"/>
                <a:sym typeface="Arial"/>
              </a:rPr>
              <a:t>You want </a:t>
            </a:r>
            <a:r>
              <a:rPr b="1" lang="en-GB" sz="1600">
                <a:latin typeface="Arial"/>
                <a:ea typeface="Arial"/>
                <a:cs typeface="Arial"/>
                <a:sym typeface="Arial"/>
              </a:rPr>
              <a:t>real-time search performance</a:t>
            </a:r>
            <a:r>
              <a:rPr lang="en-GB" sz="1600">
                <a:latin typeface="Arial"/>
                <a:ea typeface="Arial"/>
                <a:cs typeface="Arial"/>
                <a:sym typeface="Arial"/>
              </a:rPr>
              <a:t> in a RAG system.</a:t>
            </a:r>
            <a:br>
              <a:rPr lang="en-GB" sz="1600">
                <a:latin typeface="Arial"/>
                <a:ea typeface="Arial"/>
                <a:cs typeface="Arial"/>
                <a:sym typeface="Arial"/>
              </a:rPr>
            </a:b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●"/>
            </a:pPr>
            <a:r>
              <a:rPr lang="en-GB" sz="1600">
                <a:latin typeface="Arial"/>
                <a:ea typeface="Arial"/>
                <a:cs typeface="Arial"/>
                <a:sym typeface="Arial"/>
              </a:rPr>
              <a:t>You prefer a </a:t>
            </a:r>
            <a:r>
              <a:rPr b="1" lang="en-GB" sz="1600">
                <a:latin typeface="Arial"/>
                <a:ea typeface="Arial"/>
                <a:cs typeface="Arial"/>
                <a:sym typeface="Arial"/>
              </a:rPr>
              <a:t>plug-and-play API</a:t>
            </a:r>
            <a:r>
              <a:rPr lang="en-GB" sz="1600">
                <a:latin typeface="Arial"/>
                <a:ea typeface="Arial"/>
                <a:cs typeface="Arial"/>
                <a:sym typeface="Arial"/>
              </a:rPr>
              <a:t> over managing FAISS manually.</a:t>
            </a:r>
            <a:br>
              <a:rPr lang="en-GB" sz="1500">
                <a:latin typeface="Arial"/>
                <a:ea typeface="Arial"/>
                <a:cs typeface="Arial"/>
                <a:sym typeface="Arial"/>
              </a:rPr>
            </a:b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70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60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/>
              <a:t>Application in RAG </a:t>
            </a:r>
            <a:endParaRPr b="1"/>
          </a:p>
        </p:txBody>
      </p:sp>
      <p:sp>
        <p:nvSpPr>
          <p:cNvPr id="445" name="Google Shape;445;p60"/>
          <p:cNvSpPr txBox="1"/>
          <p:nvPr>
            <p:ph idx="1" type="body"/>
          </p:nvPr>
        </p:nvSpPr>
        <p:spPr>
          <a:xfrm>
            <a:off x="1297500" y="1049850"/>
            <a:ext cx="7038900" cy="342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latin typeface="Arial"/>
                <a:ea typeface="Arial"/>
                <a:cs typeface="Arial"/>
                <a:sym typeface="Arial"/>
              </a:rPr>
              <a:t>Stores </a:t>
            </a:r>
            <a:r>
              <a:rPr b="1" lang="en-GB" sz="1400">
                <a:latin typeface="Arial"/>
                <a:ea typeface="Arial"/>
                <a:cs typeface="Arial"/>
                <a:sym typeface="Arial"/>
              </a:rPr>
              <a:t>text embeddings of documents</a:t>
            </a:r>
            <a:r>
              <a:rPr lang="en-GB" sz="1400">
                <a:latin typeface="Arial"/>
                <a:ea typeface="Arial"/>
                <a:cs typeface="Arial"/>
                <a:sym typeface="Arial"/>
              </a:rPr>
              <a:t> or knowledge chunks.</a:t>
            </a:r>
            <a:br>
              <a:rPr lang="en-GB" sz="1400">
                <a:latin typeface="Arial"/>
                <a:ea typeface="Arial"/>
                <a:cs typeface="Arial"/>
                <a:sym typeface="Arial"/>
              </a:rPr>
            </a:b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400">
                <a:latin typeface="Arial"/>
                <a:ea typeface="Arial"/>
                <a:cs typeface="Arial"/>
                <a:sym typeface="Arial"/>
              </a:rPr>
              <a:t>When a user asks a question:</a:t>
            </a:r>
            <a:br>
              <a:rPr lang="en-GB" sz="1400">
                <a:latin typeface="Arial"/>
                <a:ea typeface="Arial"/>
                <a:cs typeface="Arial"/>
                <a:sym typeface="Arial"/>
              </a:rPr>
            </a:b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●"/>
            </a:pPr>
            <a:r>
              <a:rPr lang="en-GB" sz="1400">
                <a:latin typeface="Arial"/>
                <a:ea typeface="Arial"/>
                <a:cs typeface="Arial"/>
                <a:sym typeface="Arial"/>
              </a:rPr>
              <a:t>The query is embedded → sent to Pinecone.</a:t>
            </a:r>
            <a:br>
              <a:rPr lang="en-GB" sz="1400">
                <a:latin typeface="Arial"/>
                <a:ea typeface="Arial"/>
                <a:cs typeface="Arial"/>
                <a:sym typeface="Arial"/>
              </a:rPr>
            </a:b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●"/>
            </a:pPr>
            <a:r>
              <a:rPr lang="en-GB" sz="1400">
                <a:latin typeface="Arial"/>
                <a:ea typeface="Arial"/>
                <a:cs typeface="Arial"/>
                <a:sym typeface="Arial"/>
              </a:rPr>
              <a:t>Pinecone returns top-K similar chunks.</a:t>
            </a:r>
            <a:br>
              <a:rPr lang="en-GB" sz="1400">
                <a:latin typeface="Arial"/>
                <a:ea typeface="Arial"/>
                <a:cs typeface="Arial"/>
                <a:sym typeface="Arial"/>
              </a:rPr>
            </a:b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●"/>
            </a:pPr>
            <a:r>
              <a:rPr lang="en-GB" sz="1400">
                <a:latin typeface="Arial"/>
                <a:ea typeface="Arial"/>
                <a:cs typeface="Arial"/>
                <a:sym typeface="Arial"/>
              </a:rPr>
              <a:t>The retrieved context is passed to a </a:t>
            </a:r>
            <a:r>
              <a:rPr b="1" lang="en-GB" sz="1400">
                <a:latin typeface="Arial"/>
                <a:ea typeface="Arial"/>
                <a:cs typeface="Arial"/>
                <a:sym typeface="Arial"/>
              </a:rPr>
              <a:t>language model</a:t>
            </a:r>
            <a:r>
              <a:rPr lang="en-GB" sz="1400">
                <a:latin typeface="Arial"/>
                <a:ea typeface="Arial"/>
                <a:cs typeface="Arial"/>
                <a:sym typeface="Arial"/>
              </a:rPr>
              <a:t> for answer generation.</a:t>
            </a:r>
            <a:br>
              <a:rPr lang="en-GB" sz="1400">
                <a:latin typeface="Arial"/>
                <a:ea typeface="Arial"/>
                <a:cs typeface="Arial"/>
                <a:sym typeface="Arial"/>
              </a:rPr>
            </a:b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400">
                <a:latin typeface="Arial"/>
                <a:ea typeface="Arial"/>
                <a:cs typeface="Arial"/>
                <a:sym typeface="Arial"/>
              </a:rPr>
              <a:t>Enhances </a:t>
            </a:r>
            <a:r>
              <a:rPr b="1" lang="en-GB" sz="1400">
                <a:latin typeface="Arial"/>
                <a:ea typeface="Arial"/>
                <a:cs typeface="Arial"/>
                <a:sym typeface="Arial"/>
              </a:rPr>
              <a:t>context relevance</a:t>
            </a:r>
            <a:r>
              <a:rPr lang="en-GB" sz="1400">
                <a:latin typeface="Arial"/>
                <a:ea typeface="Arial"/>
                <a:cs typeface="Arial"/>
                <a:sym typeface="Arial"/>
              </a:rPr>
              <a:t>, reduces hallucination, and supports </a:t>
            </a:r>
            <a:r>
              <a:rPr b="1" lang="en-GB" sz="1400">
                <a:latin typeface="Arial"/>
                <a:ea typeface="Arial"/>
                <a:cs typeface="Arial"/>
                <a:sym typeface="Arial"/>
              </a:rPr>
              <a:t>grounded generation</a:t>
            </a:r>
            <a:r>
              <a:rPr lang="en-GB" sz="1400">
                <a:latin typeface="Arial"/>
                <a:ea typeface="Arial"/>
                <a:cs typeface="Arial"/>
                <a:sym typeface="Arial"/>
              </a:rPr>
              <a:t>.</a:t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449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61"/>
          <p:cNvSpPr txBox="1"/>
          <p:nvPr>
            <p:ph type="title"/>
          </p:nvPr>
        </p:nvSpPr>
        <p:spPr>
          <a:xfrm>
            <a:off x="0" y="0"/>
            <a:ext cx="9144000" cy="800100"/>
          </a:xfrm>
          <a:prstGeom prst="rect">
            <a:avLst/>
          </a:prstGeom>
          <a:solidFill>
            <a:srgbClr val="000000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600"/>
              <a:t>WORKFLOW</a:t>
            </a:r>
            <a:endParaRPr b="1" sz="3600"/>
          </a:p>
        </p:txBody>
      </p:sp>
      <p:sp>
        <p:nvSpPr>
          <p:cNvPr id="451" name="Google Shape;451;p61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452" name="Google Shape;452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800100"/>
            <a:ext cx="9144000" cy="4343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3" name="Google Shape;453;p6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800100"/>
            <a:ext cx="9144000" cy="4495799"/>
          </a:xfrm>
          <a:prstGeom prst="rect">
            <a:avLst/>
          </a:prstGeom>
          <a:noFill/>
          <a:ln>
            <a:noFill/>
          </a:ln>
        </p:spPr>
      </p:pic>
      <p:sp>
        <p:nvSpPr>
          <p:cNvPr id="454" name="Google Shape;454;p61"/>
          <p:cNvSpPr txBox="1"/>
          <p:nvPr/>
        </p:nvSpPr>
        <p:spPr>
          <a:xfrm>
            <a:off x="2574100" y="1155525"/>
            <a:ext cx="645900" cy="2937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>
                <a:solidFill>
                  <a:srgbClr val="111827"/>
                </a:solidFill>
                <a:latin typeface="Lato"/>
                <a:ea typeface="Lato"/>
                <a:cs typeface="Lato"/>
                <a:sym typeface="Lato"/>
              </a:rPr>
              <a:t>Embedding model</a:t>
            </a:r>
            <a:endParaRPr sz="700">
              <a:solidFill>
                <a:srgbClr val="111827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455" name="Google Shape;455;p61"/>
          <p:cNvSpPr txBox="1"/>
          <p:nvPr/>
        </p:nvSpPr>
        <p:spPr>
          <a:xfrm>
            <a:off x="2574100" y="2047750"/>
            <a:ext cx="645900" cy="2937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>
                <a:solidFill>
                  <a:srgbClr val="111827"/>
                </a:solidFill>
                <a:latin typeface="Lato"/>
                <a:ea typeface="Lato"/>
                <a:cs typeface="Lato"/>
                <a:sym typeface="Lato"/>
              </a:rPr>
              <a:t>Embedding model</a:t>
            </a:r>
            <a:endParaRPr sz="700">
              <a:solidFill>
                <a:srgbClr val="111827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ustom.xml><?xml version="1.0" encoding="utf-8"?>
<Properties xmlns:vt="http://schemas.openxmlformats.org/officeDocument/2006/docPropsVTypes" xmlns="http://schemas.openxmlformats.org/officeDocument/2006/custom-properties">
  <property fmtid="{D5CDD505-2E9C-101B-9397-08002B2CF9AE}" pid="2" name="MSIP_Label_8b2f352f-1426-4c06-b37f-b45354dc6e14_Enabled">
    <vt:lpwstr>True</vt:lpwstr>
  </property>
  <property fmtid="{D5CDD505-2E9C-101B-9397-08002B2CF9AE}" pid="3" name="MSIP_Label_8b2f352f-1426-4c06-b37f-b45354dc6e14_SiteId">
    <vt:lpwstr>b6417cd0-1f73-4471-9a39-20953822a34a</vt:lpwstr>
  </property>
  <property fmtid="{D5CDD505-2E9C-101B-9397-08002B2CF9AE}" pid="4" name="MSIP_Label_8b2f352f-1426-4c06-b37f-b45354dc6e14_SetDate">
    <vt:lpwstr>2025-06-17T00:43:43Z</vt:lpwstr>
  </property>
  <property fmtid="{D5CDD505-2E9C-101B-9397-08002B2CF9AE}" pid="5" name="MSIP_Label_8b2f352f-1426-4c06-b37f-b45354dc6e14_Name">
    <vt:lpwstr>Sensitive</vt:lpwstr>
  </property>
  <property fmtid="{D5CDD505-2E9C-101B-9397-08002B2CF9AE}" pid="6" name="MSIP_Label_8b2f352f-1426-4c06-b37f-b45354dc6e14_ActionId">
    <vt:lpwstr>d5282720-9be3-4499-af12-675eb767e083</vt:lpwstr>
  </property>
  <property fmtid="{D5CDD505-2E9C-101B-9397-08002B2CF9AE}" pid="7" name="MSIP_Label_8b2f352f-1426-4c06-b37f-b45354dc6e14_Removed">
    <vt:lpwstr>False</vt:lpwstr>
  </property>
  <property fmtid="{D5CDD505-2E9C-101B-9397-08002B2CF9AE}" pid="8" name="MSIP_Label_8b2f352f-1426-4c06-b37f-b45354dc6e14_Extended_MSFT_Method">
    <vt:lpwstr>Standard</vt:lpwstr>
  </property>
  <property fmtid="{D5CDD505-2E9C-101B-9397-08002B2CF9AE}" pid="9" name="Sensitivity">
    <vt:lpwstr>Sensitive</vt:lpwstr>
  </property>
</Properties>
</file>