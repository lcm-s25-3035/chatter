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embeddedFontLst>
    <p:embeddedFont>
      <p:font typeface="Montserrat"/>
      <p:regular r:id="rId56"/>
      <p:bold r:id="rId57"/>
      <p:italic r:id="rId58"/>
      <p:boldItalic r:id="rId59"/>
    </p:embeddedFont>
    <p:embeddedFont>
      <p:font typeface="Lato"/>
      <p:regular r:id="rId60"/>
      <p:bold r:id="rId61"/>
      <p:italic r:id="rId62"/>
      <p:boldItalic r:id="rId63"/>
    </p:embeddedFont>
    <p:embeddedFont>
      <p:font typeface="Roboto Mon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E40BB6-2E75-4D1F-8B56-32D25E285127}">
  <a:tblStyle styleId="{7BE40BB6-2E75-4D1F-8B56-32D25E2851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ato-italic.fntdata"/><Relationship Id="rId61" Type="http://schemas.openxmlformats.org/officeDocument/2006/relationships/font" Target="fonts/Lato-bold.fntdata"/><Relationship Id="rId20" Type="http://schemas.openxmlformats.org/officeDocument/2006/relationships/slide" Target="slides/slide14.xml"/><Relationship Id="rId64" Type="http://schemas.openxmlformats.org/officeDocument/2006/relationships/font" Target="fonts/RobotoMono-regular.fntdata"/><Relationship Id="rId63" Type="http://schemas.openxmlformats.org/officeDocument/2006/relationships/font" Target="fonts/Lato-boldItalic.fntdata"/><Relationship Id="rId22" Type="http://schemas.openxmlformats.org/officeDocument/2006/relationships/slide" Target="slides/slide16.xml"/><Relationship Id="rId66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65" Type="http://schemas.openxmlformats.org/officeDocument/2006/relationships/font" Target="fonts/RobotoMon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RobotoMono-boldItalic.fntdata"/><Relationship Id="rId60" Type="http://schemas.openxmlformats.org/officeDocument/2006/relationships/font" Target="fonts/Lat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Montserrat-bold.fntdata"/><Relationship Id="rId12" Type="http://schemas.openxmlformats.org/officeDocument/2006/relationships/slide" Target="slides/slide6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17996335c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17996335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17996335c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17996335c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3f64f1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03f64f1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f0dcd5a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f0dcd5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e473e7a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e473e7a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e320e54bc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e320e54bc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03cb3c9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03cb3c9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052320cd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052320c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1c507b2d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1c507b2d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1fced9602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1fced9602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1fced9602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1fced9602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1c507b2d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1c507b2d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1c507b2d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1c507b2d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1c507b2de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1c507b2d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052320c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6052320c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052320c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052320c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1c507b2de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1c507b2de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082dbd38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082dbd38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082dbd38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082dbd38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082dbd38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082dbd38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fced9602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fced9602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082dbd3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082dbd3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1fced9602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61fced9602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1fced9602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1fced9602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082dbd38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082dbd38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f0dcd5a8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f0dcd5a8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e320e54bc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5e320e54bc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f0dcd5a8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f0dcd5a8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191a178c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191a178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171525dc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171525dc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171525dc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171525dc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171525dc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6171525dc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f0dcd5a8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f0dcd5a8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f0dcd5a8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f0dcd5a8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f0dcd5a8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5f0dcd5a8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f0dcd5a8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f0dcd5a8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0212bd7c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60212bd7c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0212bd7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60212bd7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0212bd7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60212bd7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191a178c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191a178c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191a178c4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191a178c4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191a178c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6191a178c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2094530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62094530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0212bd7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0212bd7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0212bd7c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0212bd7c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0212bd7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60212bd7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60212bd7c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60212bd7c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61c507b2d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61c507b2d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pinecone.io" TargetMode="External"/><Relationship Id="rId4" Type="http://schemas.openxmlformats.org/officeDocument/2006/relationships/hyperlink" Target="https://www.pinecone.io" TargetMode="External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25925" y="333500"/>
            <a:ext cx="57777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000"/>
              <a:t>VECTOR DATABASE</a:t>
            </a:r>
            <a:endParaRPr b="1" sz="40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537150" y="1625250"/>
            <a:ext cx="5249100" cy="31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Sneha Painuli [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C0933116]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Amita    	[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C0935607]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Japjeet Kaur	 (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C0937720]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Manjot Kaur [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C0938094]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Anju Bala </a:t>
            </a:r>
            <a:r>
              <a:rPr b="1" lang="en-GB" sz="2200">
                <a:latin typeface="Impact"/>
                <a:ea typeface="Impact"/>
                <a:cs typeface="Impact"/>
                <a:sym typeface="Impact"/>
              </a:rPr>
              <a:t>[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C0935847]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Nicolas [</a:t>
            </a:r>
            <a:r>
              <a:rPr lang="en-GB" sz="2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C0922995]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Brian Martinez </a:t>
            </a:r>
            <a:r>
              <a:rPr b="1" lang="en-GB" sz="2200">
                <a:latin typeface="Impact"/>
                <a:ea typeface="Impact"/>
                <a:cs typeface="Impact"/>
                <a:sym typeface="Impact"/>
              </a:rPr>
              <a:t>[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C0940439</a:t>
            </a:r>
            <a:r>
              <a:rPr b="1" lang="en-GB" sz="2200">
                <a:latin typeface="Impact"/>
                <a:ea typeface="Impact"/>
                <a:cs typeface="Impact"/>
                <a:sym typeface="Impact"/>
              </a:rPr>
              <a:t>]</a:t>
            </a:r>
            <a:endParaRPr b="1" sz="2200">
              <a:latin typeface="Impact"/>
              <a:ea typeface="Impact"/>
              <a:cs typeface="Impact"/>
              <a:sym typeface="Impact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Impact"/>
                <a:ea typeface="Impact"/>
                <a:cs typeface="Impact"/>
                <a:sym typeface="Impact"/>
              </a:rPr>
              <a:t>Krishna Mohan Gadepalli [</a:t>
            </a: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C0937251]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730425" y="3210575"/>
            <a:ext cx="23955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GROUP 6</a:t>
            </a:r>
            <a:endParaRPr sz="3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ctrTitle"/>
          </p:nvPr>
        </p:nvSpPr>
        <p:spPr>
          <a:xfrm>
            <a:off x="930050" y="143075"/>
            <a:ext cx="7624500" cy="4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r>
              <a:rPr lang="en-GB" sz="2966"/>
              <a:t>Why traditional databases fall short?</a:t>
            </a:r>
            <a:endParaRPr sz="29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lang="en-GB" sz="1611"/>
              <a:t>SQL/NoSQL database work well for structured data like: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/>
              <a:t>-numbers(e.g., marks, salary)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/>
              <a:t>-dates(e.g., DOB)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/>
              <a:t>Strings(e.g., names, emails)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</a:t>
            </a:r>
            <a:r>
              <a:rPr lang="en-GB" sz="1611"/>
              <a:t>But they struggle with unstructured data like: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r>
              <a:rPr lang="en-GB" sz="1611"/>
              <a:t>Text documents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🖼️</a:t>
            </a:r>
            <a:r>
              <a:rPr lang="en-GB" sz="1611"/>
              <a:t>Images 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🎧</a:t>
            </a:r>
            <a:r>
              <a:rPr lang="en-GB" sz="1611"/>
              <a:t>Audio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/>
              <a:t>The main limitation: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/>
              <a:t>-SQL/NoSQL can only perform keyword or exact value matches.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11"/>
              <a:t>-They don’t ‘understand’ what the text or image is really about.</a:t>
            </a:r>
            <a:endParaRPr sz="16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ctrTitle"/>
          </p:nvPr>
        </p:nvSpPr>
        <p:spPr>
          <a:xfrm>
            <a:off x="541050" y="612575"/>
            <a:ext cx="8013600" cy="42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 Semantic Search:Meaning-Based 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11">
                <a:latin typeface="Arial"/>
                <a:ea typeface="Arial"/>
                <a:cs typeface="Arial"/>
                <a:sym typeface="Arial"/>
              </a:rPr>
              <a:t>Semantic search finds information based on the </a:t>
            </a:r>
            <a:r>
              <a:rPr i="1" lang="en-GB" sz="1211">
                <a:latin typeface="Arial"/>
                <a:ea typeface="Arial"/>
                <a:cs typeface="Arial"/>
                <a:sym typeface="Arial"/>
              </a:rPr>
              <a:t>meaning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 of words, not just exact matches.</a:t>
            </a:r>
            <a:br>
              <a:rPr lang="en-GB" sz="1211">
                <a:latin typeface="Arial"/>
                <a:ea typeface="Arial"/>
                <a:cs typeface="Arial"/>
                <a:sym typeface="Arial"/>
              </a:rPr>
            </a:br>
            <a:r>
              <a:rPr lang="en-GB" sz="1211">
                <a:latin typeface="Arial"/>
                <a:ea typeface="Arial"/>
                <a:cs typeface="Arial"/>
                <a:sym typeface="Arial"/>
              </a:rPr>
              <a:t> For example, searching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"automobile"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 also returns results like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"car"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"vehicle"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even if those exact words weren’t used.</a:t>
            </a:r>
            <a:endParaRPr sz="12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Why is it powerful?</a:t>
            </a:r>
            <a:br>
              <a:rPr b="1" lang="en-GB" sz="1211">
                <a:latin typeface="Arial"/>
                <a:ea typeface="Arial"/>
                <a:cs typeface="Arial"/>
                <a:sym typeface="Arial"/>
              </a:rPr>
            </a:br>
            <a:r>
              <a:rPr lang="en-GB" sz="1211">
                <a:latin typeface="Arial"/>
                <a:ea typeface="Arial"/>
                <a:cs typeface="Arial"/>
                <a:sym typeface="Arial"/>
              </a:rPr>
              <a:t> It understands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context and intent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going beyond simple keyword matching to deliver more accurate and relevant results.</a:t>
            </a:r>
            <a:endParaRPr sz="12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💡 How it Works:</a:t>
            </a:r>
            <a:br>
              <a:rPr b="1" lang="en-GB" sz="1211">
                <a:latin typeface="Arial"/>
                <a:ea typeface="Arial"/>
                <a:cs typeface="Arial"/>
                <a:sym typeface="Arial"/>
              </a:rPr>
            </a:br>
            <a:r>
              <a:rPr lang="en-GB" sz="1211">
                <a:latin typeface="Arial"/>
                <a:ea typeface="Arial"/>
                <a:cs typeface="Arial"/>
                <a:sym typeface="Arial"/>
              </a:rPr>
              <a:t> It converts text into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vectors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—numerical representations of meaning—and compares these mathematically to find similar content.</a:t>
            </a:r>
            <a:endParaRPr sz="12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✅ Real-World Use Cases:</a:t>
            </a:r>
            <a:br>
              <a:rPr b="1" lang="en-GB" sz="12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211">
                <a:latin typeface="Arial"/>
                <a:ea typeface="Arial"/>
                <a:cs typeface="Arial"/>
                <a:sym typeface="Arial"/>
              </a:rPr>
              <a:t> Used in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Google Search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ChatGPT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YouTube recommendations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smart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resume matchers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legal document search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GB" sz="1211">
                <a:latin typeface="Arial"/>
                <a:ea typeface="Arial"/>
                <a:cs typeface="Arial"/>
                <a:sym typeface="Arial"/>
              </a:rPr>
              <a:t>AI chatbots</a:t>
            </a:r>
            <a:r>
              <a:rPr lang="en-GB" sz="1211">
                <a:latin typeface="Arial"/>
                <a:ea typeface="Arial"/>
                <a:cs typeface="Arial"/>
                <a:sym typeface="Arial"/>
              </a:rPr>
              <a:t>.</a:t>
            </a:r>
            <a:endParaRPr sz="12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ctrTitle"/>
          </p:nvPr>
        </p:nvSpPr>
        <p:spPr>
          <a:xfrm>
            <a:off x="341400" y="593375"/>
            <a:ext cx="81462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vector embedding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6"/>
              <a:t>Vector embeddings are numerical representations of data points that express different types of data as an array of numbers that machine learning models can process.</a:t>
            </a:r>
            <a:endParaRPr sz="13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6"/>
              <a:t>In the embedding space, synonyms or similar kind of </a:t>
            </a:r>
            <a:r>
              <a:rPr lang="en-GB" sz="1366"/>
              <a:t>words (king</a:t>
            </a:r>
            <a:r>
              <a:rPr lang="en-GB" sz="1366"/>
              <a:t> or man, queen or girl) </a:t>
            </a:r>
            <a:r>
              <a:rPr lang="en-GB" sz="1366"/>
              <a:t>tend</a:t>
            </a:r>
            <a:r>
              <a:rPr lang="en-GB" sz="1366"/>
              <a:t> to appear in similar contexts and end up having similar embeddings.</a:t>
            </a:r>
            <a:endParaRPr sz="13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6"/>
          </a:p>
        </p:txBody>
      </p:sp>
      <p:pic>
        <p:nvPicPr>
          <p:cNvPr id="152" name="Google Shape;152;p16" title="How-Embeddings-Wor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400" y="2571750"/>
            <a:ext cx="7731049" cy="20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VECTOR DATABASE</a:t>
            </a:r>
            <a:endParaRPr sz="3300"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4781800" y="1567550"/>
            <a:ext cx="3554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700"/>
              <a:t>A vector database is a specialized type of database designed to handle and process vectorized data,which are arrays of numerical values </a:t>
            </a:r>
            <a:r>
              <a:rPr lang="en-GB" sz="2700"/>
              <a:t>representing</a:t>
            </a:r>
            <a:r>
              <a:rPr lang="en-GB" sz="2700"/>
              <a:t> points in multidimensional space. A</a:t>
            </a:r>
            <a:r>
              <a:rPr lang="en-GB" sz="2700"/>
              <a:t> vector database indexes and store vector embeddings for faster retrieval and similarity search.</a:t>
            </a:r>
            <a:endParaRPr sz="2700"/>
          </a:p>
        </p:txBody>
      </p:sp>
      <p:pic>
        <p:nvPicPr>
          <p:cNvPr id="159" name="Google Shape;159;p17" title="Vector-Databases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4477000" cy="33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vector database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search - </a:t>
            </a:r>
            <a:r>
              <a:rPr lang="en-GB"/>
              <a:t>quickly find similar items based on their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Scalability -  handle large amounts of data efficiently.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Flexibility - works with various types of data like images, audio, video, and text.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Enhance performance - provide faster and more accurate search results.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 OF VECTOR DB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2600"/>
              <a:t>Recommendation systems—platforms like Netflix or Spotify use vector DB to recommend movies or songs based on your past </a:t>
            </a:r>
            <a:r>
              <a:rPr lang="en-GB" sz="2600"/>
              <a:t>preferences</a:t>
            </a:r>
            <a:r>
              <a:rPr lang="en-GB" sz="2600"/>
              <a:t>.</a:t>
            </a:r>
            <a:endParaRPr sz="2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2600"/>
              <a:t>Image search - google images Use vector DB to find </a:t>
            </a:r>
            <a:r>
              <a:rPr lang="en-GB" sz="2600"/>
              <a:t>visually similar images.</a:t>
            </a:r>
            <a:endParaRPr sz="2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2600"/>
              <a:t>Natural language processing - companies like OpenAI use vector DB to understand and generate human-like language to improve chatbots and translation services.</a:t>
            </a:r>
            <a:endParaRPr sz="2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sz="2600"/>
              <a:t>E-commerce - Amazon utilizes vector db to suggests products similar to the ones you have viewed or purchased 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ChromaDB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425625" y="1672625"/>
            <a:ext cx="3443700" cy="27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71462" lvl="0" marL="457200" rtl="0" algn="l">
              <a:spcBef>
                <a:spcPts val="1200"/>
              </a:spcBef>
              <a:spcAft>
                <a:spcPts val="0"/>
              </a:spcAft>
              <a:buSzPct val="54261"/>
              <a:buFont typeface="Arial"/>
              <a:buChar char="●"/>
            </a:pPr>
            <a:r>
              <a:rPr lang="en-GB" sz="4975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An open-source, </a:t>
            </a:r>
            <a:r>
              <a:rPr lang="en-GB" sz="4975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local-first vector database runs on your laptop or private server, no cloud dependency</a:t>
            </a:r>
            <a:endParaRPr sz="4975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2" lvl="0" marL="457200" rtl="0" algn="l">
              <a:spcBef>
                <a:spcPts val="0"/>
              </a:spcBef>
              <a:spcAft>
                <a:spcPts val="0"/>
              </a:spcAft>
              <a:buSzPct val="54261"/>
              <a:buFont typeface="Arial"/>
              <a:buChar char="●"/>
            </a:pPr>
            <a:r>
              <a:rPr lang="en-GB" sz="4975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Offers fast, private, and flexible data storage and retrieval</a:t>
            </a:r>
            <a:endParaRPr sz="4975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2" lvl="0" marL="457200" rtl="0" algn="l">
              <a:spcBef>
                <a:spcPts val="0"/>
              </a:spcBef>
              <a:spcAft>
                <a:spcPts val="0"/>
              </a:spcAft>
              <a:buSzPct val="54261"/>
              <a:buFont typeface="Arial"/>
              <a:buChar char="●"/>
            </a:pPr>
            <a:r>
              <a:rPr lang="en-GB" sz="4975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Converts complex data into high-dimensional vectors capturing semantic meaning</a:t>
            </a:r>
            <a:endParaRPr sz="4975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2" lvl="0" marL="457200" rtl="0" algn="l">
              <a:spcBef>
                <a:spcPts val="0"/>
              </a:spcBef>
              <a:spcAft>
                <a:spcPts val="0"/>
              </a:spcAft>
              <a:buSzPct val="54261"/>
              <a:buFont typeface="Arial"/>
              <a:buChar char="●"/>
            </a:pPr>
            <a:r>
              <a:rPr lang="en-GB" sz="4975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Supports advanced AI use cases such as semantic search, recommendation systems, and retrieval-augmented generation</a:t>
            </a:r>
            <a:br>
              <a:rPr lang="en-GB" sz="3375">
                <a:latin typeface="Arial"/>
                <a:ea typeface="Arial"/>
                <a:cs typeface="Arial"/>
                <a:sym typeface="Arial"/>
              </a:rPr>
            </a:br>
            <a:endParaRPr sz="33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3375">
                <a:latin typeface="Arial"/>
                <a:ea typeface="Arial"/>
                <a:cs typeface="Arial"/>
                <a:sym typeface="Arial"/>
              </a:rPr>
            </a:br>
            <a:endParaRPr sz="3375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0" title="ChromaDB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675" y="1191150"/>
            <a:ext cx="3443650" cy="17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Use ChromaDB Vectors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473100" y="818500"/>
            <a:ext cx="7863300" cy="39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It can work on both python as well as javascript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Generate Embeddings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Convert your raw data into vector form using an embedding model.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Create a Collection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Make a container in ChromaDB to hold your vectors and metadata.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Add Data to Collection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Insert embeddings, metadata, and unique IDs into your collection.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Query with Vector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Convert a search input into a vector and search for similar vectors in the collection.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Retrieve Results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Return the most similar items and use them in applications like semantic search or RAG.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Steps to use ChromaDB vector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0" y="1307850"/>
            <a:ext cx="9209700" cy="3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Step 1. Install chromadb                                                                                                          step 2. </a:t>
            </a:r>
            <a:r>
              <a:rPr lang="en-GB" sz="1150">
                <a:latin typeface="Arial"/>
                <a:ea typeface="Arial"/>
                <a:cs typeface="Arial"/>
                <a:sym typeface="Arial"/>
              </a:rPr>
              <a:t>Create a Chroma Client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50"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               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n-GB" sz="1100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sz="1100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6446"/>
                </a:solidFill>
                <a:highlight>
                  <a:srgbClr val="111827"/>
                </a:highlight>
                <a:latin typeface="Arial"/>
                <a:ea typeface="Arial"/>
                <a:cs typeface="Arial"/>
                <a:sym typeface="Arial"/>
              </a:rPr>
              <a:t>Py</a:t>
            </a:r>
            <a:endParaRPr/>
          </a:p>
        </p:txBody>
      </p:sp>
      <p:pic>
        <p:nvPicPr>
          <p:cNvPr id="191" name="Google Shape;191;p22" title="Screenshot 2025-06-08 1403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3425"/>
            <a:ext cx="3738024" cy="303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title="Screenshot 2025-06-08 1408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375" y="1803425"/>
            <a:ext cx="4656649" cy="11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355575" y="124875"/>
            <a:ext cx="8102700" cy="44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 create a collection: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Collections are where you'll store your embeddings, documents, and any additional metadata.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4: </a:t>
            </a:r>
            <a:r>
              <a:rPr b="1" lang="en-GB" sz="1150">
                <a:latin typeface="Arial"/>
                <a:ea typeface="Arial"/>
                <a:cs typeface="Arial"/>
                <a:sym typeface="Arial"/>
              </a:rPr>
              <a:t>Add some text documents to the collection</a:t>
            </a:r>
            <a:endParaRPr b="1"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Chroma will store your text and handle embedding and indexing automatically. You can also customize the embedding model. You must provide unique string IDs for your documents.</a:t>
            </a:r>
            <a:endParaRPr sz="1200">
              <a:solidFill>
                <a:srgbClr val="71717A"/>
              </a:solidFill>
              <a:highlight>
                <a:srgbClr val="111827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3" title="Screenshot 2025-06-08 1414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13" y="882650"/>
            <a:ext cx="7852825" cy="99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75" y="2929475"/>
            <a:ext cx="8570376" cy="16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243425" y="406400"/>
            <a:ext cx="8688900" cy="45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n-GB" sz="1650">
                <a:latin typeface="Arial"/>
                <a:ea typeface="Arial"/>
                <a:cs typeface="Arial"/>
                <a:sym typeface="Arial"/>
              </a:rPr>
              <a:t>5. Query the collection</a:t>
            </a:r>
            <a:endParaRPr b="1" sz="16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You can query the collection with a list of query texts, and Chroma will return the </a:t>
            </a:r>
            <a:r>
              <a:rPr lang="en-GB" sz="12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most similar results. It's that easy!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15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GB" sz="1100">
                <a:solidFill>
                  <a:srgbClr val="EA580C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n_results</a:t>
            </a:r>
            <a:r>
              <a:rPr lang="en-GB" sz="1200">
                <a:solidFill>
                  <a:srgbClr val="37415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not provided, Chroma will return 10 results by default. Here we only added 2 documents, so we set </a:t>
            </a:r>
            <a:r>
              <a:rPr lang="en-GB" sz="1100">
                <a:solidFill>
                  <a:srgbClr val="EA580C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n_res</a:t>
            </a:r>
            <a:r>
              <a:rPr lang="en-GB" sz="1100">
                <a:solidFill>
                  <a:srgbClr val="EA580C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ults=2</a:t>
            </a:r>
            <a:r>
              <a:rPr lang="en-GB" sz="1200">
                <a:solidFill>
                  <a:srgbClr val="37415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4" title="Screenshot 2025-06-08 1427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50" y="1327700"/>
            <a:ext cx="8276174" cy="9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3400">
                <a:latin typeface="Arial"/>
                <a:ea typeface="Arial"/>
                <a:cs typeface="Arial"/>
                <a:sym typeface="Arial"/>
              </a:rPr>
              <a:t>Local-First &amp; Serverless</a:t>
            </a:r>
            <a:br>
              <a:rPr b="1" lang="en-GB" sz="3400">
                <a:latin typeface="Arial"/>
                <a:ea typeface="Arial"/>
                <a:cs typeface="Arial"/>
                <a:sym typeface="Arial"/>
              </a:rPr>
            </a:br>
            <a:r>
              <a:rPr lang="en-GB" sz="3400">
                <a:latin typeface="Arial"/>
                <a:ea typeface="Arial"/>
                <a:cs typeface="Arial"/>
                <a:sym typeface="Arial"/>
              </a:rPr>
              <a:t> Works on your own machine without the need for cloud or server setup.</a:t>
            </a:r>
            <a:br>
              <a:rPr lang="en-GB" sz="3400">
                <a:latin typeface="Arial"/>
                <a:ea typeface="Arial"/>
                <a:cs typeface="Arial"/>
                <a:sym typeface="Arial"/>
              </a:rPr>
            </a:b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3400">
                <a:latin typeface="Arial"/>
                <a:ea typeface="Arial"/>
                <a:cs typeface="Arial"/>
                <a:sym typeface="Arial"/>
              </a:rPr>
              <a:t>Supports Multiple Similarity Metrics</a:t>
            </a:r>
            <a:br>
              <a:rPr b="1" lang="en-GB" sz="3400">
                <a:latin typeface="Arial"/>
                <a:ea typeface="Arial"/>
                <a:cs typeface="Arial"/>
                <a:sym typeface="Arial"/>
              </a:rPr>
            </a:br>
            <a:r>
              <a:rPr lang="en-GB" sz="3400">
                <a:latin typeface="Arial"/>
                <a:ea typeface="Arial"/>
                <a:cs typeface="Arial"/>
                <a:sym typeface="Arial"/>
              </a:rPr>
              <a:t> Use cosine, Euclidean (L2), or inner product for flexible vector comparison.</a:t>
            </a:r>
            <a:br>
              <a:rPr lang="en-GB" sz="3400">
                <a:latin typeface="Arial"/>
                <a:ea typeface="Arial"/>
                <a:cs typeface="Arial"/>
                <a:sym typeface="Arial"/>
              </a:rPr>
            </a:b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3400">
                <a:latin typeface="Arial"/>
                <a:ea typeface="Arial"/>
                <a:cs typeface="Arial"/>
                <a:sym typeface="Arial"/>
              </a:rPr>
              <a:t>Metadata Filtering</a:t>
            </a:r>
            <a:br>
              <a:rPr b="1" lang="en-GB" sz="3400">
                <a:latin typeface="Arial"/>
                <a:ea typeface="Arial"/>
                <a:cs typeface="Arial"/>
                <a:sym typeface="Arial"/>
              </a:rPr>
            </a:br>
            <a:r>
              <a:rPr lang="en-GB" sz="3400">
                <a:latin typeface="Arial"/>
                <a:ea typeface="Arial"/>
                <a:cs typeface="Arial"/>
                <a:sym typeface="Arial"/>
              </a:rPr>
              <a:t> Combine structured filters (e.g., tags, categories) with semantic search.</a:t>
            </a:r>
            <a:br>
              <a:rPr lang="en-GB" sz="3400">
                <a:latin typeface="Arial"/>
                <a:ea typeface="Arial"/>
                <a:cs typeface="Arial"/>
                <a:sym typeface="Arial"/>
              </a:rPr>
            </a:b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3400">
                <a:latin typeface="Arial"/>
                <a:ea typeface="Arial"/>
                <a:cs typeface="Arial"/>
                <a:sym typeface="Arial"/>
              </a:rPr>
              <a:t>Python API Integration</a:t>
            </a:r>
            <a:br>
              <a:rPr b="1" lang="en-GB" sz="3400">
                <a:latin typeface="Arial"/>
                <a:ea typeface="Arial"/>
                <a:cs typeface="Arial"/>
                <a:sym typeface="Arial"/>
              </a:rPr>
            </a:br>
            <a:r>
              <a:rPr lang="en-GB" sz="3400">
                <a:latin typeface="Arial"/>
                <a:ea typeface="Arial"/>
                <a:cs typeface="Arial"/>
                <a:sym typeface="Arial"/>
              </a:rPr>
              <a:t> Easy to use with clean Python syntax for developers.</a:t>
            </a:r>
            <a:br>
              <a:rPr lang="en-GB" sz="3400">
                <a:latin typeface="Arial"/>
                <a:ea typeface="Arial"/>
                <a:cs typeface="Arial"/>
                <a:sym typeface="Arial"/>
              </a:rPr>
            </a:b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3400">
                <a:latin typeface="Arial"/>
                <a:ea typeface="Arial"/>
                <a:cs typeface="Arial"/>
                <a:sym typeface="Arial"/>
              </a:rPr>
              <a:t>Fast &amp; Lightweight</a:t>
            </a:r>
            <a:br>
              <a:rPr b="1" lang="en-GB" sz="3400">
                <a:latin typeface="Arial"/>
                <a:ea typeface="Arial"/>
                <a:cs typeface="Arial"/>
                <a:sym typeface="Arial"/>
              </a:rPr>
            </a:br>
            <a:r>
              <a:rPr lang="en-GB" sz="3400">
                <a:latin typeface="Arial"/>
                <a:ea typeface="Arial"/>
                <a:cs typeface="Arial"/>
                <a:sym typeface="Arial"/>
              </a:rPr>
              <a:t> Optimized for low-latency search — great for prototyping and AI apps.</a:t>
            </a:r>
            <a:endParaRPr sz="3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0" y="2040467"/>
            <a:ext cx="9144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ChromaDB in RAG Architecture</a:t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55025" y="1460750"/>
            <a:ext cx="5177400" cy="32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RAG Overview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: Combines vector search with language models to generate context-aware responses.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ChromaDB's Role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: Stores and retrieves relevant document embeddings based on user queries.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Workflow Steps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User submits a query.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Query is converted into a vector (embedding).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ChromaDB retrieves semantically similar documents.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Retrieved documents are provided to the language model.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Language model generates a response grounded in retrieved context.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6" title="WhatsApp Image 2025-06-08 at 1.50.4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700" y="1708150"/>
            <a:ext cx="4025900" cy="2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Applications of ChromaDB in RAG Architectures</a:t>
            </a:r>
            <a:endParaRPr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Enables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document-based question answering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by retrieving relevant text chunks.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Powers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intelligent chatbots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with long-term memory using vectorized history.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enterprise knowledge assistants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for HR, IT, and internal support queries.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Assists in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legal and healthcare document retrieval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based on semantic relevance.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Enhances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academic research tools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for faster literature discovery and comparison.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Drives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semantic product recommendation systems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using vector similarity.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1048800" y="506600"/>
            <a:ext cx="7599000" cy="42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ChromaDB is Best For: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🔍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Semantic Search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Finding relevant documents based on meaning, not exact keywords.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🤖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Retrieval-Augmented Generation (RAG)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Supplying external knowledge to LLMs for accurate, grounded responses.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🎯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Recommendation Systems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Suggesting items based on vector similarity (e.g., products, content).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🔗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Hybrid Search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Combining metadata filters (like SQL) with vector similarity for more precise results.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🧪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Prototyping AI Applications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Fast, local setup for building LLM apps, chatbots, and intelligent search tools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ChromaDB is </a:t>
            </a:r>
            <a:r>
              <a:rPr b="1" i="1" lang="en-GB" sz="1700">
                <a:latin typeface="Arial"/>
                <a:ea typeface="Arial"/>
                <a:cs typeface="Arial"/>
                <a:sym typeface="Arial"/>
              </a:rPr>
              <a:t>Not Ideal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For: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9"/>
          <p:cNvSpPr txBox="1"/>
          <p:nvPr>
            <p:ph idx="1" type="body"/>
          </p:nvPr>
        </p:nvSpPr>
        <p:spPr>
          <a:xfrm>
            <a:off x="1297500" y="870850"/>
            <a:ext cx="7038900" cy="3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24">
                <a:latin typeface="Arial"/>
                <a:ea typeface="Arial"/>
                <a:cs typeface="Arial"/>
                <a:sym typeface="Arial"/>
              </a:rPr>
              <a:t>🧱 </a:t>
            </a:r>
            <a:r>
              <a:rPr b="1" lang="en-GB" sz="1924">
                <a:latin typeface="Arial"/>
                <a:ea typeface="Arial"/>
                <a:cs typeface="Arial"/>
                <a:sym typeface="Arial"/>
              </a:rPr>
              <a:t>Very Large-Scale Deployments</a:t>
            </a:r>
            <a:br>
              <a:rPr b="1" lang="en-GB" sz="1924">
                <a:latin typeface="Arial"/>
                <a:ea typeface="Arial"/>
                <a:cs typeface="Arial"/>
                <a:sym typeface="Arial"/>
              </a:rPr>
            </a:br>
            <a:r>
              <a:rPr lang="en-GB" sz="1924">
                <a:latin typeface="Arial"/>
                <a:ea typeface="Arial"/>
                <a:cs typeface="Arial"/>
                <a:sym typeface="Arial"/>
              </a:rPr>
              <a:t> Not yet optimized for billions of vectors or massive production-scale workloads (use FAISS or Pinecone instead).</a:t>
            </a:r>
            <a:br>
              <a:rPr lang="en-GB" sz="1924">
                <a:latin typeface="Arial"/>
                <a:ea typeface="Arial"/>
                <a:cs typeface="Arial"/>
                <a:sym typeface="Arial"/>
              </a:rPr>
            </a:br>
            <a:endParaRPr sz="192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24">
                <a:latin typeface="Arial"/>
                <a:ea typeface="Arial"/>
                <a:cs typeface="Arial"/>
                <a:sym typeface="Arial"/>
              </a:rPr>
              <a:t>🛢️ </a:t>
            </a:r>
            <a:r>
              <a:rPr b="1" lang="en-GB" sz="1924">
                <a:latin typeface="Arial"/>
                <a:ea typeface="Arial"/>
                <a:cs typeface="Arial"/>
                <a:sym typeface="Arial"/>
              </a:rPr>
              <a:t>Traditional Relational Data Queries</a:t>
            </a:r>
            <a:br>
              <a:rPr b="1" lang="en-GB" sz="1924">
                <a:latin typeface="Arial"/>
                <a:ea typeface="Arial"/>
                <a:cs typeface="Arial"/>
                <a:sym typeface="Arial"/>
              </a:rPr>
            </a:br>
            <a:r>
              <a:rPr lang="en-GB" sz="1924">
                <a:latin typeface="Arial"/>
                <a:ea typeface="Arial"/>
                <a:cs typeface="Arial"/>
                <a:sym typeface="Arial"/>
              </a:rPr>
              <a:t> Doesn’t support complex SQL joins, aggregations, or transactions like PostgreSQL or MySQL.</a:t>
            </a:r>
            <a:br>
              <a:rPr lang="en-GB" sz="1924">
                <a:latin typeface="Arial"/>
                <a:ea typeface="Arial"/>
                <a:cs typeface="Arial"/>
                <a:sym typeface="Arial"/>
              </a:rPr>
            </a:br>
            <a:endParaRPr sz="192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24">
                <a:latin typeface="Arial"/>
                <a:ea typeface="Arial"/>
                <a:cs typeface="Arial"/>
                <a:sym typeface="Arial"/>
              </a:rPr>
              <a:t>🕒 </a:t>
            </a:r>
            <a:r>
              <a:rPr b="1" lang="en-GB" sz="1924">
                <a:latin typeface="Arial"/>
                <a:ea typeface="Arial"/>
                <a:cs typeface="Arial"/>
                <a:sym typeface="Arial"/>
              </a:rPr>
              <a:t>Heavy Real-Time Streaming Ingestion</a:t>
            </a:r>
            <a:br>
              <a:rPr b="1" lang="en-GB" sz="1924">
                <a:latin typeface="Arial"/>
                <a:ea typeface="Arial"/>
                <a:cs typeface="Arial"/>
                <a:sym typeface="Arial"/>
              </a:rPr>
            </a:br>
            <a:r>
              <a:rPr lang="en-GB" sz="1924">
                <a:latin typeface="Arial"/>
                <a:ea typeface="Arial"/>
                <a:cs typeface="Arial"/>
                <a:sym typeface="Arial"/>
              </a:rPr>
              <a:t> Not designed for high-frequency, continuous real-time data ingestion pipelines.</a:t>
            </a:r>
            <a:br>
              <a:rPr lang="en-GB" sz="1924">
                <a:latin typeface="Arial"/>
                <a:ea typeface="Arial"/>
                <a:cs typeface="Arial"/>
                <a:sym typeface="Arial"/>
              </a:rPr>
            </a:br>
            <a:endParaRPr sz="192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24">
                <a:latin typeface="Arial"/>
                <a:ea typeface="Arial"/>
                <a:cs typeface="Arial"/>
                <a:sym typeface="Arial"/>
              </a:rPr>
              <a:t>⚙️ </a:t>
            </a:r>
            <a:r>
              <a:rPr b="1" lang="en-GB" sz="1924">
                <a:latin typeface="Arial"/>
                <a:ea typeface="Arial"/>
                <a:cs typeface="Arial"/>
                <a:sym typeface="Arial"/>
              </a:rPr>
              <a:t>Advanced Index Customization</a:t>
            </a:r>
            <a:br>
              <a:rPr b="1" lang="en-GB" sz="1924">
                <a:latin typeface="Arial"/>
                <a:ea typeface="Arial"/>
                <a:cs typeface="Arial"/>
                <a:sym typeface="Arial"/>
              </a:rPr>
            </a:br>
            <a:r>
              <a:rPr lang="en-GB" sz="1924">
                <a:latin typeface="Arial"/>
                <a:ea typeface="Arial"/>
                <a:cs typeface="Arial"/>
                <a:sym typeface="Arial"/>
              </a:rPr>
              <a:t> Offers limited control over indexing techniques compared to FAISS (e.g., IVF, PQ, HNSW tuning).</a:t>
            </a:r>
            <a:br>
              <a:rPr lang="en-GB" sz="1924">
                <a:latin typeface="Arial"/>
                <a:ea typeface="Arial"/>
                <a:cs typeface="Arial"/>
                <a:sym typeface="Arial"/>
              </a:rPr>
            </a:br>
            <a:endParaRPr sz="192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24">
                <a:latin typeface="Arial"/>
                <a:ea typeface="Arial"/>
                <a:cs typeface="Arial"/>
                <a:sym typeface="Arial"/>
              </a:rPr>
              <a:t>🧠 </a:t>
            </a:r>
            <a:r>
              <a:rPr b="1" lang="en-GB" sz="1924">
                <a:latin typeface="Arial"/>
                <a:ea typeface="Arial"/>
                <a:cs typeface="Arial"/>
                <a:sym typeface="Arial"/>
              </a:rPr>
              <a:t>Deep Model Integration</a:t>
            </a:r>
            <a:br>
              <a:rPr b="1" lang="en-GB" sz="1924">
                <a:latin typeface="Arial"/>
                <a:ea typeface="Arial"/>
                <a:cs typeface="Arial"/>
                <a:sym typeface="Arial"/>
              </a:rPr>
            </a:br>
            <a:r>
              <a:rPr lang="en-GB" sz="1924">
                <a:latin typeface="Arial"/>
                <a:ea typeface="Arial"/>
                <a:cs typeface="Arial"/>
                <a:sym typeface="Arial"/>
              </a:rPr>
              <a:t> Doesn’t handle training or fine-tuning models—only works with </a:t>
            </a:r>
            <a:r>
              <a:rPr b="1" lang="en-GB" sz="1924">
                <a:latin typeface="Arial"/>
                <a:ea typeface="Arial"/>
                <a:cs typeface="Arial"/>
                <a:sym typeface="Arial"/>
              </a:rPr>
              <a:t>pre-computed embeddings</a:t>
            </a:r>
            <a:r>
              <a:rPr lang="en-GB" sz="1924">
                <a:latin typeface="Arial"/>
                <a:ea typeface="Arial"/>
                <a:cs typeface="Arial"/>
                <a:sym typeface="Arial"/>
              </a:rPr>
              <a:t>.</a:t>
            </a:r>
            <a:endParaRPr sz="192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FAISS?</a:t>
            </a:r>
            <a:endParaRPr/>
          </a:p>
        </p:txBody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1297500" y="2118525"/>
            <a:ext cx="3383400" cy="25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FAISS stands for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Facebook AI Similarity Search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Developed by Facebook AI Research as an open-source library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Designed for fast and scalable similarity search on high-dimensional vectors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Supports efficient search on billions of vectors using CPU and GPU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43" name="Google Shape;243;p30" title="image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3300" y="1971850"/>
            <a:ext cx="4158301" cy="224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Vector Similarity Search Important?</a:t>
            </a:r>
            <a:endParaRPr/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Many ML models output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embedding vectors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(e.g., word embeddings, image features)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To find similar items, we search for nearest neighbors in embedding space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Example: Given a query sentence embedding, find most similar documents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Brute force search is slow and computationally expensive at large scale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Challenges in Large Scale Similarity Search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Dimensionality: vectors often have hundreds to thousands of dimensions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Dataset size: millions to billions of vectors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Time complexity of naive search: O(N) per query, too slow for large N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Need for approximate nearest neighbor (ANN) search to balance speed and accuracy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b="1"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What FAISS Offers</a:t>
            </a:r>
            <a:endParaRPr/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Char char="●"/>
            </a:pPr>
            <a:r>
              <a:rPr lang="en-GB">
                <a:solidFill>
                  <a:srgbClr val="F1F5F9"/>
                </a:solidFill>
              </a:rPr>
              <a:t>Highly optimized similarity search algorithms in C++ with Python bindings</a:t>
            </a:r>
            <a:br>
              <a:rPr lang="en-GB">
                <a:solidFill>
                  <a:srgbClr val="F1F5F9"/>
                </a:solidFill>
              </a:rPr>
            </a:br>
            <a:endParaRPr>
              <a:solidFill>
                <a:srgbClr val="F1F5F9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Char char="●"/>
            </a:pPr>
            <a:r>
              <a:rPr lang="en-GB">
                <a:solidFill>
                  <a:srgbClr val="F1F5F9"/>
                </a:solidFill>
              </a:rPr>
              <a:t>Supports:</a:t>
            </a:r>
            <a:br>
              <a:rPr lang="en-GB">
                <a:solidFill>
                  <a:srgbClr val="F1F5F9"/>
                </a:solidFill>
              </a:rPr>
            </a:br>
            <a:endParaRPr>
              <a:solidFill>
                <a:srgbClr val="F1F5F9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Char char="○"/>
            </a:pPr>
            <a:r>
              <a:rPr lang="en-GB">
                <a:solidFill>
                  <a:srgbClr val="F1F5F9"/>
                </a:solidFill>
              </a:rPr>
              <a:t>Exact nearest neighbor search</a:t>
            </a:r>
            <a:br>
              <a:rPr lang="en-GB">
                <a:solidFill>
                  <a:srgbClr val="F1F5F9"/>
                </a:solidFill>
              </a:rPr>
            </a:br>
            <a:endParaRPr>
              <a:solidFill>
                <a:srgbClr val="F1F5F9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Char char="○"/>
            </a:pPr>
            <a:r>
              <a:rPr lang="en-GB">
                <a:solidFill>
                  <a:srgbClr val="F1F5F9"/>
                </a:solidFill>
              </a:rPr>
              <a:t>Approximate nearest neighbor search with trade-offs</a:t>
            </a:r>
            <a:br>
              <a:rPr lang="en-GB">
                <a:solidFill>
                  <a:srgbClr val="F1F5F9"/>
                </a:solidFill>
              </a:rPr>
            </a:br>
            <a:endParaRPr>
              <a:solidFill>
                <a:srgbClr val="F1F5F9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Char char="●"/>
            </a:pPr>
            <a:r>
              <a:rPr lang="en-GB">
                <a:solidFill>
                  <a:srgbClr val="F1F5F9"/>
                </a:solidFill>
              </a:rPr>
              <a:t>GPU acceleration to massively speed up searches</a:t>
            </a:r>
            <a:br>
              <a:rPr lang="en-GB">
                <a:solidFill>
                  <a:srgbClr val="F1F5F9"/>
                </a:solidFill>
              </a:rPr>
            </a:br>
            <a:endParaRPr>
              <a:solidFill>
                <a:srgbClr val="F1F5F9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Char char="●"/>
            </a:pPr>
            <a:r>
              <a:rPr lang="en-GB">
                <a:solidFill>
                  <a:srgbClr val="F1F5F9"/>
                </a:solidFill>
              </a:rPr>
              <a:t>Multiple indexing strategies tailored for various dataset sizes and accuracy needs</a:t>
            </a:r>
            <a:br>
              <a:rPr lang="en-GB">
                <a:solidFill>
                  <a:srgbClr val="F1F5F9"/>
                </a:solidFill>
              </a:rPr>
            </a:br>
            <a:endParaRPr>
              <a:solidFill>
                <a:srgbClr val="F1F5F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1F5F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1297500" y="186075"/>
            <a:ext cx="70389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Index Types in FAISS</a:t>
            </a:r>
            <a:endParaRPr/>
          </a:p>
        </p:txBody>
      </p:sp>
      <p:sp>
        <p:nvSpPr>
          <p:cNvPr id="267" name="Google Shape;267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8" name="Google Shape;268;p34"/>
          <p:cNvGraphicFramePr/>
          <p:nvPr/>
        </p:nvGraphicFramePr>
        <p:xfrm>
          <a:off x="38100" y="78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{7BE40BB6-2E75-4D1F-8B56-32D25E285127}</a:tableStyleId>
              </a:tblPr>
              <a:tblGrid>
                <a:gridCol w="962025"/>
                <a:gridCol w="2914650"/>
                <a:gridCol w="1828800"/>
                <a:gridCol w="3362325"/>
              </a:tblGrid>
              <a:tr h="381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Index Type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Advantages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Use Case / When to Use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1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IndexFlatL2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Exact brute-force search using Euclidean (L2) distance. Stores all vectors and compares all.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Simple, no training needed- 100% accurate results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Small datasets (thousands to low millions)- Baseline or testing- When accuracy is critical and dataset fits in memory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1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IndexIVFFlat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Inverted File Index: clusters vectors using k-means, searches only in closest clusters.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Faster search by limiting candidates- Scales to millions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Large datasets (millions to billions)- When faster search with some accuracy loss is acceptable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1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IndexHNSW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Graph-based index building a navigable small world graph to perform approximate nearest search.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High recall with fast search- No training needed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Medium to large datasets- When speed and accuracy both matter- Real-time applications requiring low latency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1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IndexPQ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Product Quantization compresses vectors into compact codes, reducing memory and speeding search.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Significant memory savings- Fast approximate search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Very large datasets that cannot fit in RAM- Memory constrained environments- Use with IVF for combined benefits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1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</a:rPr>
                        <a:t>Hybrid Indexes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Combines methods like IVF + PQ to balance speed, accuracy, and memory use.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Tunable trade-offs- Efficient indexing and searching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- Large-scale applications with strict latency and memory requirements- Production-grade search systems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1052550" y="4044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300">
                <a:latin typeface="Arial"/>
                <a:ea typeface="Arial"/>
                <a:cs typeface="Arial"/>
                <a:sym typeface="Arial"/>
              </a:rPr>
              <a:t>Advantages of FAISS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High-speed vector search at scale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Supports multiple indexing and compression techniques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Open-source, well-maintained by Facebook AI Research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Python-friendly API with C++ backend for speed</a:t>
            </a:r>
            <a:br>
              <a:rPr lang="en-GB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GPU acceleration for demanding use cases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393700" y="1380050"/>
            <a:ext cx="7635900" cy="32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335932" lvl="0" marL="457200" rtl="0" algn="l">
              <a:spcBef>
                <a:spcPts val="1200"/>
              </a:spcBef>
              <a:spcAft>
                <a:spcPts val="0"/>
              </a:spcAft>
              <a:buSzPct val="106288"/>
              <a:buFont typeface="Arial"/>
              <a:buChar char="●"/>
            </a:pPr>
            <a:r>
              <a:rPr b="1" lang="en-GB" sz="4893">
                <a:latin typeface="Arial"/>
                <a:ea typeface="Arial"/>
                <a:cs typeface="Arial"/>
                <a:sym typeface="Arial"/>
              </a:rPr>
              <a:t>Memory Intensive:</a:t>
            </a:r>
            <a:r>
              <a:rPr lang="en-GB" sz="4893">
                <a:latin typeface="Arial"/>
                <a:ea typeface="Arial"/>
                <a:cs typeface="Arial"/>
                <a:sym typeface="Arial"/>
              </a:rPr>
              <a:t>Large datasets must fit in RAM or GPU memory.</a:t>
            </a:r>
            <a:endParaRPr sz="4893">
              <a:latin typeface="Arial"/>
              <a:ea typeface="Arial"/>
              <a:cs typeface="Arial"/>
              <a:sym typeface="Arial"/>
            </a:endParaRPr>
          </a:p>
          <a:p>
            <a:pPr indent="-335932" lvl="0" marL="457200" rtl="0" algn="l">
              <a:spcBef>
                <a:spcPts val="0"/>
              </a:spcBef>
              <a:spcAft>
                <a:spcPts val="0"/>
              </a:spcAft>
              <a:buSzPct val="106288"/>
              <a:buFont typeface="Arial"/>
              <a:buChar char="●"/>
            </a:pPr>
            <a:r>
              <a:rPr b="1" lang="en-GB" sz="4893">
                <a:latin typeface="Arial"/>
                <a:ea typeface="Arial"/>
                <a:cs typeface="Arial"/>
                <a:sym typeface="Arial"/>
              </a:rPr>
              <a:t>No Native Delete Support:</a:t>
            </a:r>
            <a:r>
              <a:rPr lang="en-GB" sz="4893">
                <a:latin typeface="Arial"/>
                <a:ea typeface="Arial"/>
                <a:cs typeface="Arial"/>
                <a:sym typeface="Arial"/>
              </a:rPr>
              <a:t>Removing vectors is complex and not efficient.</a:t>
            </a:r>
            <a:endParaRPr sz="4893">
              <a:latin typeface="Arial"/>
              <a:ea typeface="Arial"/>
              <a:cs typeface="Arial"/>
              <a:sym typeface="Arial"/>
            </a:endParaRPr>
          </a:p>
          <a:p>
            <a:pPr indent="-335932" lvl="0" marL="457200" rtl="0" algn="l">
              <a:spcBef>
                <a:spcPts val="0"/>
              </a:spcBef>
              <a:spcAft>
                <a:spcPts val="0"/>
              </a:spcAft>
              <a:buSzPct val="106288"/>
              <a:buFont typeface="Arial"/>
              <a:buChar char="●"/>
            </a:pPr>
            <a:r>
              <a:rPr b="1" lang="en-GB" sz="4893">
                <a:latin typeface="Arial"/>
                <a:ea typeface="Arial"/>
                <a:cs typeface="Arial"/>
                <a:sym typeface="Arial"/>
              </a:rPr>
              <a:t>No Persistence: </a:t>
            </a:r>
            <a:r>
              <a:rPr lang="en-GB" sz="4893">
                <a:latin typeface="Arial"/>
                <a:ea typeface="Arial"/>
                <a:cs typeface="Arial"/>
                <a:sym typeface="Arial"/>
              </a:rPr>
              <a:t>Must manually save/load index files.</a:t>
            </a:r>
            <a:endParaRPr sz="4893">
              <a:latin typeface="Arial"/>
              <a:ea typeface="Arial"/>
              <a:cs typeface="Arial"/>
              <a:sym typeface="Arial"/>
            </a:endParaRPr>
          </a:p>
          <a:p>
            <a:pPr indent="-335932" lvl="0" marL="457200" rtl="0" algn="l">
              <a:spcBef>
                <a:spcPts val="0"/>
              </a:spcBef>
              <a:spcAft>
                <a:spcPts val="0"/>
              </a:spcAft>
              <a:buSzPct val="106288"/>
              <a:buFont typeface="Arial"/>
              <a:buChar char="●"/>
            </a:pPr>
            <a:r>
              <a:rPr b="1" lang="en-GB" sz="4893">
                <a:latin typeface="Arial"/>
                <a:ea typeface="Arial"/>
                <a:cs typeface="Arial"/>
                <a:sym typeface="Arial"/>
              </a:rPr>
              <a:t>No Metadata Storage :</a:t>
            </a:r>
            <a:r>
              <a:rPr lang="en-GB" sz="4893">
                <a:latin typeface="Arial"/>
                <a:ea typeface="Arial"/>
                <a:cs typeface="Arial"/>
                <a:sym typeface="Arial"/>
              </a:rPr>
              <a:t>Stores only vectors, not associated text or info.</a:t>
            </a:r>
            <a:endParaRPr sz="4893">
              <a:latin typeface="Arial"/>
              <a:ea typeface="Arial"/>
              <a:cs typeface="Arial"/>
              <a:sym typeface="Arial"/>
            </a:endParaRPr>
          </a:p>
          <a:p>
            <a:pPr indent="-331628" lvl="0" marL="457200" rtl="0" algn="l">
              <a:spcBef>
                <a:spcPts val="0"/>
              </a:spcBef>
              <a:spcAft>
                <a:spcPts val="0"/>
              </a:spcAft>
              <a:buSzPct val="102026"/>
              <a:buFont typeface="Arial"/>
              <a:buChar char="●"/>
            </a:pPr>
            <a:r>
              <a:rPr b="1" lang="en-GB" sz="4893">
                <a:latin typeface="Arial"/>
                <a:ea typeface="Arial"/>
                <a:cs typeface="Arial"/>
                <a:sym typeface="Arial"/>
              </a:rPr>
              <a:t>Single-Node Only: </a:t>
            </a:r>
            <a:r>
              <a:rPr lang="en-GB" sz="4893">
                <a:latin typeface="Arial"/>
                <a:ea typeface="Arial"/>
                <a:cs typeface="Arial"/>
                <a:sym typeface="Arial"/>
              </a:rPr>
              <a:t>No built-in support for distributed or multi-node setups.</a:t>
            </a:r>
            <a:br>
              <a:rPr lang="en-GB" sz="427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27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645575" y="393750"/>
            <a:ext cx="7690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Real-World Use Cases</a:t>
            </a:r>
            <a:endParaRPr/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645575" y="1233775"/>
            <a:ext cx="7038900" cy="3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4775">
                <a:latin typeface="Arial"/>
                <a:ea typeface="Arial"/>
                <a:cs typeface="Arial"/>
                <a:sym typeface="Arial"/>
              </a:rPr>
              <a:t>Meta (Facebook):</a:t>
            </a:r>
            <a:endParaRPr b="1" sz="4775"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4575">
                <a:latin typeface="Arial"/>
                <a:ea typeface="Arial"/>
                <a:cs typeface="Arial"/>
                <a:sym typeface="Arial"/>
              </a:rPr>
              <a:t>Facial recognition</a:t>
            </a:r>
            <a:br>
              <a:rPr lang="en-GB" sz="4575">
                <a:latin typeface="Arial"/>
                <a:ea typeface="Arial"/>
                <a:cs typeface="Arial"/>
                <a:sym typeface="Arial"/>
              </a:rPr>
            </a:br>
            <a:endParaRPr sz="4575"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4575">
                <a:latin typeface="Arial"/>
                <a:ea typeface="Arial"/>
                <a:cs typeface="Arial"/>
                <a:sym typeface="Arial"/>
              </a:rPr>
              <a:t>Video deduplication</a:t>
            </a:r>
            <a:br>
              <a:rPr lang="en-GB" sz="4575">
                <a:latin typeface="Arial"/>
                <a:ea typeface="Arial"/>
                <a:cs typeface="Arial"/>
                <a:sym typeface="Arial"/>
              </a:rPr>
            </a:br>
            <a:endParaRPr sz="4575"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4575">
                <a:latin typeface="Arial"/>
                <a:ea typeface="Arial"/>
                <a:cs typeface="Arial"/>
                <a:sym typeface="Arial"/>
              </a:rPr>
              <a:t>Image search</a:t>
            </a:r>
            <a:br>
              <a:rPr lang="en-GB" sz="4575">
                <a:latin typeface="Arial"/>
                <a:ea typeface="Arial"/>
                <a:cs typeface="Arial"/>
                <a:sym typeface="Arial"/>
              </a:rPr>
            </a:br>
            <a:endParaRPr sz="4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4775">
                <a:latin typeface="Arial"/>
                <a:ea typeface="Arial"/>
                <a:cs typeface="Arial"/>
                <a:sym typeface="Arial"/>
              </a:rPr>
              <a:t>Spotify:</a:t>
            </a:r>
            <a:endParaRPr b="1" sz="4775"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4575">
                <a:latin typeface="Arial"/>
                <a:ea typeface="Arial"/>
                <a:cs typeface="Arial"/>
                <a:sym typeface="Arial"/>
              </a:rPr>
              <a:t>Music recommendation via audio embeddings</a:t>
            </a:r>
            <a:br>
              <a:rPr lang="en-GB" sz="4575">
                <a:latin typeface="Arial"/>
                <a:ea typeface="Arial"/>
                <a:cs typeface="Arial"/>
                <a:sym typeface="Arial"/>
              </a:rPr>
            </a:br>
            <a:endParaRPr sz="4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4775">
                <a:latin typeface="Arial"/>
                <a:ea typeface="Arial"/>
                <a:cs typeface="Arial"/>
                <a:sym typeface="Arial"/>
              </a:rPr>
              <a:t>RAG (Retrieval-Augmented Generation):</a:t>
            </a:r>
            <a:endParaRPr b="1" sz="4775"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4575">
                <a:latin typeface="Arial"/>
                <a:ea typeface="Arial"/>
                <a:cs typeface="Arial"/>
                <a:sym typeface="Arial"/>
              </a:rPr>
              <a:t>Use FAISS to store document embeddings.</a:t>
            </a:r>
            <a:br>
              <a:rPr lang="en-GB" sz="4575">
                <a:latin typeface="Arial"/>
                <a:ea typeface="Arial"/>
                <a:cs typeface="Arial"/>
                <a:sym typeface="Arial"/>
              </a:rPr>
            </a:br>
            <a:endParaRPr sz="4575">
              <a:latin typeface="Arial"/>
              <a:ea typeface="Arial"/>
              <a:cs typeface="Arial"/>
              <a:sym typeface="Arial"/>
            </a:endParaRPr>
          </a:p>
          <a:p>
            <a:pPr indent="-29489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1258"/>
              <a:buFont typeface="Arial"/>
              <a:buChar char="●"/>
            </a:pPr>
            <a:r>
              <a:rPr lang="en-GB" sz="4575">
                <a:latin typeface="Arial"/>
                <a:ea typeface="Arial"/>
                <a:cs typeface="Arial"/>
                <a:sym typeface="Arial"/>
              </a:rPr>
              <a:t>Retrieve relevant documents to feed into LLMs</a:t>
            </a:r>
            <a:r>
              <a:rPr lang="en-GB" sz="4175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GB" sz="4175">
                <a:latin typeface="Arial"/>
                <a:ea typeface="Arial"/>
                <a:cs typeface="Arial"/>
                <a:sym typeface="Arial"/>
              </a:rPr>
            </a:br>
            <a:endParaRPr sz="41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RAG Architecture with FAISS – Applications</a:t>
            </a:r>
            <a:endParaRPr/>
          </a:p>
        </p:txBody>
      </p:sp>
      <p:sp>
        <p:nvSpPr>
          <p:cNvPr id="292" name="Google Shape;292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1️⃣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Customer Support Chatbots: </a:t>
            </a: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Fast retrieval of relevant FAQ or knowledge base answers from millions of documents.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2️⃣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Legal Document Retrieval: </a:t>
            </a: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Enables similarity-based search across large corpuses of legal contracts or case law.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3️⃣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Healthcare Q&amp;A Systems: </a:t>
            </a: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Accurately fetches medical literature or patient documents for doctor/patient queries.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4️⃣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E-commerce Search &amp; Recs: </a:t>
            </a: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Powers semantic product search and personalized recommendations at large scale.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5️⃣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Enterprise Knowledge Search: </a:t>
            </a: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Efficiently indexes internal documents (emails, reports) and retrieves contextual answers.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6️⃣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Developer Assistants: </a:t>
            </a:r>
            <a:r>
              <a:rPr lang="en-GB" sz="14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Retrieves code snippets, documentation, and solutions using semantic similarity.</a:t>
            </a:r>
            <a:endParaRPr sz="1400">
              <a:solidFill>
                <a:srgbClr val="F1F5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1F5F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900"/>
              <a:t>PgVector</a:t>
            </a:r>
            <a:endParaRPr b="1" sz="2900"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210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A PostgreSQL extension for vector similarity search</a:t>
            </a:r>
            <a:br>
              <a:rPr lang="en-GB" sz="1157"/>
            </a:br>
            <a:endParaRPr sz="1157"/>
          </a:p>
          <a:p>
            <a:pPr indent="-30210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Enables storing and querying dense embeddings</a:t>
            </a:r>
            <a:endParaRPr sz="115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n-GB" sz="1157"/>
            </a:br>
            <a:r>
              <a:rPr b="1" lang="en-GB" sz="1157"/>
              <a:t>Use Case</a:t>
            </a:r>
            <a:r>
              <a:rPr lang="en-GB" sz="1157"/>
              <a:t>:</a:t>
            </a:r>
            <a:br>
              <a:rPr lang="en-GB" sz="1157"/>
            </a:br>
            <a:endParaRPr sz="1157"/>
          </a:p>
          <a:p>
            <a:pPr indent="-30210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Semantic search, RAG, recommendation, hybrid SQL+vector search</a:t>
            </a:r>
            <a:endParaRPr sz="1157"/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358"/>
              <a:buNone/>
            </a:pPr>
            <a:r>
              <a:rPr b="1" lang="en-GB" sz="1222"/>
              <a:t> Key Features</a:t>
            </a:r>
            <a:endParaRPr b="1" sz="1222"/>
          </a:p>
          <a:p>
            <a:pPr indent="-30210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Works inside PostgreSQL</a:t>
            </a:r>
            <a:br>
              <a:rPr lang="en-GB" sz="1157"/>
            </a:br>
            <a:endParaRPr sz="1157"/>
          </a:p>
          <a:p>
            <a:pPr indent="-30210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Supports full SQL queries</a:t>
            </a:r>
            <a:br>
              <a:rPr lang="en-GB" sz="1157"/>
            </a:br>
            <a:endParaRPr sz="1157"/>
          </a:p>
          <a:p>
            <a:pPr indent="-30210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Cosine / L2 / inner product distances</a:t>
            </a:r>
            <a:br>
              <a:rPr lang="en-GB" sz="1157"/>
            </a:br>
            <a:endParaRPr sz="1157"/>
          </a:p>
          <a:p>
            <a:pPr indent="-30210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Combine filters + semantic search</a:t>
            </a:r>
            <a:br>
              <a:rPr lang="en-GB" sz="1157"/>
            </a:br>
            <a:endParaRPr sz="1157"/>
          </a:p>
          <a:p>
            <a:pPr indent="-30210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8"/>
              <a:buChar char="●"/>
            </a:pPr>
            <a:r>
              <a:rPr lang="en-GB" sz="1157"/>
              <a:t>IVFFlat for approximate ANN</a:t>
            </a:r>
            <a:endParaRPr sz="115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222"/>
          </a:p>
        </p:txBody>
      </p:sp>
      <p:pic>
        <p:nvPicPr>
          <p:cNvPr id="299" name="Google Shape;2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775" y="985838"/>
            <a:ext cx="306705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1297500" y="415700"/>
            <a:ext cx="7038900" cy="40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b="1" lang="en-GB" sz="1857"/>
              <a:t>pgvector is best for:</a:t>
            </a:r>
            <a:br>
              <a:rPr lang="en-GB" sz="1857"/>
            </a:br>
            <a:endParaRPr sz="1857"/>
          </a:p>
          <a:p>
            <a:pPr indent="-34655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58"/>
              <a:buChar char="●"/>
            </a:pPr>
            <a:r>
              <a:rPr lang="en-GB" sz="1857"/>
              <a:t>SQL + vector use cases</a:t>
            </a:r>
            <a:br>
              <a:rPr lang="en-GB" sz="1857"/>
            </a:br>
            <a:endParaRPr sz="1857"/>
          </a:p>
          <a:p>
            <a:pPr indent="-3465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8"/>
              <a:buChar char="●"/>
            </a:pPr>
            <a:r>
              <a:rPr lang="en-GB" sz="1857"/>
              <a:t>Simple deployments</a:t>
            </a:r>
            <a:br>
              <a:rPr lang="en-GB" sz="1857"/>
            </a:br>
            <a:endParaRPr sz="1857"/>
          </a:p>
          <a:p>
            <a:pPr indent="-3465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8"/>
              <a:buChar char="●"/>
            </a:pPr>
            <a:r>
              <a:rPr lang="en-GB" sz="1857"/>
              <a:t>Tight integration with metadata</a:t>
            </a:r>
            <a:br>
              <a:rPr lang="en-GB" sz="1857"/>
            </a:br>
            <a:endParaRPr sz="1857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b="1" lang="en-GB" sz="1857"/>
              <a:t>Not ideal for:</a:t>
            </a:r>
            <a:br>
              <a:rPr b="1" lang="en-GB" sz="1857"/>
            </a:br>
            <a:endParaRPr b="1" sz="1857"/>
          </a:p>
          <a:p>
            <a:pPr indent="-34655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58"/>
              <a:buChar char="●"/>
            </a:pPr>
            <a:r>
              <a:rPr lang="en-GB" sz="1857"/>
              <a:t>High-scale, distributed retrieval</a:t>
            </a:r>
            <a:br>
              <a:rPr lang="en-GB" sz="1857"/>
            </a:br>
            <a:endParaRPr sz="1857"/>
          </a:p>
          <a:p>
            <a:pPr indent="-3465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8"/>
              <a:buChar char="●"/>
            </a:pPr>
            <a:r>
              <a:rPr lang="en-GB" sz="1857"/>
              <a:t>Time-sensitive memory (use ChronoMind)</a:t>
            </a:r>
            <a:endParaRPr sz="185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How pgvector Works?</a:t>
            </a:r>
            <a:endParaRPr/>
          </a:p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1297500" y="1167275"/>
            <a:ext cx="70389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Stores embeddings using a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VECTOR(n)</a:t>
            </a:r>
            <a:r>
              <a:rPr lang="en-GB"/>
              <a:t> column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Supports similarity metrics:</a:t>
            </a:r>
            <a:br>
              <a:rPr lang="en-GB"/>
            </a:b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/>
              <a:t>Cosine distance</a:t>
            </a:r>
            <a:br>
              <a:rPr lang="en-GB"/>
            </a:b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/>
              <a:t>L2 (Euclidean)</a:t>
            </a:r>
            <a:br>
              <a:rPr lang="en-GB"/>
            </a:br>
            <a:endParaRPr/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-GB"/>
              <a:t>Inner product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Can use exact or approximate search (IVFFlat)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50" y="1548075"/>
            <a:ext cx="3896326" cy="30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225" y="1548075"/>
            <a:ext cx="4668524" cy="30552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2"/>
          <p:cNvSpPr txBox="1"/>
          <p:nvPr/>
        </p:nvSpPr>
        <p:spPr>
          <a:xfrm>
            <a:off x="366400" y="1073325"/>
            <a:ext cx="21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4605675" y="1014600"/>
            <a:ext cx="21021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STEP2: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42"/>
          <p:cNvSpPr txBox="1"/>
          <p:nvPr>
            <p:ph type="title"/>
          </p:nvPr>
        </p:nvSpPr>
        <p:spPr>
          <a:xfrm>
            <a:off x="1283600" y="95325"/>
            <a:ext cx="7038900" cy="6693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00FF"/>
                </a:solidFill>
              </a:rPr>
              <a:t>INSTALLATION AND SET UP </a:t>
            </a:r>
            <a:endParaRPr b="1" sz="3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638000"/>
            <a:ext cx="4229401" cy="32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5825" y="1638000"/>
            <a:ext cx="4585900" cy="32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3"/>
          <p:cNvSpPr txBox="1"/>
          <p:nvPr/>
        </p:nvSpPr>
        <p:spPr>
          <a:xfrm>
            <a:off x="436800" y="1109400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3: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4572000" y="1109400"/>
            <a:ext cx="19728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53" y="1307850"/>
            <a:ext cx="4829600" cy="357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3704" y="1468918"/>
            <a:ext cx="4667250" cy="346568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 txBox="1"/>
          <p:nvPr/>
        </p:nvSpPr>
        <p:spPr>
          <a:xfrm>
            <a:off x="1094400" y="580975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5: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50" y="1381325"/>
            <a:ext cx="4505075" cy="35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9350" y="1381325"/>
            <a:ext cx="4284351" cy="35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5"/>
          <p:cNvSpPr txBox="1"/>
          <p:nvPr/>
        </p:nvSpPr>
        <p:spPr>
          <a:xfrm>
            <a:off x="871300" y="804075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6: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45"/>
          <p:cNvSpPr txBox="1"/>
          <p:nvPr/>
        </p:nvSpPr>
        <p:spPr>
          <a:xfrm>
            <a:off x="4769350" y="804075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7: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/>
              <a:t>Advantages</a:t>
            </a:r>
            <a:endParaRPr b="1" sz="3500"/>
          </a:p>
        </p:txBody>
      </p:sp>
      <p:sp>
        <p:nvSpPr>
          <p:cNvPr id="351" name="Google Shape;351;p46"/>
          <p:cNvSpPr txBox="1"/>
          <p:nvPr>
            <p:ph idx="1" type="body"/>
          </p:nvPr>
        </p:nvSpPr>
        <p:spPr>
          <a:xfrm>
            <a:off x="1297500" y="1237725"/>
            <a:ext cx="7038900" cy="32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32101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5821"/>
              <a:t>Built into PostgreSQL—no extra infrastructure</a:t>
            </a:r>
            <a:br>
              <a:rPr lang="en-GB" sz="5821"/>
            </a:br>
            <a:endParaRPr sz="5821"/>
          </a:p>
          <a:p>
            <a:pPr indent="-32101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5821"/>
              <a:t>Query vectors using simple SQL</a:t>
            </a:r>
            <a:br>
              <a:rPr lang="en-GB" sz="5821"/>
            </a:br>
            <a:endParaRPr sz="5821"/>
          </a:p>
          <a:p>
            <a:pPr indent="-32101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5821"/>
              <a:t>Combine vector + metadata filters</a:t>
            </a:r>
            <a:br>
              <a:rPr lang="en-GB" sz="5821"/>
            </a:br>
            <a:endParaRPr sz="5821"/>
          </a:p>
          <a:p>
            <a:pPr indent="-32101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5821"/>
              <a:t>Supports exact and approximate search</a:t>
            </a:r>
            <a:br>
              <a:rPr lang="en-GB" sz="5821"/>
            </a:br>
            <a:endParaRPr sz="5821"/>
          </a:p>
          <a:p>
            <a:pPr indent="-32101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5821"/>
              <a:t>Easy to prototype RAG apps</a:t>
            </a:r>
            <a:br>
              <a:rPr lang="en-GB" sz="5821"/>
            </a:br>
            <a:endParaRPr sz="5821"/>
          </a:p>
          <a:p>
            <a:pPr indent="-32101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5821"/>
              <a:t>Works with popular cloud Postgres providers ( Amazon RDS (PostgreSQL), Google Cloud SQL, Azure Database for PostgreSQL,etc).</a:t>
            </a:r>
            <a:endParaRPr sz="5821"/>
          </a:p>
          <a:p>
            <a:pPr indent="-2492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1274025" y="4055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 </a:t>
            </a:r>
            <a:r>
              <a:rPr b="1" lang="en-GB" sz="3100"/>
              <a:t>Disadvantages</a:t>
            </a:r>
            <a:endParaRPr b="1" sz="3100"/>
          </a:p>
        </p:txBody>
      </p:sp>
      <p:sp>
        <p:nvSpPr>
          <p:cNvPr id="357" name="Google Shape;357;p47"/>
          <p:cNvSpPr txBox="1"/>
          <p:nvPr>
            <p:ph idx="1" type="body"/>
          </p:nvPr>
        </p:nvSpPr>
        <p:spPr>
          <a:xfrm>
            <a:off x="1274025" y="15793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900"/>
              <a:t>Not ideal for very large datasets</a:t>
            </a:r>
            <a:br>
              <a:rPr lang="en-GB" sz="1900"/>
            </a:br>
            <a:endParaRPr sz="1900"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900"/>
              <a:t>Slower than FAISS/ScaNN for ANN</a:t>
            </a:r>
            <a:br>
              <a:rPr lang="en-GB" sz="1900"/>
            </a:br>
            <a:endParaRPr sz="1900"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900"/>
              <a:t>No support for time-based relevance</a:t>
            </a:r>
            <a:br>
              <a:rPr lang="en-GB" sz="1900"/>
            </a:br>
            <a:endParaRPr sz="1900"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900"/>
              <a:t>Indexing (IVFFlat) must be managed manually</a:t>
            </a:r>
            <a:br>
              <a:rPr lang="en-GB" sz="1900"/>
            </a:br>
            <a:endParaRPr sz="1900"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900"/>
              <a:t>Requires tuning for optimal performance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300"/>
              <a:t>When to Use pgvector?</a:t>
            </a:r>
            <a:endParaRPr b="1"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3300"/>
          </a:p>
        </p:txBody>
      </p:sp>
      <p:sp>
        <p:nvSpPr>
          <p:cNvPr id="363" name="Google Shape;363;p4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 Already using PostgreSQL</a:t>
            </a:r>
            <a:br>
              <a:rPr lang="en-GB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 Want to filter + search (SQL + embeddings)</a:t>
            </a:r>
            <a:br>
              <a:rPr lang="en-GB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 Building early RAG prototypes</a:t>
            </a:r>
            <a:br>
              <a:rPr lang="en-GB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 Handling up to ~1M rows efficiently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100"/>
              <a:t>Application  in RAG </a:t>
            </a:r>
            <a:endParaRPr sz="3100"/>
          </a:p>
        </p:txBody>
      </p:sp>
      <p:sp>
        <p:nvSpPr>
          <p:cNvPr id="369" name="Google Shape;369;p49"/>
          <p:cNvSpPr txBox="1"/>
          <p:nvPr>
            <p:ph idx="1" type="body"/>
          </p:nvPr>
        </p:nvSpPr>
        <p:spPr>
          <a:xfrm>
            <a:off x="1297500" y="1105175"/>
            <a:ext cx="70389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/>
          </a:p>
          <a:p>
            <a:pPr indent="-3365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Generate text embeddings using OpenAI/Cohere</a:t>
            </a:r>
            <a:br>
              <a:rPr lang="en-GB" sz="1700"/>
            </a:b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Store embeddings in PostgreSQL using pgvector</a:t>
            </a:r>
            <a:br>
              <a:rPr lang="en-GB" sz="1700"/>
            </a:b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GB" sz="1700"/>
              <a:t>On query:</a:t>
            </a:r>
            <a:br>
              <a:rPr lang="en-GB" sz="1700"/>
            </a:br>
            <a:endParaRPr sz="1700"/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/>
              <a:t>Convert input → vector</a:t>
            </a:r>
            <a:br>
              <a:rPr lang="en-GB" sz="1700"/>
            </a:br>
            <a:endParaRPr sz="1700"/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/>
              <a:t>Run top-k similarity search using SQL</a:t>
            </a:r>
            <a:br>
              <a:rPr lang="en-GB" sz="1700"/>
            </a:br>
            <a:endParaRPr sz="1700"/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</a:pPr>
            <a:r>
              <a:rPr lang="en-GB" sz="1700"/>
              <a:t>Feed results into the LLM</a:t>
            </a:r>
            <a:endParaRPr sz="17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0"/>
          <p:cNvSpPr txBox="1"/>
          <p:nvPr>
            <p:ph type="title"/>
          </p:nvPr>
        </p:nvSpPr>
        <p:spPr>
          <a:xfrm>
            <a:off x="1129700" y="393750"/>
            <a:ext cx="7206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/>
              <a:t>Pinecone</a:t>
            </a:r>
            <a:endParaRPr b="1" sz="2600"/>
          </a:p>
        </p:txBody>
      </p:sp>
      <p:sp>
        <p:nvSpPr>
          <p:cNvPr id="375" name="Google Shape;375;p50"/>
          <p:cNvSpPr txBox="1"/>
          <p:nvPr>
            <p:ph idx="1" type="body"/>
          </p:nvPr>
        </p:nvSpPr>
        <p:spPr>
          <a:xfrm>
            <a:off x="1043250" y="985350"/>
            <a:ext cx="4196700" cy="3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57">
                <a:latin typeface="Arial"/>
                <a:ea typeface="Arial"/>
                <a:cs typeface="Arial"/>
                <a:sym typeface="Arial"/>
              </a:rPr>
              <a:t>Pinecone is a </a:t>
            </a:r>
            <a:r>
              <a:rPr b="1" lang="en-GB" sz="1157">
                <a:latin typeface="Arial"/>
                <a:ea typeface="Arial"/>
                <a:cs typeface="Arial"/>
                <a:sym typeface="Arial"/>
              </a:rPr>
              <a:t>fully managed vector database</a:t>
            </a:r>
            <a:r>
              <a:rPr lang="en-GB" sz="1157">
                <a:latin typeface="Arial"/>
                <a:ea typeface="Arial"/>
                <a:cs typeface="Arial"/>
                <a:sym typeface="Arial"/>
              </a:rPr>
              <a:t> designed for similarity search.</a:t>
            </a:r>
            <a:br>
              <a:rPr lang="en-GB" sz="1157">
                <a:latin typeface="Arial"/>
                <a:ea typeface="Arial"/>
                <a:cs typeface="Arial"/>
                <a:sym typeface="Arial"/>
              </a:rPr>
            </a:br>
            <a:endParaRPr sz="11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57">
                <a:latin typeface="Arial"/>
                <a:ea typeface="Arial"/>
                <a:cs typeface="Arial"/>
                <a:sym typeface="Arial"/>
              </a:rPr>
              <a:t>It enables fast, scalable search across </a:t>
            </a:r>
            <a:r>
              <a:rPr b="1" lang="en-GB" sz="1157">
                <a:latin typeface="Arial"/>
                <a:ea typeface="Arial"/>
                <a:cs typeface="Arial"/>
                <a:sym typeface="Arial"/>
              </a:rPr>
              <a:t>high-dimensional embeddings</a:t>
            </a:r>
            <a:r>
              <a:rPr lang="en-GB" sz="1157">
                <a:latin typeface="Arial"/>
                <a:ea typeface="Arial"/>
                <a:cs typeface="Arial"/>
                <a:sym typeface="Arial"/>
              </a:rPr>
              <a:t> (text, images,</a:t>
            </a:r>
            <a:endParaRPr sz="11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57">
                <a:latin typeface="Arial"/>
                <a:ea typeface="Arial"/>
                <a:cs typeface="Arial"/>
                <a:sym typeface="Arial"/>
              </a:rPr>
              <a:t> etc.)</a:t>
            </a:r>
            <a:br>
              <a:rPr lang="en-GB" sz="1157">
                <a:latin typeface="Arial"/>
                <a:ea typeface="Arial"/>
                <a:cs typeface="Arial"/>
                <a:sym typeface="Arial"/>
              </a:rPr>
            </a:br>
            <a:endParaRPr sz="11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57">
                <a:latin typeface="Arial"/>
                <a:ea typeface="Arial"/>
                <a:cs typeface="Arial"/>
                <a:sym typeface="Arial"/>
              </a:rPr>
              <a:t>Ideal for </a:t>
            </a:r>
            <a:r>
              <a:rPr b="1" lang="en-GB" sz="1157">
                <a:latin typeface="Arial"/>
                <a:ea typeface="Arial"/>
                <a:cs typeface="Arial"/>
                <a:sym typeface="Arial"/>
              </a:rPr>
              <a:t>semantic search</a:t>
            </a:r>
            <a:r>
              <a:rPr lang="en-GB" sz="1157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157">
                <a:latin typeface="Arial"/>
                <a:ea typeface="Arial"/>
                <a:cs typeface="Arial"/>
                <a:sym typeface="Arial"/>
              </a:rPr>
              <a:t>recommendation systems</a:t>
            </a:r>
            <a:r>
              <a:rPr lang="en-GB" sz="1157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GB" sz="1157">
                <a:latin typeface="Arial"/>
                <a:ea typeface="Arial"/>
                <a:cs typeface="Arial"/>
                <a:sym typeface="Arial"/>
              </a:rPr>
              <a:t>RAG architectures</a:t>
            </a:r>
            <a:r>
              <a:rPr lang="en-GB" sz="1157">
                <a:latin typeface="Arial"/>
                <a:ea typeface="Arial"/>
                <a:cs typeface="Arial"/>
                <a:sym typeface="Arial"/>
              </a:rPr>
              <a:t>.</a:t>
            </a:r>
            <a:endParaRPr sz="11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1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1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-GB" sz="1543"/>
              <a:t>Use Case</a:t>
            </a:r>
            <a:r>
              <a:rPr lang="en-GB" sz="1543"/>
              <a:t>:</a:t>
            </a:r>
            <a:br>
              <a:rPr lang="en-GB" sz="1143"/>
            </a:br>
            <a:r>
              <a:rPr lang="en-GB" sz="1143"/>
              <a:t>Retrieval-Augmented Generation (RAG)</a:t>
            </a:r>
            <a:br>
              <a:rPr lang="en-GB" sz="1143"/>
            </a:br>
            <a:endParaRPr sz="114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43"/>
              <a:t>Semantic search (text, image, code)</a:t>
            </a:r>
            <a:br>
              <a:rPr lang="en-GB" sz="1143"/>
            </a:br>
            <a:endParaRPr sz="114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43"/>
              <a:t>Personalized recommendations</a:t>
            </a:r>
            <a:br>
              <a:rPr lang="en-GB" sz="1143"/>
            </a:br>
            <a:endParaRPr sz="114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43"/>
              <a:t>Chatbots with long-term memory</a:t>
            </a:r>
            <a:br>
              <a:rPr lang="en-GB" sz="1143"/>
            </a:br>
            <a:endParaRPr sz="114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1143"/>
              <a:t>Duplicate detection and anomaly detection</a:t>
            </a:r>
            <a:endParaRPr sz="1143"/>
          </a:p>
          <a:p>
            <a:pPr indent="0" lvl="0" marL="0" rtl="0" algn="l">
              <a:lnSpc>
                <a:spcPct val="8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6"/>
              <a:buFont typeface="Arial"/>
              <a:buNone/>
            </a:pPr>
            <a:r>
              <a:t/>
            </a:r>
            <a:endParaRPr sz="922"/>
          </a:p>
        </p:txBody>
      </p:sp>
      <p:pic>
        <p:nvPicPr>
          <p:cNvPr id="376" name="Google Shape;37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950" y="708950"/>
            <a:ext cx="3668150" cy="19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0"/>
          <p:cNvSpPr txBox="1"/>
          <p:nvPr/>
        </p:nvSpPr>
        <p:spPr>
          <a:xfrm>
            <a:off x="4629150" y="2729100"/>
            <a:ext cx="4392000" cy="2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6"/>
              <a:buFont typeface="Arial"/>
              <a:buNone/>
            </a:pPr>
            <a:r>
              <a:rPr b="1" lang="en-GB" sz="1064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Features</a:t>
            </a:r>
            <a:endParaRPr b="1" sz="1064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4874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44"/>
              <a:buFont typeface="Lato"/>
              <a:buChar char="●"/>
            </a:pPr>
            <a:r>
              <a:rPr lang="en-GB" sz="1057">
                <a:solidFill>
                  <a:schemeClr val="lt1"/>
                </a:solidFill>
              </a:rPr>
              <a:t>Fully managed </a:t>
            </a:r>
            <a:r>
              <a:rPr b="1" lang="en-GB" sz="1057">
                <a:solidFill>
                  <a:schemeClr val="lt1"/>
                </a:solidFill>
              </a:rPr>
              <a:t>vector database as a service</a:t>
            </a:r>
            <a:br>
              <a:rPr b="1" lang="en-GB" sz="1057">
                <a:solidFill>
                  <a:schemeClr val="lt1"/>
                </a:solidFill>
              </a:rPr>
            </a:br>
            <a:endParaRPr b="1" sz="1057">
              <a:solidFill>
                <a:schemeClr val="lt1"/>
              </a:solidFill>
            </a:endParaRPr>
          </a:p>
          <a:p>
            <a:pPr indent="-294874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44"/>
              <a:buFont typeface="Lato"/>
              <a:buChar char="●"/>
            </a:pPr>
            <a:r>
              <a:rPr lang="en-GB" sz="1057">
                <a:solidFill>
                  <a:schemeClr val="lt1"/>
                </a:solidFill>
              </a:rPr>
              <a:t>Fast </a:t>
            </a:r>
            <a:r>
              <a:rPr b="1" lang="en-GB" sz="1057">
                <a:solidFill>
                  <a:schemeClr val="lt1"/>
                </a:solidFill>
              </a:rPr>
              <a:t>approximate nearest neighbor (ANN)</a:t>
            </a:r>
            <a:r>
              <a:rPr lang="en-GB" sz="1057">
                <a:solidFill>
                  <a:schemeClr val="lt1"/>
                </a:solidFill>
              </a:rPr>
              <a:t> search</a:t>
            </a:r>
            <a:br>
              <a:rPr lang="en-GB" sz="1057">
                <a:solidFill>
                  <a:schemeClr val="lt1"/>
                </a:solidFill>
              </a:rPr>
            </a:br>
            <a:endParaRPr sz="1057">
              <a:solidFill>
                <a:schemeClr val="lt1"/>
              </a:solidFill>
            </a:endParaRPr>
          </a:p>
          <a:p>
            <a:pPr indent="-294874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44"/>
              <a:buFont typeface="Lato"/>
              <a:buChar char="●"/>
            </a:pPr>
            <a:r>
              <a:rPr lang="en-GB" sz="1057">
                <a:solidFill>
                  <a:schemeClr val="lt1"/>
                </a:solidFill>
              </a:rPr>
              <a:t>Scalable to </a:t>
            </a:r>
            <a:r>
              <a:rPr b="1" lang="en-GB" sz="1057">
                <a:solidFill>
                  <a:schemeClr val="lt1"/>
                </a:solidFill>
              </a:rPr>
              <a:t>millions or billions</a:t>
            </a:r>
            <a:r>
              <a:rPr lang="en-GB" sz="1057">
                <a:solidFill>
                  <a:schemeClr val="lt1"/>
                </a:solidFill>
              </a:rPr>
              <a:t> of vectors</a:t>
            </a:r>
            <a:br>
              <a:rPr lang="en-GB" sz="1057">
                <a:solidFill>
                  <a:schemeClr val="lt1"/>
                </a:solidFill>
              </a:rPr>
            </a:br>
            <a:endParaRPr sz="1057">
              <a:solidFill>
                <a:schemeClr val="lt1"/>
              </a:solidFill>
            </a:endParaRPr>
          </a:p>
          <a:p>
            <a:pPr indent="-294874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44"/>
              <a:buFont typeface="Lato"/>
              <a:buChar char="●"/>
            </a:pPr>
            <a:r>
              <a:rPr lang="en-GB" sz="1057">
                <a:solidFill>
                  <a:schemeClr val="lt1"/>
                </a:solidFill>
              </a:rPr>
              <a:t>Built-in </a:t>
            </a:r>
            <a:r>
              <a:rPr b="1" lang="en-GB" sz="1057">
                <a:solidFill>
                  <a:schemeClr val="lt1"/>
                </a:solidFill>
              </a:rPr>
              <a:t>metadata filtering</a:t>
            </a:r>
            <a:r>
              <a:rPr lang="en-GB" sz="1057">
                <a:solidFill>
                  <a:schemeClr val="lt1"/>
                </a:solidFill>
              </a:rPr>
              <a:t> and </a:t>
            </a:r>
            <a:r>
              <a:rPr b="1" lang="en-GB" sz="1057">
                <a:solidFill>
                  <a:schemeClr val="lt1"/>
                </a:solidFill>
              </a:rPr>
              <a:t>namespaces</a:t>
            </a:r>
            <a:br>
              <a:rPr b="1" lang="en-GB" sz="1057">
                <a:solidFill>
                  <a:schemeClr val="lt1"/>
                </a:solidFill>
              </a:rPr>
            </a:br>
            <a:endParaRPr b="1" sz="1057">
              <a:solidFill>
                <a:schemeClr val="lt1"/>
              </a:solidFill>
            </a:endParaRPr>
          </a:p>
          <a:p>
            <a:pPr indent="-294874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44"/>
              <a:buFont typeface="Lato"/>
              <a:buChar char="●"/>
            </a:pPr>
            <a:r>
              <a:rPr lang="en-GB" sz="1057">
                <a:solidFill>
                  <a:schemeClr val="lt1"/>
                </a:solidFill>
              </a:rPr>
              <a:t>Supports </a:t>
            </a:r>
            <a:r>
              <a:rPr b="1" lang="en-GB" sz="1057">
                <a:solidFill>
                  <a:schemeClr val="lt1"/>
                </a:solidFill>
              </a:rPr>
              <a:t>real-time upserts</a:t>
            </a:r>
            <a:r>
              <a:rPr lang="en-GB" sz="1057">
                <a:solidFill>
                  <a:schemeClr val="lt1"/>
                </a:solidFill>
              </a:rPr>
              <a:t>, deletions, and updates</a:t>
            </a:r>
            <a:br>
              <a:rPr lang="en-GB" sz="1057">
                <a:solidFill>
                  <a:schemeClr val="lt1"/>
                </a:solidFill>
              </a:rPr>
            </a:br>
            <a:endParaRPr sz="1057">
              <a:solidFill>
                <a:schemeClr val="lt1"/>
              </a:solidFill>
            </a:endParaRPr>
          </a:p>
          <a:p>
            <a:pPr indent="-294874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44"/>
              <a:buFont typeface="Lato"/>
              <a:buChar char="●"/>
            </a:pPr>
            <a:r>
              <a:rPr lang="en-GB" sz="1057">
                <a:solidFill>
                  <a:schemeClr val="lt1"/>
                </a:solidFill>
              </a:rPr>
              <a:t>Simple </a:t>
            </a:r>
            <a:r>
              <a:rPr b="1" lang="en-GB" sz="1057">
                <a:solidFill>
                  <a:schemeClr val="lt1"/>
                </a:solidFill>
              </a:rPr>
              <a:t>REST API &amp; Python SDK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>
            <p:ph idx="1" type="body"/>
          </p:nvPr>
        </p:nvSpPr>
        <p:spPr>
          <a:xfrm>
            <a:off x="1297500" y="169100"/>
            <a:ext cx="7038900" cy="43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-GB" sz="1502">
                <a:latin typeface="Arial"/>
                <a:ea typeface="Arial"/>
                <a:cs typeface="Arial"/>
                <a:sym typeface="Arial"/>
              </a:rPr>
              <a:t>Best For</a:t>
            </a:r>
            <a:endParaRPr b="1" sz="1502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Scalable RAG pipelines using OpenAI/BERT embeddings</a:t>
            </a:r>
            <a:br>
              <a:rPr lang="en-GB" sz="1317">
                <a:latin typeface="Arial"/>
                <a:ea typeface="Arial"/>
                <a:cs typeface="Arial"/>
                <a:sym typeface="Arial"/>
              </a:rPr>
            </a:br>
            <a:endParaRPr sz="1317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Teams that want </a:t>
            </a:r>
            <a:r>
              <a:rPr b="1" lang="en-GB" sz="1317">
                <a:latin typeface="Arial"/>
                <a:ea typeface="Arial"/>
                <a:cs typeface="Arial"/>
                <a:sym typeface="Arial"/>
              </a:rPr>
              <a:t>production-ready search</a:t>
            </a:r>
            <a:r>
              <a:rPr lang="en-GB" sz="1317">
                <a:latin typeface="Arial"/>
                <a:ea typeface="Arial"/>
                <a:cs typeface="Arial"/>
                <a:sym typeface="Arial"/>
              </a:rPr>
              <a:t> without DevOps overhead</a:t>
            </a:r>
            <a:br>
              <a:rPr lang="en-GB" sz="1317">
                <a:latin typeface="Arial"/>
                <a:ea typeface="Arial"/>
                <a:cs typeface="Arial"/>
                <a:sym typeface="Arial"/>
              </a:rPr>
            </a:br>
            <a:endParaRPr sz="1317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Applications needing </a:t>
            </a:r>
            <a:r>
              <a:rPr b="1" lang="en-GB" sz="1317">
                <a:latin typeface="Arial"/>
                <a:ea typeface="Arial"/>
                <a:cs typeface="Arial"/>
                <a:sym typeface="Arial"/>
              </a:rPr>
              <a:t>real-time similarity search</a:t>
            </a:r>
            <a:br>
              <a:rPr b="1" lang="en-GB" sz="1317">
                <a:latin typeface="Arial"/>
                <a:ea typeface="Arial"/>
                <a:cs typeface="Arial"/>
                <a:sym typeface="Arial"/>
              </a:rPr>
            </a:br>
            <a:endParaRPr b="1" sz="1317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Enterprises with cloud infrastructure (Pinecone is cloud-native)</a:t>
            </a:r>
            <a:br>
              <a:rPr lang="en-GB" sz="1317">
                <a:latin typeface="Arial"/>
                <a:ea typeface="Arial"/>
                <a:cs typeface="Arial"/>
                <a:sym typeface="Arial"/>
              </a:rPr>
            </a:br>
            <a:endParaRPr sz="13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-GB" sz="1502">
                <a:latin typeface="Arial"/>
                <a:ea typeface="Arial"/>
                <a:cs typeface="Arial"/>
                <a:sym typeface="Arial"/>
              </a:rPr>
              <a:t>Not Ideal For</a:t>
            </a:r>
            <a:endParaRPr b="1" sz="1502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Projects requiring </a:t>
            </a:r>
            <a:r>
              <a:rPr b="1" lang="en-GB" sz="1317">
                <a:latin typeface="Arial"/>
                <a:ea typeface="Arial"/>
                <a:cs typeface="Arial"/>
                <a:sym typeface="Arial"/>
              </a:rPr>
              <a:t>fully offline or local-only setup</a:t>
            </a:r>
            <a:br>
              <a:rPr b="1" lang="en-GB" sz="1317">
                <a:latin typeface="Arial"/>
                <a:ea typeface="Arial"/>
                <a:cs typeface="Arial"/>
                <a:sym typeface="Arial"/>
              </a:rPr>
            </a:br>
            <a:endParaRPr b="1" sz="1317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Open-source-only environments (Pinecone is closed-source)</a:t>
            </a:r>
            <a:br>
              <a:rPr lang="en-GB" sz="1317">
                <a:latin typeface="Arial"/>
                <a:ea typeface="Arial"/>
                <a:cs typeface="Arial"/>
                <a:sym typeface="Arial"/>
              </a:rPr>
            </a:br>
            <a:endParaRPr sz="1317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Lightweight apps with very small vector datasets</a:t>
            </a:r>
            <a:br>
              <a:rPr lang="en-GB" sz="1317">
                <a:latin typeface="Arial"/>
                <a:ea typeface="Arial"/>
                <a:cs typeface="Arial"/>
                <a:sym typeface="Arial"/>
              </a:rPr>
            </a:br>
            <a:endParaRPr sz="1317">
              <a:latin typeface="Arial"/>
              <a:ea typeface="Arial"/>
              <a:cs typeface="Arial"/>
              <a:sym typeface="Arial"/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8"/>
              <a:buFont typeface="Arial"/>
              <a:buChar char="●"/>
            </a:pPr>
            <a:r>
              <a:rPr lang="en-GB" sz="1317">
                <a:latin typeface="Arial"/>
                <a:ea typeface="Arial"/>
                <a:cs typeface="Arial"/>
                <a:sym typeface="Arial"/>
              </a:rPr>
              <a:t>Developers who want full control over vector indexing methods (FAISS gives more flexibility)</a:t>
            </a:r>
            <a:endParaRPr sz="13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502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/>
              <a:t>How Pinecone Works?</a:t>
            </a:r>
            <a:endParaRPr b="1" sz="3100"/>
          </a:p>
        </p:txBody>
      </p:sp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1297500" y="1167275"/>
            <a:ext cx="7038900" cy="3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Stores vector embeddings (e.g., from BERT, OpenAI, SentenceTransformer).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Indexes them using approximate nearest neighbor (ANN) search algorithms.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Returns the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most semantically similar vectors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to a query embedding.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metadata filtering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real-time updates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INSTALLATION AND SET UP </a:t>
            </a:r>
            <a:endParaRPr b="1" sz="30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3"/>
          <p:cNvSpPr txBox="1"/>
          <p:nvPr>
            <p:ph idx="1" type="body"/>
          </p:nvPr>
        </p:nvSpPr>
        <p:spPr>
          <a:xfrm>
            <a:off x="1297500" y="1002875"/>
            <a:ext cx="7038900" cy="3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👉</a:t>
            </a:r>
            <a:r>
              <a:rPr lang="en-GB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https://www.pinecone.io</a:t>
            </a:r>
            <a:endParaRPr/>
          </a:p>
        </p:txBody>
      </p:sp>
      <p:pic>
        <p:nvPicPr>
          <p:cNvPr id="395" name="Google Shape;39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00" y="1625275"/>
            <a:ext cx="5142627" cy="335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8150" y="1622375"/>
            <a:ext cx="3170649" cy="3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3"/>
          <p:cNvSpPr txBox="1"/>
          <p:nvPr/>
        </p:nvSpPr>
        <p:spPr>
          <a:xfrm>
            <a:off x="436800" y="1109400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8" name="Google Shape;398;p53"/>
          <p:cNvSpPr txBox="1"/>
          <p:nvPr/>
        </p:nvSpPr>
        <p:spPr>
          <a:xfrm>
            <a:off x="5498150" y="1093775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6525"/>
            <a:ext cx="3889599" cy="342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599" y="1553400"/>
            <a:ext cx="4797202" cy="345081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4"/>
          <p:cNvSpPr txBox="1"/>
          <p:nvPr/>
        </p:nvSpPr>
        <p:spPr>
          <a:xfrm>
            <a:off x="519000" y="933250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3: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" name="Google Shape;406;p54"/>
          <p:cNvSpPr txBox="1"/>
          <p:nvPr/>
        </p:nvSpPr>
        <p:spPr>
          <a:xfrm>
            <a:off x="4276600" y="874275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3500"/>
            <a:ext cx="3995275" cy="32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600" y="1613500"/>
            <a:ext cx="4691523" cy="329982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5"/>
          <p:cNvSpPr txBox="1"/>
          <p:nvPr/>
        </p:nvSpPr>
        <p:spPr>
          <a:xfrm>
            <a:off x="565975" y="945000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5: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55"/>
          <p:cNvSpPr txBox="1"/>
          <p:nvPr/>
        </p:nvSpPr>
        <p:spPr>
          <a:xfrm>
            <a:off x="4276600" y="874275"/>
            <a:ext cx="2008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STEP 6:</a:t>
            </a:r>
            <a:endParaRPr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6"/>
          <p:cNvSpPr txBox="1"/>
          <p:nvPr>
            <p:ph type="title"/>
          </p:nvPr>
        </p:nvSpPr>
        <p:spPr>
          <a:xfrm>
            <a:off x="1297500" y="3467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Components of Pinecone</a:t>
            </a:r>
            <a:endParaRPr b="1"/>
          </a:p>
        </p:txBody>
      </p:sp>
      <p:sp>
        <p:nvSpPr>
          <p:cNvPr id="420" name="Google Shape;420;p56"/>
          <p:cNvSpPr txBox="1"/>
          <p:nvPr>
            <p:ph idx="1" type="body"/>
          </p:nvPr>
        </p:nvSpPr>
        <p:spPr>
          <a:xfrm>
            <a:off x="965275" y="1096800"/>
            <a:ext cx="7371000" cy="33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1. Index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 container/database to store and manage all vectors.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Organizes data for efficient search and retrieval.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2. Namespace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 logical grouping inside an index (like a sub-folder).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Keeps datasets separate without multiple indexes.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3. Vector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 list of numbers representing data (text, images, etc.)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mathematically.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Enables similarity comparison between data points.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421" name="Google Shape;42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625" y="928800"/>
            <a:ext cx="3006250" cy="371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Advantages of Pinecone</a:t>
            </a:r>
            <a:endParaRPr sz="3500"/>
          </a:p>
        </p:txBody>
      </p:sp>
      <p:sp>
        <p:nvSpPr>
          <p:cNvPr id="427" name="Google Shape;427;p57"/>
          <p:cNvSpPr txBox="1"/>
          <p:nvPr>
            <p:ph idx="1" type="body"/>
          </p:nvPr>
        </p:nvSpPr>
        <p:spPr>
          <a:xfrm>
            <a:off x="1297500" y="1179000"/>
            <a:ext cx="7038900" cy="32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Fully managed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– no infrastructure maintenance.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Highly scalable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– handles millions of vectors.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Fast and accurate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vector similarity search.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Built-in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metadata filtering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and namespaces.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Real-time updates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and low-latency search.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Disadvantages of Pinecone</a:t>
            </a:r>
            <a:endParaRPr b="1" sz="3500"/>
          </a:p>
        </p:txBody>
      </p:sp>
      <p:sp>
        <p:nvSpPr>
          <p:cNvPr id="433" name="Google Shape;433;p58"/>
          <p:cNvSpPr txBox="1"/>
          <p:nvPr>
            <p:ph idx="1" type="body"/>
          </p:nvPr>
        </p:nvSpPr>
        <p:spPr>
          <a:xfrm>
            <a:off x="1297500" y="1190750"/>
            <a:ext cx="7038900" cy="32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Paid service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– not open-source (free tier has limits).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Cloud-dependent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– no fully offline/local version.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Less flexibility than open-source tools (e.g., FAISS).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Not ideal for small, lightweight/local projects.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When to Use Pinecone ?</a:t>
            </a:r>
            <a:endParaRPr b="1"/>
          </a:p>
        </p:txBody>
      </p:sp>
      <p:sp>
        <p:nvSpPr>
          <p:cNvPr id="439" name="Google Shape;439;p59"/>
          <p:cNvSpPr txBox="1"/>
          <p:nvPr>
            <p:ph idx="1" type="body"/>
          </p:nvPr>
        </p:nvSpPr>
        <p:spPr>
          <a:xfrm>
            <a:off x="1297500" y="1120300"/>
            <a:ext cx="7038900" cy="3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Use Pinecone when: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You need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production-grade vector search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with minimal ops overhead.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You’re scaling to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millions of documents or queries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You want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real-time search performance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in a RAG system.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-GB" sz="1600">
                <a:latin typeface="Arial"/>
                <a:ea typeface="Arial"/>
                <a:cs typeface="Arial"/>
                <a:sym typeface="Arial"/>
              </a:rPr>
              <a:t>You prefer a </a:t>
            </a: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plug-and-play API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 over managing FAISS manually.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Application in RAG </a:t>
            </a:r>
            <a:endParaRPr b="1"/>
          </a:p>
        </p:txBody>
      </p:sp>
      <p:sp>
        <p:nvSpPr>
          <p:cNvPr id="445" name="Google Shape;445;p60"/>
          <p:cNvSpPr txBox="1"/>
          <p:nvPr>
            <p:ph idx="1" type="body"/>
          </p:nvPr>
        </p:nvSpPr>
        <p:spPr>
          <a:xfrm>
            <a:off x="1297500" y="1049850"/>
            <a:ext cx="70389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text embeddings of documents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or knowledge chunks.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When a user asks a question: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query is embedded → sent to Pinecone.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Pinecone returns top-K similar chunks.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The retrieved context is passed to a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language model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for answer generation.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Enhances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context relevance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reduces hallucination, and supports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grounded generation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1"/>
          <p:cNvSpPr txBox="1"/>
          <p:nvPr>
            <p:ph type="title"/>
          </p:nvPr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WORKFLOW</a:t>
            </a:r>
            <a:endParaRPr b="1" sz="3600"/>
          </a:p>
        </p:txBody>
      </p:sp>
      <p:sp>
        <p:nvSpPr>
          <p:cNvPr id="451" name="Google Shape;451;p6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0100"/>
            <a:ext cx="9144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0100"/>
            <a:ext cx="9144000" cy="449579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1"/>
          <p:cNvSpPr txBox="1"/>
          <p:nvPr/>
        </p:nvSpPr>
        <p:spPr>
          <a:xfrm>
            <a:off x="2574100" y="1155525"/>
            <a:ext cx="645900" cy="29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Embedding model</a:t>
            </a:r>
            <a:endParaRPr sz="700">
              <a:solidFill>
                <a:srgbClr val="11182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61"/>
          <p:cNvSpPr txBox="1"/>
          <p:nvPr/>
        </p:nvSpPr>
        <p:spPr>
          <a:xfrm>
            <a:off x="2574100" y="2047750"/>
            <a:ext cx="645900" cy="29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111827"/>
                </a:solidFill>
                <a:latin typeface="Lato"/>
                <a:ea typeface="Lato"/>
                <a:cs typeface="Lato"/>
                <a:sym typeface="Lato"/>
              </a:rPr>
              <a:t>Embedding model</a:t>
            </a:r>
            <a:endParaRPr sz="700">
              <a:solidFill>
                <a:srgbClr val="11182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