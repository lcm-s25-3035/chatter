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311" r:id="rId27"/>
  </p:sldIdLst>
  <p:sldSz cx="9144000" cy="5143500" type="screen16x9"/>
  <p:notesSz cx="6858000" cy="9144000"/>
  <p:embeddedFontLst>
    <p:embeddedFont>
      <p:font typeface="Impact" panose="020B0806030902050204" pitchFamily="34" charset="0"/>
      <p:regular r:id="rId29"/>
    </p:embeddedFont>
    <p:embeddedFont>
      <p:font typeface="Maven Pro" panose="020B0604020202020204" charset="0"/>
      <p:regular r:id="rId30"/>
      <p:bold r:id="rId31"/>
    </p:embeddedFont>
    <p:embeddedFont>
      <p:font typeface="Nunito"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38711D4-A69B-48FA-B2BC-72881B4788A0}">
  <a:tblStyle styleId="{C38711D4-A69B-48FA-B2BC-72881B4788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86ADB45-88ED-4A3C-865C-E2ECB4F088A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6bf18bee9c_0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6bf18bee9c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36bf18bee9c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6bf18bee9c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6bdeada66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6bdeada66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36bdeada665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6bdeada66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36bdeada665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36bdeada665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6bdeada665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6bdeada665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bdeada665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6bdeada665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6bdeada665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36bdeada665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36bdeada665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6" name="Google Shape;326;g36bdeada66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g36bdeada665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3" name="Google Shape;333;g36bdeada665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g36bdeada665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0" name="Google Shape;340;g36bdeada66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36bdeada665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36bdeada66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6bdeada665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6bdeada665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g36bdeada665_0_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 name="Google Shape;358;g36bdeada665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36bdeada665_0_9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36bdeada665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36bdeada665_0_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36bdeada665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36bdeada665_0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36bdeada665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36bdeada665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36bdeada665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36bdeada665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36bdeada665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6bdeada665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36bdeada665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36bdeada665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36bdeada665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36bdeada665_0_1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36bdeada665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g36bdeada665_0_1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4" name="Google Shape;414;g36bdeada665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6bdeada665_0_15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36bdeada665_0_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36bdeada665_0_1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36bdeada665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36bf18bee9c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g36bf18bee9c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339275" y="341548"/>
            <a:ext cx="7023900" cy="6954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GB">
                <a:latin typeface="Times New Roman"/>
                <a:ea typeface="Times New Roman"/>
                <a:cs typeface="Times New Roman"/>
                <a:sym typeface="Times New Roman"/>
              </a:rPr>
              <a:t>Milestone 3</a:t>
            </a:r>
            <a:endParaRPr>
              <a:latin typeface="Times New Roman"/>
              <a:ea typeface="Times New Roman"/>
              <a:cs typeface="Times New Roman"/>
              <a:sym typeface="Times New Roman"/>
            </a:endParaRPr>
          </a:p>
        </p:txBody>
      </p:sp>
      <p:sp>
        <p:nvSpPr>
          <p:cNvPr id="278" name="Google Shape;278;p13"/>
          <p:cNvSpPr txBox="1">
            <a:spLocks noGrp="1"/>
          </p:cNvSpPr>
          <p:nvPr>
            <p:ph type="subTitle" idx="1"/>
          </p:nvPr>
        </p:nvSpPr>
        <p:spPr>
          <a:xfrm>
            <a:off x="545875" y="1167900"/>
            <a:ext cx="4533600" cy="565500"/>
          </a:xfrm>
          <a:prstGeom prst="rect">
            <a:avLst/>
          </a:prstGeom>
        </p:spPr>
        <p:txBody>
          <a:bodyPr spcFirstLastPara="1" wrap="square" lIns="91425" tIns="91425" rIns="91425" bIns="91425" anchor="t" anchorCtr="0">
            <a:normAutofit lnSpcReduction="20000"/>
          </a:bodyPr>
          <a:lstStyle/>
          <a:p>
            <a:pPr marL="0" lvl="0" indent="0" algn="ctr" rtl="0">
              <a:spcBef>
                <a:spcPts val="0"/>
              </a:spcBef>
              <a:spcAft>
                <a:spcPts val="0"/>
              </a:spcAft>
              <a:buNone/>
            </a:pPr>
            <a:r>
              <a:rPr lang="en-GB" sz="2500">
                <a:latin typeface="Times New Roman"/>
                <a:ea typeface="Times New Roman"/>
                <a:cs typeface="Times New Roman"/>
                <a:sym typeface="Times New Roman"/>
              </a:rPr>
              <a:t>                      </a:t>
            </a:r>
            <a:r>
              <a:rPr lang="en-GB" sz="3000" b="1">
                <a:latin typeface="Times New Roman"/>
                <a:ea typeface="Times New Roman"/>
                <a:cs typeface="Times New Roman"/>
                <a:sym typeface="Times New Roman"/>
              </a:rPr>
              <a:t> Group 6 </a:t>
            </a:r>
            <a:endParaRPr sz="3000" b="1">
              <a:latin typeface="Times New Roman"/>
              <a:ea typeface="Times New Roman"/>
              <a:cs typeface="Times New Roman"/>
              <a:sym typeface="Times New Roman"/>
            </a:endParaRPr>
          </a:p>
        </p:txBody>
      </p:sp>
      <p:sp>
        <p:nvSpPr>
          <p:cNvPr id="279" name="Google Shape;279;p13"/>
          <p:cNvSpPr txBox="1"/>
          <p:nvPr/>
        </p:nvSpPr>
        <p:spPr>
          <a:xfrm>
            <a:off x="219675" y="1950825"/>
            <a:ext cx="6828900" cy="3055800"/>
          </a:xfrm>
          <a:prstGeom prst="rect">
            <a:avLst/>
          </a:prstGeom>
          <a:noFill/>
          <a:ln>
            <a:noFill/>
          </a:ln>
        </p:spPr>
        <p:txBody>
          <a:bodyPr spcFirstLastPara="1" wrap="square" lIns="91425" tIns="91425" rIns="91425" bIns="91425" anchor="t" anchorCtr="0">
            <a:noAutofit/>
          </a:bodyPr>
          <a:lstStyle/>
          <a:p>
            <a:pPr marL="228600" lvl="0" indent="0" algn="l" rtl="0">
              <a:lnSpc>
                <a:spcPct val="90000"/>
              </a:lnSpc>
              <a:spcBef>
                <a:spcPts val="1000"/>
              </a:spcBef>
              <a:spcAft>
                <a:spcPts val="0"/>
              </a:spcAft>
              <a:buNone/>
            </a:pPr>
            <a:r>
              <a:rPr lang="en-GB" sz="1700">
                <a:solidFill>
                  <a:srgbClr val="FFFFFF"/>
                </a:solidFill>
                <a:latin typeface="Impact"/>
                <a:ea typeface="Impact"/>
                <a:cs typeface="Impact"/>
                <a:sym typeface="Impact"/>
              </a:rPr>
              <a:t>Sneha Painuli [</a:t>
            </a:r>
            <a:r>
              <a:rPr lang="en-GB" sz="1700" b="1">
                <a:solidFill>
                  <a:srgbClr val="FFFFFF"/>
                </a:solidFill>
              </a:rPr>
              <a:t>C0933116]</a:t>
            </a:r>
            <a:endParaRPr sz="1700" b="1">
              <a:solidFill>
                <a:srgbClr val="FFFFFF"/>
              </a:solidFill>
            </a:endParaRPr>
          </a:p>
          <a:p>
            <a:pPr marL="228600" lvl="0" indent="0" algn="l" rtl="0">
              <a:lnSpc>
                <a:spcPct val="90000"/>
              </a:lnSpc>
              <a:spcBef>
                <a:spcPts val="1000"/>
              </a:spcBef>
              <a:spcAft>
                <a:spcPts val="0"/>
              </a:spcAft>
              <a:buNone/>
            </a:pPr>
            <a:r>
              <a:rPr lang="en-GB" sz="1700">
                <a:solidFill>
                  <a:srgbClr val="FFFFFF"/>
                </a:solidFill>
                <a:latin typeface="Impact"/>
                <a:ea typeface="Impact"/>
                <a:cs typeface="Impact"/>
                <a:sym typeface="Impact"/>
              </a:rPr>
              <a:t>Amita	  [</a:t>
            </a:r>
            <a:r>
              <a:rPr lang="en-GB" sz="1700" b="1">
                <a:solidFill>
                  <a:srgbClr val="FFFFFF"/>
                </a:solidFill>
              </a:rPr>
              <a:t>C0935607]</a:t>
            </a:r>
            <a:endParaRPr sz="1700" b="1">
              <a:solidFill>
                <a:srgbClr val="FFFFFF"/>
              </a:solidFill>
            </a:endParaRPr>
          </a:p>
          <a:p>
            <a:pPr marL="228600" lvl="0" indent="0" algn="l" rtl="0">
              <a:lnSpc>
                <a:spcPct val="90000"/>
              </a:lnSpc>
              <a:spcBef>
                <a:spcPts val="1000"/>
              </a:spcBef>
              <a:spcAft>
                <a:spcPts val="0"/>
              </a:spcAft>
              <a:buNone/>
            </a:pPr>
            <a:r>
              <a:rPr lang="en-GB" sz="1700">
                <a:solidFill>
                  <a:srgbClr val="FFFFFF"/>
                </a:solidFill>
                <a:latin typeface="Impact"/>
                <a:ea typeface="Impact"/>
                <a:cs typeface="Impact"/>
                <a:sym typeface="Impact"/>
              </a:rPr>
              <a:t>Japjeet Kaur  (</a:t>
            </a:r>
            <a:r>
              <a:rPr lang="en-GB" sz="1700" b="1">
                <a:solidFill>
                  <a:srgbClr val="FFFFFF"/>
                </a:solidFill>
              </a:rPr>
              <a:t>C0937720]</a:t>
            </a:r>
            <a:endParaRPr sz="1700" b="1">
              <a:solidFill>
                <a:srgbClr val="FFFFFF"/>
              </a:solidFill>
            </a:endParaRPr>
          </a:p>
          <a:p>
            <a:pPr marL="228600" lvl="0" indent="0" algn="l" rtl="0">
              <a:lnSpc>
                <a:spcPct val="90000"/>
              </a:lnSpc>
              <a:spcBef>
                <a:spcPts val="1000"/>
              </a:spcBef>
              <a:spcAft>
                <a:spcPts val="0"/>
              </a:spcAft>
              <a:buNone/>
            </a:pPr>
            <a:r>
              <a:rPr lang="en-GB" sz="1700">
                <a:solidFill>
                  <a:srgbClr val="FFFFFF"/>
                </a:solidFill>
                <a:latin typeface="Impact"/>
                <a:ea typeface="Impact"/>
                <a:cs typeface="Impact"/>
                <a:sym typeface="Impact"/>
              </a:rPr>
              <a:t>Manjot Kaur [</a:t>
            </a:r>
            <a:r>
              <a:rPr lang="en-GB" sz="1700" b="1">
                <a:solidFill>
                  <a:srgbClr val="FFFFFF"/>
                </a:solidFill>
              </a:rPr>
              <a:t>C0938094]</a:t>
            </a:r>
            <a:endParaRPr sz="1700" b="1">
              <a:solidFill>
                <a:srgbClr val="FFFFFF"/>
              </a:solidFill>
            </a:endParaRPr>
          </a:p>
          <a:p>
            <a:pPr marL="228600" lvl="0" indent="0" algn="l" rtl="0">
              <a:lnSpc>
                <a:spcPct val="90000"/>
              </a:lnSpc>
              <a:spcBef>
                <a:spcPts val="1000"/>
              </a:spcBef>
              <a:spcAft>
                <a:spcPts val="0"/>
              </a:spcAft>
              <a:buNone/>
            </a:pPr>
            <a:r>
              <a:rPr lang="en-GB" sz="1700">
                <a:solidFill>
                  <a:srgbClr val="FFFFFF"/>
                </a:solidFill>
                <a:latin typeface="Impact"/>
                <a:ea typeface="Impact"/>
                <a:cs typeface="Impact"/>
                <a:sym typeface="Impact"/>
              </a:rPr>
              <a:t>Anju Bala </a:t>
            </a:r>
            <a:r>
              <a:rPr lang="en-GB" sz="1700" b="1">
                <a:solidFill>
                  <a:srgbClr val="FFFFFF"/>
                </a:solidFill>
                <a:latin typeface="Impact"/>
                <a:ea typeface="Impact"/>
                <a:cs typeface="Impact"/>
                <a:sym typeface="Impact"/>
              </a:rPr>
              <a:t>[</a:t>
            </a:r>
            <a:r>
              <a:rPr lang="en-GB" sz="1700" b="1">
                <a:solidFill>
                  <a:srgbClr val="FFFFFF"/>
                </a:solidFill>
              </a:rPr>
              <a:t>C0935847]</a:t>
            </a:r>
            <a:endParaRPr sz="1700" b="1">
              <a:solidFill>
                <a:srgbClr val="FFFFFF"/>
              </a:solidFill>
            </a:endParaRPr>
          </a:p>
          <a:p>
            <a:pPr marL="228600" lvl="0" indent="0" algn="l" rtl="0">
              <a:lnSpc>
                <a:spcPct val="90000"/>
              </a:lnSpc>
              <a:spcBef>
                <a:spcPts val="1000"/>
              </a:spcBef>
              <a:spcAft>
                <a:spcPts val="0"/>
              </a:spcAft>
              <a:buNone/>
            </a:pPr>
            <a:r>
              <a:rPr lang="en-GB" sz="1700">
                <a:solidFill>
                  <a:srgbClr val="FFFFFF"/>
                </a:solidFill>
                <a:latin typeface="Impact"/>
                <a:ea typeface="Impact"/>
                <a:cs typeface="Impact"/>
                <a:sym typeface="Impact"/>
              </a:rPr>
              <a:t>Nicolas [</a:t>
            </a:r>
            <a:r>
              <a:rPr lang="en-GB" sz="1700">
                <a:solidFill>
                  <a:srgbClr val="FFFFFF"/>
                </a:solidFill>
              </a:rPr>
              <a:t> </a:t>
            </a:r>
            <a:r>
              <a:rPr lang="en-GB" sz="1700" b="1">
                <a:solidFill>
                  <a:srgbClr val="FFFFFF"/>
                </a:solidFill>
              </a:rPr>
              <a:t>C0922995]</a:t>
            </a:r>
            <a:endParaRPr sz="1700" b="1">
              <a:solidFill>
                <a:srgbClr val="FFFFFF"/>
              </a:solidFill>
            </a:endParaRPr>
          </a:p>
          <a:p>
            <a:pPr marL="228600" lvl="0" indent="0" algn="l" rtl="0">
              <a:lnSpc>
                <a:spcPct val="90000"/>
              </a:lnSpc>
              <a:spcBef>
                <a:spcPts val="1000"/>
              </a:spcBef>
              <a:spcAft>
                <a:spcPts val="0"/>
              </a:spcAft>
              <a:buNone/>
            </a:pPr>
            <a:r>
              <a:rPr lang="en-GB" sz="1700">
                <a:solidFill>
                  <a:srgbClr val="FFFFFF"/>
                </a:solidFill>
                <a:latin typeface="Impact"/>
                <a:ea typeface="Impact"/>
                <a:cs typeface="Impact"/>
                <a:sym typeface="Impact"/>
              </a:rPr>
              <a:t>Brian Martinez </a:t>
            </a:r>
            <a:r>
              <a:rPr lang="en-GB" sz="1700" b="1">
                <a:solidFill>
                  <a:srgbClr val="FFFFFF"/>
                </a:solidFill>
                <a:latin typeface="Impact"/>
                <a:ea typeface="Impact"/>
                <a:cs typeface="Impact"/>
                <a:sym typeface="Impact"/>
              </a:rPr>
              <a:t>[</a:t>
            </a:r>
            <a:r>
              <a:rPr lang="en-GB" sz="1700" b="1">
                <a:solidFill>
                  <a:srgbClr val="FFFFFF"/>
                </a:solidFill>
              </a:rPr>
              <a:t>C0940439</a:t>
            </a:r>
            <a:r>
              <a:rPr lang="en-GB" sz="1700" b="1">
                <a:solidFill>
                  <a:srgbClr val="FFFFFF"/>
                </a:solidFill>
                <a:latin typeface="Impact"/>
                <a:ea typeface="Impact"/>
                <a:cs typeface="Impact"/>
                <a:sym typeface="Impact"/>
              </a:rPr>
              <a:t>]</a:t>
            </a:r>
            <a:endParaRPr sz="1700" b="1">
              <a:solidFill>
                <a:srgbClr val="FFFFFF"/>
              </a:solidFill>
              <a:latin typeface="Impact"/>
              <a:ea typeface="Impact"/>
              <a:cs typeface="Impact"/>
              <a:sym typeface="Impact"/>
            </a:endParaRPr>
          </a:p>
          <a:p>
            <a:pPr marL="228600" lvl="0" indent="0" algn="l" rtl="0">
              <a:lnSpc>
                <a:spcPct val="90000"/>
              </a:lnSpc>
              <a:spcBef>
                <a:spcPts val="1000"/>
              </a:spcBef>
              <a:spcAft>
                <a:spcPts val="0"/>
              </a:spcAft>
              <a:buNone/>
            </a:pPr>
            <a:r>
              <a:rPr lang="en-GB" sz="1700">
                <a:solidFill>
                  <a:srgbClr val="FFFFFF"/>
                </a:solidFill>
                <a:latin typeface="Impact"/>
                <a:ea typeface="Impact"/>
                <a:cs typeface="Impact"/>
                <a:sym typeface="Impact"/>
              </a:rPr>
              <a:t>Krishna Mohan Gadepalli [</a:t>
            </a:r>
            <a:r>
              <a:rPr lang="en-GB" sz="1700" b="1">
                <a:solidFill>
                  <a:srgbClr val="FFFFFF"/>
                </a:solidFill>
              </a:rPr>
              <a:t>C0937251] </a:t>
            </a:r>
            <a:endParaRPr sz="1700" b="1">
              <a:solidFill>
                <a:srgbClr val="FFFFFF"/>
              </a:solidFill>
            </a:endParaRPr>
          </a:p>
          <a:p>
            <a:pPr marL="0" lvl="0" indent="0" algn="l" rtl="0">
              <a:spcBef>
                <a:spcPts val="0"/>
              </a:spcBef>
              <a:spcAft>
                <a:spcPts val="0"/>
              </a:spcAft>
              <a:buNone/>
            </a:pPr>
            <a:endParaRPr sz="1300">
              <a:solidFill>
                <a:schemeClr val="dk2"/>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4"/>
          <p:cNvSpPr txBox="1">
            <a:spLocks noGrp="1"/>
          </p:cNvSpPr>
          <p:nvPr>
            <p:ph type="ctrTitle"/>
          </p:nvPr>
        </p:nvSpPr>
        <p:spPr>
          <a:xfrm>
            <a:off x="316500" y="122825"/>
            <a:ext cx="8827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sz="3000">
                <a:latin typeface="Times New Roman"/>
                <a:ea typeface="Times New Roman"/>
                <a:cs typeface="Times New Roman"/>
                <a:sym typeface="Times New Roman"/>
              </a:rPr>
              <a:t>HAKES: Scalable Vector Database for Embedding Search Service</a:t>
            </a:r>
            <a:endParaRPr/>
          </a:p>
        </p:txBody>
      </p:sp>
      <p:sp>
        <p:nvSpPr>
          <p:cNvPr id="285" name="Google Shape;285;p14"/>
          <p:cNvSpPr txBox="1">
            <a:spLocks noGrp="1"/>
          </p:cNvSpPr>
          <p:nvPr>
            <p:ph type="subTitle" idx="1"/>
          </p:nvPr>
        </p:nvSpPr>
        <p:spPr>
          <a:xfrm>
            <a:off x="3744550" y="3536225"/>
            <a:ext cx="5724000" cy="695400"/>
          </a:xfrm>
          <a:prstGeom prst="rect">
            <a:avLst/>
          </a:prstGeom>
        </p:spPr>
        <p:txBody>
          <a:bodyPr spcFirstLastPara="1" wrap="square" lIns="91425" tIns="91425" rIns="91425" bIns="91425" anchor="t" anchorCtr="0">
            <a:normAutofit fontScale="25000" lnSpcReduction="20000"/>
          </a:bodyPr>
          <a:lstStyle/>
          <a:p>
            <a:pPr marL="0" lvl="0" indent="0" algn="l" rtl="0">
              <a:spcBef>
                <a:spcPts val="0"/>
              </a:spcBef>
              <a:spcAft>
                <a:spcPts val="0"/>
              </a:spcAft>
              <a:buNone/>
            </a:pPr>
            <a:r>
              <a:rPr lang="en-GB" sz="9200" b="1">
                <a:latin typeface="Times New Roman"/>
                <a:ea typeface="Times New Roman"/>
                <a:cs typeface="Times New Roman"/>
                <a:sym typeface="Times New Roman"/>
              </a:rPr>
              <a:t>Presented by </a:t>
            </a:r>
            <a:endParaRPr sz="9200" b="1">
              <a:latin typeface="Times New Roman"/>
              <a:ea typeface="Times New Roman"/>
              <a:cs typeface="Times New Roman"/>
              <a:sym typeface="Times New Roman"/>
            </a:endParaRPr>
          </a:p>
          <a:p>
            <a:pPr marL="0" lvl="0" indent="0" algn="l" rtl="0">
              <a:spcBef>
                <a:spcPts val="0"/>
              </a:spcBef>
              <a:spcAft>
                <a:spcPts val="0"/>
              </a:spcAft>
              <a:buNone/>
            </a:pPr>
            <a:endParaRPr sz="9200" b="1">
              <a:latin typeface="Times New Roman"/>
              <a:ea typeface="Times New Roman"/>
              <a:cs typeface="Times New Roman"/>
              <a:sym typeface="Times New Roman"/>
            </a:endParaRPr>
          </a:p>
          <a:p>
            <a:pPr marL="0" lvl="0" indent="0" algn="l" rtl="0">
              <a:spcBef>
                <a:spcPts val="0"/>
              </a:spcBef>
              <a:spcAft>
                <a:spcPts val="0"/>
              </a:spcAft>
              <a:buNone/>
            </a:pPr>
            <a:r>
              <a:rPr lang="en-GB" sz="9200" b="1">
                <a:latin typeface="Times New Roman"/>
                <a:ea typeface="Times New Roman"/>
                <a:cs typeface="Times New Roman"/>
                <a:sym typeface="Times New Roman"/>
              </a:rPr>
              <a:t>Krishna Mohan Gadepalli (C0937251)</a:t>
            </a:r>
            <a:endParaRPr sz="9200" b="1">
              <a:latin typeface="Times New Roman"/>
              <a:ea typeface="Times New Roman"/>
              <a:cs typeface="Times New Roman"/>
              <a:sym typeface="Times New Roman"/>
            </a:endParaRPr>
          </a:p>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15"/>
          <p:cNvSpPr txBox="1">
            <a:spLocks noGrp="1"/>
          </p:cNvSpPr>
          <p:nvPr>
            <p:ph type="ctrTitle"/>
          </p:nvPr>
        </p:nvSpPr>
        <p:spPr>
          <a:xfrm>
            <a:off x="96550" y="583925"/>
            <a:ext cx="8978700" cy="50274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sz="2300">
                <a:latin typeface="Arial"/>
                <a:ea typeface="Arial"/>
                <a:cs typeface="Arial"/>
                <a:sym typeface="Arial"/>
              </a:rPr>
              <a:t>HAKES: Scalable Vector Database</a:t>
            </a:r>
            <a:endParaRPr sz="2300">
              <a:latin typeface="Arial"/>
              <a:ea typeface="Arial"/>
              <a:cs typeface="Arial"/>
              <a:sym typeface="Arial"/>
            </a:endParaRPr>
          </a:p>
          <a:p>
            <a:pPr marL="0" lvl="0" indent="0" algn="l" rtl="0">
              <a:spcBef>
                <a:spcPts val="0"/>
              </a:spcBef>
              <a:spcAft>
                <a:spcPts val="0"/>
              </a:spcAft>
              <a:buNone/>
            </a:pPr>
            <a:endParaRPr sz="2300">
              <a:latin typeface="Arial"/>
              <a:ea typeface="Arial"/>
              <a:cs typeface="Arial"/>
              <a:sym typeface="Arial"/>
            </a:endParaRPr>
          </a:p>
          <a:p>
            <a:pPr marL="0" lvl="0" indent="0" algn="l" rtl="0">
              <a:spcBef>
                <a:spcPts val="0"/>
              </a:spcBef>
              <a:spcAft>
                <a:spcPts val="0"/>
              </a:spcAft>
              <a:buNone/>
            </a:pPr>
            <a:r>
              <a:rPr lang="en-GB" sz="2300" b="0">
                <a:latin typeface="Arial"/>
                <a:ea typeface="Arial"/>
                <a:cs typeface="Arial"/>
                <a:sym typeface="Arial"/>
              </a:rPr>
              <a:t>For Embedding Search Services</a:t>
            </a:r>
            <a:br>
              <a:rPr lang="en-GB" sz="2300">
                <a:latin typeface="Arial"/>
                <a:ea typeface="Arial"/>
                <a:cs typeface="Arial"/>
                <a:sym typeface="Arial"/>
              </a:rPr>
            </a:br>
            <a:endParaRPr sz="2300">
              <a:latin typeface="Arial"/>
              <a:ea typeface="Arial"/>
              <a:cs typeface="Arial"/>
              <a:sym typeface="Arial"/>
            </a:endParaRPr>
          </a:p>
          <a:p>
            <a:pPr marL="0" lvl="0" indent="0" algn="l" rtl="0">
              <a:spcBef>
                <a:spcPts val="0"/>
              </a:spcBef>
              <a:spcAft>
                <a:spcPts val="0"/>
              </a:spcAft>
              <a:buNone/>
            </a:pPr>
            <a:r>
              <a:rPr lang="en-GB" sz="2300" b="0">
                <a:latin typeface="Arial"/>
                <a:ea typeface="Arial"/>
                <a:cs typeface="Arial"/>
                <a:sym typeface="Arial"/>
              </a:rPr>
              <a:t>Authors: Guoyu Hu, Shaofeng Cai, et al.</a:t>
            </a:r>
            <a:br>
              <a:rPr lang="en-GB" sz="2300" b="0">
                <a:latin typeface="Arial"/>
                <a:ea typeface="Arial"/>
                <a:cs typeface="Arial"/>
                <a:sym typeface="Arial"/>
              </a:rPr>
            </a:br>
            <a:endParaRPr sz="2300" b="0">
              <a:latin typeface="Arial"/>
              <a:ea typeface="Arial"/>
              <a:cs typeface="Arial"/>
              <a:sym typeface="Arial"/>
            </a:endParaRPr>
          </a:p>
          <a:p>
            <a:pPr marL="0" lvl="0" indent="0" algn="l" rtl="0">
              <a:spcBef>
                <a:spcPts val="0"/>
              </a:spcBef>
              <a:spcAft>
                <a:spcPts val="0"/>
              </a:spcAft>
              <a:buNone/>
            </a:pPr>
            <a:r>
              <a:rPr lang="en-GB" sz="2300" b="0">
                <a:latin typeface="Arial"/>
                <a:ea typeface="Arial"/>
                <a:cs typeface="Arial"/>
                <a:sym typeface="Arial"/>
              </a:rPr>
              <a:t>Institutions: NUS, Deakin, Zhejiang Univ</a:t>
            </a:r>
            <a:br>
              <a:rPr lang="en-GB" sz="2300" b="0">
                <a:latin typeface="Arial"/>
                <a:ea typeface="Arial"/>
                <a:cs typeface="Arial"/>
                <a:sym typeface="Arial"/>
              </a:rPr>
            </a:br>
            <a:endParaRPr sz="2300" b="0">
              <a:latin typeface="Arial"/>
              <a:ea typeface="Arial"/>
              <a:cs typeface="Arial"/>
              <a:sym typeface="Arial"/>
            </a:endParaRPr>
          </a:p>
          <a:p>
            <a:pPr marL="0" lvl="0" indent="0" algn="l" rtl="0">
              <a:spcBef>
                <a:spcPts val="0"/>
              </a:spcBef>
              <a:spcAft>
                <a:spcPts val="0"/>
              </a:spcAft>
              <a:buNone/>
            </a:pPr>
            <a:r>
              <a:rPr lang="en-GB" sz="2300" b="0">
                <a:latin typeface="Arial"/>
                <a:ea typeface="Arial"/>
                <a:cs typeface="Arial"/>
                <a:sym typeface="Arial"/>
              </a:rPr>
              <a:t>Based on arXiv:2505.12524v1</a:t>
            </a:r>
            <a:br>
              <a:rPr lang="en-GB" sz="2300" b="0">
                <a:latin typeface="Arial"/>
                <a:ea typeface="Arial"/>
                <a:cs typeface="Arial"/>
                <a:sym typeface="Arial"/>
              </a:rPr>
            </a:br>
            <a:endParaRPr sz="2300" b="0">
              <a:latin typeface="Arial"/>
              <a:ea typeface="Arial"/>
              <a:cs typeface="Arial"/>
              <a:sym typeface="Arial"/>
            </a:endParaRPr>
          </a:p>
          <a:p>
            <a:pPr marL="0" lvl="0" indent="0" algn="l" rtl="0">
              <a:spcBef>
                <a:spcPts val="0"/>
              </a:spcBef>
              <a:spcAft>
                <a:spcPts val="0"/>
              </a:spcAft>
              <a:buNone/>
            </a:pPr>
            <a:r>
              <a:rPr lang="en-GB" sz="2300" b="0">
                <a:latin typeface="Arial"/>
                <a:ea typeface="Arial"/>
                <a:cs typeface="Arial"/>
                <a:sym typeface="Arial"/>
              </a:rPr>
              <a:t>Overview of architecture, index design</a:t>
            </a:r>
            <a:endParaRPr sz="2300" b="0">
              <a:latin typeface="Arial"/>
              <a:ea typeface="Arial"/>
              <a:cs typeface="Arial"/>
              <a:sym typeface="Arial"/>
            </a:endParaRPr>
          </a:p>
          <a:p>
            <a:pPr marL="0" lvl="0" indent="0" algn="l" rtl="0">
              <a:spcBef>
                <a:spcPts val="0"/>
              </a:spcBef>
              <a:spcAft>
                <a:spcPts val="0"/>
              </a:spcAft>
              <a:buNone/>
            </a:pPr>
            <a:endParaRPr sz="1300"/>
          </a:p>
        </p:txBody>
      </p:sp>
      <p:sp>
        <p:nvSpPr>
          <p:cNvPr id="291" name="Google Shape;291;p15"/>
          <p:cNvSpPr txBox="1">
            <a:spLocks noGrp="1"/>
          </p:cNvSpPr>
          <p:nvPr>
            <p:ph type="subTitle" idx="1"/>
          </p:nvPr>
        </p:nvSpPr>
        <p:spPr>
          <a:xfrm>
            <a:off x="3299075" y="119900"/>
            <a:ext cx="42555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4100">
                <a:latin typeface="Times New Roman"/>
                <a:ea typeface="Times New Roman"/>
                <a:cs typeface="Times New Roman"/>
                <a:sym typeface="Times New Roman"/>
              </a:rPr>
              <a:t>Title</a:t>
            </a:r>
            <a:endParaRPr sz="4100">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16"/>
          <p:cNvSpPr txBox="1">
            <a:spLocks noGrp="1"/>
          </p:cNvSpPr>
          <p:nvPr>
            <p:ph type="ctrTitle"/>
          </p:nvPr>
        </p:nvSpPr>
        <p:spPr>
          <a:xfrm>
            <a:off x="118225" y="912675"/>
            <a:ext cx="8957100" cy="4230600"/>
          </a:xfrm>
          <a:prstGeom prst="rect">
            <a:avLst/>
          </a:prstGeom>
        </p:spPr>
        <p:txBody>
          <a:bodyPr spcFirstLastPara="1" wrap="square" lIns="91425" tIns="91425" rIns="91425" bIns="91425" anchor="ctr" anchorCtr="0">
            <a:normAutofit/>
          </a:bodyPr>
          <a:lstStyle/>
          <a:p>
            <a:pPr marL="457200" lvl="0" indent="-374650" algn="l" rtl="0">
              <a:spcBef>
                <a:spcPts val="0"/>
              </a:spcBef>
              <a:spcAft>
                <a:spcPts val="0"/>
              </a:spcAft>
              <a:buSzPts val="2300"/>
              <a:buFont typeface="Arial"/>
              <a:buChar char="●"/>
            </a:pPr>
            <a:r>
              <a:rPr lang="en-GB" sz="2300" b="0">
                <a:latin typeface="Arial"/>
                <a:ea typeface="Arial"/>
                <a:cs typeface="Arial"/>
                <a:sym typeface="Arial"/>
              </a:rPr>
              <a:t>HAKES: a scalable and accurate vector database</a:t>
            </a:r>
            <a:br>
              <a:rPr lang="en-GB" sz="2300" b="0">
                <a:latin typeface="Arial"/>
                <a:ea typeface="Arial"/>
                <a:cs typeface="Arial"/>
                <a:sym typeface="Arial"/>
              </a:rPr>
            </a:br>
            <a:endParaRPr sz="2300" b="0">
              <a:latin typeface="Arial"/>
              <a:ea typeface="Arial"/>
              <a:cs typeface="Arial"/>
              <a:sym typeface="Arial"/>
            </a:endParaRPr>
          </a:p>
          <a:p>
            <a:pPr marL="457200" lvl="0" indent="-374650" algn="l" rtl="0">
              <a:spcBef>
                <a:spcPts val="0"/>
              </a:spcBef>
              <a:spcAft>
                <a:spcPts val="0"/>
              </a:spcAft>
              <a:buSzPts val="2300"/>
              <a:buFont typeface="Arial"/>
              <a:buChar char="●"/>
            </a:pPr>
            <a:r>
              <a:rPr lang="en-GB" sz="2300" b="0">
                <a:latin typeface="Arial"/>
                <a:ea typeface="Arial"/>
                <a:cs typeface="Arial"/>
                <a:sym typeface="Arial"/>
              </a:rPr>
              <a:t>Designed for high-dimensional embedding search</a:t>
            </a:r>
            <a:br>
              <a:rPr lang="en-GB" sz="2300" b="0">
                <a:latin typeface="Arial"/>
                <a:ea typeface="Arial"/>
                <a:cs typeface="Arial"/>
                <a:sym typeface="Arial"/>
              </a:rPr>
            </a:br>
            <a:endParaRPr sz="2300" b="0">
              <a:latin typeface="Arial"/>
              <a:ea typeface="Arial"/>
              <a:cs typeface="Arial"/>
              <a:sym typeface="Arial"/>
            </a:endParaRPr>
          </a:p>
          <a:p>
            <a:pPr marL="457200" lvl="0" indent="-374650" algn="l" rtl="0">
              <a:spcBef>
                <a:spcPts val="0"/>
              </a:spcBef>
              <a:spcAft>
                <a:spcPts val="0"/>
              </a:spcAft>
              <a:buSzPts val="2300"/>
              <a:buFont typeface="Arial"/>
              <a:buChar char="●"/>
            </a:pPr>
            <a:r>
              <a:rPr lang="en-GB" sz="2300" b="0">
                <a:latin typeface="Arial"/>
                <a:ea typeface="Arial"/>
                <a:cs typeface="Arial"/>
                <a:sym typeface="Arial"/>
              </a:rPr>
              <a:t>Targets applications like RAG and recommendation</a:t>
            </a:r>
            <a:br>
              <a:rPr lang="en-GB" sz="2300" b="0">
                <a:latin typeface="Arial"/>
                <a:ea typeface="Arial"/>
                <a:cs typeface="Arial"/>
                <a:sym typeface="Arial"/>
              </a:rPr>
            </a:br>
            <a:endParaRPr sz="2300" b="0">
              <a:latin typeface="Arial"/>
              <a:ea typeface="Arial"/>
              <a:cs typeface="Arial"/>
              <a:sym typeface="Arial"/>
            </a:endParaRPr>
          </a:p>
          <a:p>
            <a:pPr marL="457200" lvl="0" indent="-374650" algn="l" rtl="0">
              <a:spcBef>
                <a:spcPts val="0"/>
              </a:spcBef>
              <a:spcAft>
                <a:spcPts val="0"/>
              </a:spcAft>
              <a:buSzPts val="2300"/>
              <a:buFont typeface="Arial"/>
              <a:buChar char="●"/>
            </a:pPr>
            <a:r>
              <a:rPr lang="en-GB" sz="2300" b="0">
                <a:latin typeface="Arial"/>
                <a:ea typeface="Arial"/>
                <a:cs typeface="Arial"/>
                <a:sym typeface="Arial"/>
              </a:rPr>
              <a:t>Supports concurrent updates and searches</a:t>
            </a:r>
            <a:br>
              <a:rPr lang="en-GB" sz="2300" b="0">
                <a:latin typeface="Arial"/>
                <a:ea typeface="Arial"/>
                <a:cs typeface="Arial"/>
                <a:sym typeface="Arial"/>
              </a:rPr>
            </a:br>
            <a:endParaRPr sz="2300" b="0">
              <a:latin typeface="Arial"/>
              <a:ea typeface="Arial"/>
              <a:cs typeface="Arial"/>
              <a:sym typeface="Arial"/>
            </a:endParaRPr>
          </a:p>
          <a:p>
            <a:pPr marL="457200" lvl="0" indent="-374650" algn="l" rtl="0">
              <a:spcBef>
                <a:spcPts val="0"/>
              </a:spcBef>
              <a:spcAft>
                <a:spcPts val="0"/>
              </a:spcAft>
              <a:buSzPts val="2300"/>
              <a:buFont typeface="Arial"/>
              <a:buChar char="●"/>
            </a:pPr>
            <a:r>
              <a:rPr lang="en-GB" sz="2300" b="0">
                <a:latin typeface="Arial"/>
                <a:ea typeface="Arial"/>
                <a:cs typeface="Arial"/>
                <a:sym typeface="Arial"/>
              </a:rPr>
              <a:t>Focused on high recall and throughput</a:t>
            </a:r>
            <a:endParaRPr sz="2300" b="0">
              <a:latin typeface="Arial"/>
              <a:ea typeface="Arial"/>
              <a:cs typeface="Arial"/>
              <a:sym typeface="Arial"/>
            </a:endParaRPr>
          </a:p>
          <a:p>
            <a:pPr marL="0" lvl="0" indent="0" algn="l" rtl="0">
              <a:spcBef>
                <a:spcPts val="0"/>
              </a:spcBef>
              <a:spcAft>
                <a:spcPts val="0"/>
              </a:spcAft>
              <a:buNone/>
            </a:pPr>
            <a:endParaRPr sz="1300"/>
          </a:p>
        </p:txBody>
      </p:sp>
      <p:sp>
        <p:nvSpPr>
          <p:cNvPr id="297" name="Google Shape;297;p16"/>
          <p:cNvSpPr txBox="1">
            <a:spLocks noGrp="1"/>
          </p:cNvSpPr>
          <p:nvPr>
            <p:ph type="subTitle" idx="1"/>
          </p:nvPr>
        </p:nvSpPr>
        <p:spPr>
          <a:xfrm>
            <a:off x="2843475" y="217275"/>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3100" b="1">
                <a:latin typeface="Times New Roman"/>
                <a:ea typeface="Times New Roman"/>
                <a:cs typeface="Times New Roman"/>
                <a:sym typeface="Times New Roman"/>
              </a:rPr>
              <a:t>Introduction</a:t>
            </a:r>
            <a:endParaRPr sz="3400" b="1">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17"/>
          <p:cNvSpPr txBox="1">
            <a:spLocks noGrp="1"/>
          </p:cNvSpPr>
          <p:nvPr>
            <p:ph type="ctrTitle"/>
          </p:nvPr>
        </p:nvSpPr>
        <p:spPr>
          <a:xfrm>
            <a:off x="50550" y="1101400"/>
            <a:ext cx="7366800" cy="4042200"/>
          </a:xfrm>
          <a:prstGeom prst="rect">
            <a:avLst/>
          </a:prstGeom>
        </p:spPr>
        <p:txBody>
          <a:bodyPr spcFirstLastPara="1" wrap="square" lIns="91425" tIns="91425" rIns="91425" bIns="91425" anchor="ctr" anchorCtr="0">
            <a:normAutofit fontScale="90000"/>
          </a:bodyPr>
          <a:lstStyle/>
          <a:p>
            <a:pPr marL="457200" lvl="0" indent="-372109" algn="l" rtl="0">
              <a:spcBef>
                <a:spcPts val="0"/>
              </a:spcBef>
              <a:spcAft>
                <a:spcPts val="0"/>
              </a:spcAft>
              <a:buSzPct val="100000"/>
              <a:buFont typeface="Arial"/>
              <a:buChar char="●"/>
            </a:pPr>
            <a:r>
              <a:rPr lang="en-GB" sz="2511" b="0">
                <a:latin typeface="Arial"/>
                <a:ea typeface="Arial"/>
                <a:cs typeface="Arial"/>
                <a:sym typeface="Arial"/>
              </a:rPr>
              <a:t>Explosion in use of deep learning embeddings</a:t>
            </a:r>
            <a:br>
              <a:rPr lang="en-GB" sz="2511" b="0">
                <a:latin typeface="Arial"/>
                <a:ea typeface="Arial"/>
                <a:cs typeface="Arial"/>
                <a:sym typeface="Arial"/>
              </a:rPr>
            </a:br>
            <a:endParaRPr sz="2511" b="0">
              <a:latin typeface="Arial"/>
              <a:ea typeface="Arial"/>
              <a:cs typeface="Arial"/>
              <a:sym typeface="Arial"/>
            </a:endParaRPr>
          </a:p>
          <a:p>
            <a:pPr marL="457200" lvl="0" indent="-372109" algn="l" rtl="0">
              <a:spcBef>
                <a:spcPts val="0"/>
              </a:spcBef>
              <a:spcAft>
                <a:spcPts val="0"/>
              </a:spcAft>
              <a:buSzPct val="100000"/>
              <a:buFont typeface="Arial"/>
              <a:buChar char="●"/>
            </a:pPr>
            <a:r>
              <a:rPr lang="en-GB" sz="2511" b="0">
                <a:latin typeface="Arial"/>
                <a:ea typeface="Arial"/>
                <a:cs typeface="Arial"/>
                <a:sym typeface="Arial"/>
              </a:rPr>
              <a:t>Traditional indexes suffer under scale and concurrency</a:t>
            </a:r>
            <a:br>
              <a:rPr lang="en-GB" sz="2511" b="0">
                <a:latin typeface="Arial"/>
                <a:ea typeface="Arial"/>
                <a:cs typeface="Arial"/>
                <a:sym typeface="Arial"/>
              </a:rPr>
            </a:br>
            <a:endParaRPr sz="2511" b="0">
              <a:latin typeface="Arial"/>
              <a:ea typeface="Arial"/>
              <a:cs typeface="Arial"/>
              <a:sym typeface="Arial"/>
            </a:endParaRPr>
          </a:p>
          <a:p>
            <a:pPr marL="457200" lvl="0" indent="-372109" algn="l" rtl="0">
              <a:spcBef>
                <a:spcPts val="0"/>
              </a:spcBef>
              <a:spcAft>
                <a:spcPts val="0"/>
              </a:spcAft>
              <a:buSzPct val="100000"/>
              <a:buFont typeface="Arial"/>
              <a:buChar char="●"/>
            </a:pPr>
            <a:r>
              <a:rPr lang="en-GB" sz="2511" b="0">
                <a:latin typeface="Arial"/>
                <a:ea typeface="Arial"/>
                <a:cs typeface="Arial"/>
                <a:sym typeface="Arial"/>
              </a:rPr>
              <a:t>Need for fast, accurate, update-friendly ANN search</a:t>
            </a:r>
            <a:br>
              <a:rPr lang="en-GB" sz="2511" b="0">
                <a:latin typeface="Arial"/>
                <a:ea typeface="Arial"/>
                <a:cs typeface="Arial"/>
                <a:sym typeface="Arial"/>
              </a:rPr>
            </a:br>
            <a:endParaRPr sz="2511" b="0">
              <a:latin typeface="Arial"/>
              <a:ea typeface="Arial"/>
              <a:cs typeface="Arial"/>
              <a:sym typeface="Arial"/>
            </a:endParaRPr>
          </a:p>
          <a:p>
            <a:pPr marL="457200" lvl="0" indent="-372109" algn="l" rtl="0">
              <a:spcBef>
                <a:spcPts val="0"/>
              </a:spcBef>
              <a:spcAft>
                <a:spcPts val="0"/>
              </a:spcAft>
              <a:buSzPct val="100000"/>
              <a:buFont typeface="Arial"/>
              <a:buChar char="●"/>
            </a:pPr>
            <a:r>
              <a:rPr lang="en-GB" sz="2511" b="0">
                <a:latin typeface="Arial"/>
                <a:ea typeface="Arial"/>
                <a:cs typeface="Arial"/>
                <a:sym typeface="Arial"/>
              </a:rPr>
              <a:t>Embedding dimensions continue to grow</a:t>
            </a:r>
            <a:br>
              <a:rPr lang="en-GB" sz="2511" b="0">
                <a:latin typeface="Arial"/>
                <a:ea typeface="Arial"/>
                <a:cs typeface="Arial"/>
                <a:sym typeface="Arial"/>
              </a:rPr>
            </a:br>
            <a:endParaRPr sz="2511" b="0">
              <a:latin typeface="Arial"/>
              <a:ea typeface="Arial"/>
              <a:cs typeface="Arial"/>
              <a:sym typeface="Arial"/>
            </a:endParaRPr>
          </a:p>
          <a:p>
            <a:pPr marL="457200" lvl="0" indent="-372109" algn="l" rtl="0">
              <a:spcBef>
                <a:spcPts val="0"/>
              </a:spcBef>
              <a:spcAft>
                <a:spcPts val="0"/>
              </a:spcAft>
              <a:buSzPct val="100000"/>
              <a:buFont typeface="Arial"/>
              <a:buChar char="●"/>
            </a:pPr>
            <a:r>
              <a:rPr lang="en-GB" sz="2511" b="0">
                <a:latin typeface="Arial"/>
                <a:ea typeface="Arial"/>
                <a:cs typeface="Arial"/>
                <a:sym typeface="Arial"/>
              </a:rPr>
              <a:t>Vector DBs must scale across servers</a:t>
            </a:r>
            <a:endParaRPr sz="2511" b="0">
              <a:latin typeface="Arial"/>
              <a:ea typeface="Arial"/>
              <a:cs typeface="Arial"/>
              <a:sym typeface="Arial"/>
            </a:endParaRPr>
          </a:p>
          <a:p>
            <a:pPr marL="0" lvl="0" indent="0" algn="l" rtl="0">
              <a:spcBef>
                <a:spcPts val="0"/>
              </a:spcBef>
              <a:spcAft>
                <a:spcPts val="0"/>
              </a:spcAft>
              <a:buNone/>
            </a:pPr>
            <a:endParaRPr sz="1400"/>
          </a:p>
        </p:txBody>
      </p:sp>
      <p:sp>
        <p:nvSpPr>
          <p:cNvPr id="303" name="Google Shape;303;p17"/>
          <p:cNvSpPr txBox="1">
            <a:spLocks noGrp="1"/>
          </p:cNvSpPr>
          <p:nvPr>
            <p:ph type="subTitle" idx="1"/>
          </p:nvPr>
        </p:nvSpPr>
        <p:spPr>
          <a:xfrm>
            <a:off x="2949500" y="115975"/>
            <a:ext cx="4255500" cy="719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3400" b="1">
                <a:latin typeface="Times New Roman"/>
                <a:ea typeface="Times New Roman"/>
                <a:cs typeface="Times New Roman"/>
                <a:sym typeface="Times New Roman"/>
              </a:rPr>
              <a:t>Motivation</a:t>
            </a:r>
            <a:endParaRPr sz="3400" b="1">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8"/>
          <p:cNvSpPr txBox="1">
            <a:spLocks noGrp="1"/>
          </p:cNvSpPr>
          <p:nvPr>
            <p:ph type="ctrTitle"/>
          </p:nvPr>
        </p:nvSpPr>
        <p:spPr>
          <a:xfrm>
            <a:off x="862650" y="2407088"/>
            <a:ext cx="4255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
        <p:nvSpPr>
          <p:cNvPr id="309" name="Google Shape;309;p18"/>
          <p:cNvSpPr txBox="1">
            <a:spLocks noGrp="1"/>
          </p:cNvSpPr>
          <p:nvPr>
            <p:ph type="subTitle" idx="1"/>
          </p:nvPr>
        </p:nvSpPr>
        <p:spPr>
          <a:xfrm>
            <a:off x="1075125" y="48050"/>
            <a:ext cx="77925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400" b="1">
                <a:latin typeface="Times New Roman"/>
                <a:ea typeface="Times New Roman"/>
                <a:cs typeface="Times New Roman"/>
                <a:sym typeface="Times New Roman"/>
              </a:rPr>
              <a:t>Vector database in retrieval augmented generation</a:t>
            </a:r>
            <a:endParaRPr sz="2400" b="1">
              <a:latin typeface="Times New Roman"/>
              <a:ea typeface="Times New Roman"/>
              <a:cs typeface="Times New Roman"/>
              <a:sym typeface="Times New Roman"/>
            </a:endParaRPr>
          </a:p>
        </p:txBody>
      </p:sp>
      <p:pic>
        <p:nvPicPr>
          <p:cNvPr id="310" name="Google Shape;310;p18"/>
          <p:cNvPicPr preferRelativeResize="0"/>
          <p:nvPr/>
        </p:nvPicPr>
        <p:blipFill>
          <a:blip r:embed="rId3">
            <a:alphaModFix/>
          </a:blip>
          <a:stretch>
            <a:fillRect/>
          </a:stretch>
        </p:blipFill>
        <p:spPr>
          <a:xfrm>
            <a:off x="0" y="1264282"/>
            <a:ext cx="9143999" cy="329913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9"/>
          <p:cNvSpPr txBox="1">
            <a:spLocks noGrp="1"/>
          </p:cNvSpPr>
          <p:nvPr>
            <p:ph type="ctrTitle"/>
          </p:nvPr>
        </p:nvSpPr>
        <p:spPr>
          <a:xfrm>
            <a:off x="125" y="699975"/>
            <a:ext cx="9144000" cy="4443600"/>
          </a:xfrm>
          <a:prstGeom prst="rect">
            <a:avLst/>
          </a:prstGeom>
        </p:spPr>
        <p:txBody>
          <a:bodyPr spcFirstLastPara="1" wrap="square" lIns="91425" tIns="91425" rIns="91425" bIns="91425" anchor="ctr" anchorCtr="0">
            <a:normAutofit/>
          </a:bodyPr>
          <a:lstStyle/>
          <a:p>
            <a:pPr marL="457200" lvl="0" indent="-374650" algn="l" rtl="0">
              <a:spcBef>
                <a:spcPts val="0"/>
              </a:spcBef>
              <a:spcAft>
                <a:spcPts val="0"/>
              </a:spcAft>
              <a:buSzPts val="2300"/>
              <a:buFont typeface="Arial"/>
              <a:buChar char="●"/>
            </a:pPr>
            <a:r>
              <a:rPr lang="en-GB" sz="2300" b="0">
                <a:latin typeface="Arial"/>
                <a:ea typeface="Arial"/>
                <a:cs typeface="Arial"/>
                <a:sym typeface="Arial"/>
              </a:rPr>
              <a:t>Embeddings live in high-dimensional vector space</a:t>
            </a:r>
            <a:br>
              <a:rPr lang="en-GB" sz="2300" b="0">
                <a:latin typeface="Arial"/>
                <a:ea typeface="Arial"/>
                <a:cs typeface="Arial"/>
                <a:sym typeface="Arial"/>
              </a:rPr>
            </a:br>
            <a:endParaRPr sz="2300" b="0">
              <a:latin typeface="Arial"/>
              <a:ea typeface="Arial"/>
              <a:cs typeface="Arial"/>
              <a:sym typeface="Arial"/>
            </a:endParaRPr>
          </a:p>
          <a:p>
            <a:pPr marL="457200" lvl="0" indent="-374650" algn="l" rtl="0">
              <a:spcBef>
                <a:spcPts val="0"/>
              </a:spcBef>
              <a:spcAft>
                <a:spcPts val="0"/>
              </a:spcAft>
              <a:buSzPts val="2300"/>
              <a:buFont typeface="Arial"/>
              <a:buChar char="●"/>
            </a:pPr>
            <a:r>
              <a:rPr lang="en-GB" sz="2300" b="0">
                <a:latin typeface="Arial"/>
                <a:ea typeface="Arial"/>
                <a:cs typeface="Arial"/>
                <a:sym typeface="Arial"/>
              </a:rPr>
              <a:t>Exact NN search is expensive → use Approximate NN</a:t>
            </a:r>
            <a:br>
              <a:rPr lang="en-GB" sz="2300" b="0">
                <a:latin typeface="Arial"/>
                <a:ea typeface="Arial"/>
                <a:cs typeface="Arial"/>
                <a:sym typeface="Arial"/>
              </a:rPr>
            </a:br>
            <a:endParaRPr sz="2300" b="0">
              <a:latin typeface="Arial"/>
              <a:ea typeface="Arial"/>
              <a:cs typeface="Arial"/>
              <a:sym typeface="Arial"/>
            </a:endParaRPr>
          </a:p>
          <a:p>
            <a:pPr marL="457200" lvl="0" indent="-374650" algn="l" rtl="0">
              <a:spcBef>
                <a:spcPts val="0"/>
              </a:spcBef>
              <a:spcAft>
                <a:spcPts val="0"/>
              </a:spcAft>
              <a:buSzPts val="2300"/>
              <a:buFont typeface="Arial"/>
              <a:buChar char="●"/>
            </a:pPr>
            <a:r>
              <a:rPr lang="en-GB" sz="2300" b="0">
                <a:latin typeface="Arial"/>
                <a:ea typeface="Arial"/>
                <a:cs typeface="Arial"/>
                <a:sym typeface="Arial"/>
              </a:rPr>
              <a:t>Measures: inner product, cosine, Euclidean</a:t>
            </a:r>
            <a:br>
              <a:rPr lang="en-GB" sz="2300" b="0">
                <a:latin typeface="Arial"/>
                <a:ea typeface="Arial"/>
                <a:cs typeface="Arial"/>
                <a:sym typeface="Arial"/>
              </a:rPr>
            </a:br>
            <a:endParaRPr sz="2300" b="0">
              <a:latin typeface="Arial"/>
              <a:ea typeface="Arial"/>
              <a:cs typeface="Arial"/>
              <a:sym typeface="Arial"/>
            </a:endParaRPr>
          </a:p>
          <a:p>
            <a:pPr marL="457200" lvl="0" indent="-374650" algn="l" rtl="0">
              <a:spcBef>
                <a:spcPts val="0"/>
              </a:spcBef>
              <a:spcAft>
                <a:spcPts val="0"/>
              </a:spcAft>
              <a:buSzPts val="2300"/>
              <a:buFont typeface="Arial"/>
              <a:buChar char="●"/>
            </a:pPr>
            <a:r>
              <a:rPr lang="en-GB" sz="2300" b="0">
                <a:latin typeface="Arial"/>
                <a:ea typeface="Arial"/>
                <a:cs typeface="Arial"/>
                <a:sym typeface="Arial"/>
              </a:rPr>
              <a:t>Recall used to evaluate ANN quality</a:t>
            </a:r>
            <a:br>
              <a:rPr lang="en-GB" sz="2300" b="0">
                <a:latin typeface="Arial"/>
                <a:ea typeface="Arial"/>
                <a:cs typeface="Arial"/>
                <a:sym typeface="Arial"/>
              </a:rPr>
            </a:br>
            <a:endParaRPr sz="2300" b="0">
              <a:latin typeface="Arial"/>
              <a:ea typeface="Arial"/>
              <a:cs typeface="Arial"/>
              <a:sym typeface="Arial"/>
            </a:endParaRPr>
          </a:p>
          <a:p>
            <a:pPr marL="457200" lvl="0" indent="-374650" algn="l" rtl="0">
              <a:spcBef>
                <a:spcPts val="0"/>
              </a:spcBef>
              <a:spcAft>
                <a:spcPts val="0"/>
              </a:spcAft>
              <a:buSzPts val="2300"/>
              <a:buFont typeface="Arial"/>
              <a:buChar char="●"/>
            </a:pPr>
            <a:r>
              <a:rPr lang="en-GB" sz="2300" b="0">
                <a:latin typeface="Arial"/>
                <a:ea typeface="Arial"/>
                <a:cs typeface="Arial"/>
                <a:sym typeface="Arial"/>
              </a:rPr>
              <a:t>ANN indexes aim for speed vs recall balance</a:t>
            </a:r>
            <a:endParaRPr sz="2300" b="0">
              <a:latin typeface="Arial"/>
              <a:ea typeface="Arial"/>
              <a:cs typeface="Arial"/>
              <a:sym typeface="Arial"/>
            </a:endParaRPr>
          </a:p>
          <a:p>
            <a:pPr marL="0" lvl="0" indent="0" algn="l" rtl="0">
              <a:spcBef>
                <a:spcPts val="0"/>
              </a:spcBef>
              <a:spcAft>
                <a:spcPts val="0"/>
              </a:spcAft>
              <a:buNone/>
            </a:pPr>
            <a:endParaRPr sz="1200" b="0"/>
          </a:p>
        </p:txBody>
      </p:sp>
      <p:sp>
        <p:nvSpPr>
          <p:cNvPr id="316" name="Google Shape;316;p19"/>
          <p:cNvSpPr txBox="1">
            <a:spLocks noGrp="1"/>
          </p:cNvSpPr>
          <p:nvPr>
            <p:ph type="subTitle" idx="1"/>
          </p:nvPr>
        </p:nvSpPr>
        <p:spPr>
          <a:xfrm>
            <a:off x="2999350" y="202775"/>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700" b="1">
                <a:latin typeface="Times New Roman"/>
                <a:ea typeface="Times New Roman"/>
                <a:cs typeface="Times New Roman"/>
                <a:sym typeface="Times New Roman"/>
              </a:rPr>
              <a:t>ANN Search</a:t>
            </a:r>
            <a:endParaRPr sz="2700" b="1">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0"/>
          <p:cNvSpPr txBox="1">
            <a:spLocks noGrp="1"/>
          </p:cNvSpPr>
          <p:nvPr>
            <p:ph type="ctrTitle"/>
          </p:nvPr>
        </p:nvSpPr>
        <p:spPr>
          <a:xfrm>
            <a:off x="5755825" y="1461250"/>
            <a:ext cx="4555200" cy="1872900"/>
          </a:xfrm>
          <a:prstGeom prst="rect">
            <a:avLst/>
          </a:prstGeom>
        </p:spPr>
        <p:txBody>
          <a:bodyPr spcFirstLastPara="1" wrap="square" lIns="91425" tIns="91425" rIns="91425" bIns="91425" anchor="ctr" anchorCtr="0">
            <a:normAutofit fontScale="90000"/>
          </a:bodyPr>
          <a:lstStyle/>
          <a:p>
            <a:pPr marL="457200" lvl="0" indent="-308610" algn="l" rtl="0">
              <a:spcBef>
                <a:spcPts val="0"/>
              </a:spcBef>
              <a:spcAft>
                <a:spcPts val="0"/>
              </a:spcAft>
              <a:buSzPct val="100000"/>
              <a:buFont typeface="Arial"/>
              <a:buChar char="●"/>
            </a:pPr>
            <a:r>
              <a:rPr lang="en-GB" sz="1400">
                <a:latin typeface="Arial"/>
                <a:ea typeface="Arial"/>
                <a:cs typeface="Arial"/>
                <a:sym typeface="Arial"/>
              </a:rPr>
              <a:t>Hierarchical structure</a:t>
            </a:r>
            <a:br>
              <a:rPr lang="en-GB" sz="1400">
                <a:latin typeface="Arial"/>
                <a:ea typeface="Arial"/>
                <a:cs typeface="Arial"/>
                <a:sym typeface="Arial"/>
              </a:rPr>
            </a:br>
            <a:endParaRPr sz="1400">
              <a:latin typeface="Arial"/>
              <a:ea typeface="Arial"/>
              <a:cs typeface="Arial"/>
              <a:sym typeface="Arial"/>
            </a:endParaRPr>
          </a:p>
          <a:p>
            <a:pPr marL="457200" lvl="0" indent="-308610" algn="l" rtl="0">
              <a:spcBef>
                <a:spcPts val="0"/>
              </a:spcBef>
              <a:spcAft>
                <a:spcPts val="0"/>
              </a:spcAft>
              <a:buSzPct val="100000"/>
              <a:buFont typeface="Arial"/>
              <a:buChar char="●"/>
            </a:pPr>
            <a:r>
              <a:rPr lang="en-GB" sz="1400">
                <a:latin typeface="Arial"/>
                <a:ea typeface="Arial"/>
                <a:cs typeface="Arial"/>
                <a:sym typeface="Arial"/>
              </a:rPr>
              <a:t>Beam search with greedy traversal</a:t>
            </a:r>
            <a:br>
              <a:rPr lang="en-GB" sz="1400">
                <a:latin typeface="Arial"/>
                <a:ea typeface="Arial"/>
                <a:cs typeface="Arial"/>
                <a:sym typeface="Arial"/>
              </a:rPr>
            </a:br>
            <a:endParaRPr sz="1400">
              <a:latin typeface="Arial"/>
              <a:ea typeface="Arial"/>
              <a:cs typeface="Arial"/>
              <a:sym typeface="Arial"/>
            </a:endParaRPr>
          </a:p>
          <a:p>
            <a:pPr marL="457200" lvl="0" indent="-308610" algn="l" rtl="0">
              <a:spcBef>
                <a:spcPts val="0"/>
              </a:spcBef>
              <a:spcAft>
                <a:spcPts val="0"/>
              </a:spcAft>
              <a:buSzPct val="100000"/>
              <a:buFont typeface="Arial"/>
              <a:buChar char="●"/>
            </a:pPr>
            <a:r>
              <a:rPr lang="en-GB" sz="1400">
                <a:latin typeface="Arial"/>
                <a:ea typeface="Arial"/>
                <a:cs typeface="Arial"/>
                <a:sym typeface="Arial"/>
              </a:rPr>
              <a:t>Costly updates and locking</a:t>
            </a:r>
            <a:br>
              <a:rPr lang="en-GB" sz="1400">
                <a:latin typeface="Arial"/>
                <a:ea typeface="Arial"/>
                <a:cs typeface="Arial"/>
                <a:sym typeface="Arial"/>
              </a:rPr>
            </a:br>
            <a:endParaRPr sz="1400">
              <a:latin typeface="Arial"/>
              <a:ea typeface="Arial"/>
              <a:cs typeface="Arial"/>
              <a:sym typeface="Arial"/>
            </a:endParaRPr>
          </a:p>
          <a:p>
            <a:pPr marL="457200" lvl="0" indent="-308610" algn="l" rtl="0">
              <a:spcBef>
                <a:spcPts val="0"/>
              </a:spcBef>
              <a:spcAft>
                <a:spcPts val="0"/>
              </a:spcAft>
              <a:buSzPct val="100000"/>
              <a:buFont typeface="Arial"/>
              <a:buChar char="●"/>
            </a:pPr>
            <a:r>
              <a:rPr lang="en-GB" sz="1400">
                <a:latin typeface="Arial"/>
                <a:ea typeface="Arial"/>
                <a:cs typeface="Arial"/>
                <a:sym typeface="Arial"/>
              </a:rPr>
              <a:t>Good for high-recall reads</a:t>
            </a:r>
            <a:br>
              <a:rPr lang="en-GB" sz="1400">
                <a:latin typeface="Arial"/>
                <a:ea typeface="Arial"/>
                <a:cs typeface="Arial"/>
                <a:sym typeface="Arial"/>
              </a:rPr>
            </a:br>
            <a:endParaRPr sz="1400">
              <a:latin typeface="Arial"/>
              <a:ea typeface="Arial"/>
              <a:cs typeface="Arial"/>
              <a:sym typeface="Arial"/>
            </a:endParaRPr>
          </a:p>
          <a:p>
            <a:pPr marL="457200" lvl="0" indent="-308610" algn="l" rtl="0">
              <a:spcBef>
                <a:spcPts val="0"/>
              </a:spcBef>
              <a:spcAft>
                <a:spcPts val="0"/>
              </a:spcAft>
              <a:buSzPct val="100000"/>
              <a:buFont typeface="Arial"/>
              <a:buChar char="●"/>
            </a:pPr>
            <a:r>
              <a:rPr lang="en-GB" sz="1400">
                <a:latin typeface="Arial"/>
                <a:ea typeface="Arial"/>
                <a:cs typeface="Arial"/>
                <a:sym typeface="Arial"/>
              </a:rPr>
              <a:t>Example: HNSW structure diagram</a:t>
            </a:r>
            <a:endParaRPr sz="1400">
              <a:latin typeface="Arial"/>
              <a:ea typeface="Arial"/>
              <a:cs typeface="Arial"/>
              <a:sym typeface="Arial"/>
            </a:endParaRPr>
          </a:p>
          <a:p>
            <a:pPr marL="0" lvl="0" indent="0" algn="l" rtl="0">
              <a:spcBef>
                <a:spcPts val="0"/>
              </a:spcBef>
              <a:spcAft>
                <a:spcPts val="0"/>
              </a:spcAft>
              <a:buNone/>
            </a:pPr>
            <a:endParaRPr sz="1100"/>
          </a:p>
        </p:txBody>
      </p:sp>
      <p:sp>
        <p:nvSpPr>
          <p:cNvPr id="322" name="Google Shape;322;p20"/>
          <p:cNvSpPr txBox="1">
            <a:spLocks noGrp="1"/>
          </p:cNvSpPr>
          <p:nvPr>
            <p:ph type="subTitle" idx="1"/>
          </p:nvPr>
        </p:nvSpPr>
        <p:spPr>
          <a:xfrm>
            <a:off x="2535275" y="135350"/>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400" b="1">
                <a:latin typeface="Times New Roman"/>
                <a:ea typeface="Times New Roman"/>
                <a:cs typeface="Times New Roman"/>
                <a:sym typeface="Times New Roman"/>
              </a:rPr>
              <a:t>Graph-based ANN index</a:t>
            </a:r>
            <a:endParaRPr sz="2400" b="1">
              <a:latin typeface="Times New Roman"/>
              <a:ea typeface="Times New Roman"/>
              <a:cs typeface="Times New Roman"/>
              <a:sym typeface="Times New Roman"/>
            </a:endParaRPr>
          </a:p>
        </p:txBody>
      </p:sp>
      <p:pic>
        <p:nvPicPr>
          <p:cNvPr id="323" name="Google Shape;323;p20"/>
          <p:cNvPicPr preferRelativeResize="0"/>
          <p:nvPr/>
        </p:nvPicPr>
        <p:blipFill>
          <a:blip r:embed="rId3">
            <a:alphaModFix/>
          </a:blip>
          <a:stretch>
            <a:fillRect/>
          </a:stretch>
        </p:blipFill>
        <p:spPr>
          <a:xfrm>
            <a:off x="193375" y="925175"/>
            <a:ext cx="5512924" cy="3168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21"/>
          <p:cNvSpPr txBox="1">
            <a:spLocks noGrp="1"/>
          </p:cNvSpPr>
          <p:nvPr>
            <p:ph type="ctrTitle"/>
          </p:nvPr>
        </p:nvSpPr>
        <p:spPr>
          <a:xfrm>
            <a:off x="5444025" y="1814650"/>
            <a:ext cx="4527000" cy="1945500"/>
          </a:xfrm>
          <a:prstGeom prst="rect">
            <a:avLst/>
          </a:prstGeom>
        </p:spPr>
        <p:txBody>
          <a:bodyPr spcFirstLastPara="1" wrap="square" lIns="91425" tIns="91425" rIns="91425" bIns="91425" anchor="ctr" anchorCtr="0">
            <a:noAutofit/>
          </a:bodyPr>
          <a:lstStyle/>
          <a:p>
            <a:pPr marL="457200" lvl="0" indent="-317500" algn="l" rtl="0">
              <a:spcBef>
                <a:spcPts val="0"/>
              </a:spcBef>
              <a:spcAft>
                <a:spcPts val="0"/>
              </a:spcAft>
              <a:buSzPts val="1400"/>
              <a:buFont typeface="Arial"/>
              <a:buChar char="●"/>
            </a:pPr>
            <a:r>
              <a:rPr lang="en-GB" sz="1400">
                <a:latin typeface="Arial"/>
                <a:ea typeface="Arial"/>
                <a:cs typeface="Arial"/>
                <a:sym typeface="Arial"/>
              </a:rPr>
              <a:t>K-means clustering → IVF</a:t>
            </a:r>
            <a:br>
              <a:rPr lang="en-GB" sz="1400">
                <a:latin typeface="Arial"/>
                <a:ea typeface="Arial"/>
                <a:cs typeface="Arial"/>
                <a:sym typeface="Arial"/>
              </a:rPr>
            </a:b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GB" sz="1400">
                <a:latin typeface="Arial"/>
                <a:ea typeface="Arial"/>
                <a:cs typeface="Arial"/>
                <a:sym typeface="Arial"/>
              </a:rPr>
              <a:t>Product Quantization → compressed </a:t>
            </a:r>
            <a:endParaRPr sz="1400">
              <a:latin typeface="Arial"/>
              <a:ea typeface="Arial"/>
              <a:cs typeface="Arial"/>
              <a:sym typeface="Arial"/>
            </a:endParaRPr>
          </a:p>
          <a:p>
            <a:pPr marL="457200" lvl="0" indent="0" algn="l" rtl="0">
              <a:spcBef>
                <a:spcPts val="0"/>
              </a:spcBef>
              <a:spcAft>
                <a:spcPts val="0"/>
              </a:spcAft>
              <a:buNone/>
            </a:pPr>
            <a:r>
              <a:rPr lang="en-GB" sz="1400">
                <a:latin typeface="Arial"/>
                <a:ea typeface="Arial"/>
                <a:cs typeface="Arial"/>
                <a:sym typeface="Arial"/>
              </a:rPr>
              <a:t>                                           vectors</a:t>
            </a:r>
            <a:br>
              <a:rPr lang="en-GB" sz="1400">
                <a:latin typeface="Arial"/>
                <a:ea typeface="Arial"/>
                <a:cs typeface="Arial"/>
                <a:sym typeface="Arial"/>
              </a:rPr>
            </a:b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GB" sz="1400">
                <a:latin typeface="Arial"/>
                <a:ea typeface="Arial"/>
                <a:cs typeface="Arial"/>
                <a:sym typeface="Arial"/>
              </a:rPr>
              <a:t>Fast similarity approximation</a:t>
            </a:r>
            <a:br>
              <a:rPr lang="en-GB" sz="1400">
                <a:latin typeface="Arial"/>
                <a:ea typeface="Arial"/>
                <a:cs typeface="Arial"/>
                <a:sym typeface="Arial"/>
              </a:rPr>
            </a:b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GB" sz="1400">
                <a:latin typeface="Arial"/>
                <a:ea typeface="Arial"/>
                <a:cs typeface="Arial"/>
                <a:sym typeface="Arial"/>
              </a:rPr>
              <a:t>High throughput using SIMD</a:t>
            </a:r>
            <a:br>
              <a:rPr lang="en-GB" sz="1400">
                <a:latin typeface="Arial"/>
                <a:ea typeface="Arial"/>
                <a:cs typeface="Arial"/>
                <a:sym typeface="Arial"/>
              </a:rPr>
            </a:br>
            <a:endParaRPr sz="1400">
              <a:latin typeface="Arial"/>
              <a:ea typeface="Arial"/>
              <a:cs typeface="Arial"/>
              <a:sym typeface="Arial"/>
            </a:endParaRPr>
          </a:p>
          <a:p>
            <a:pPr marL="457200" lvl="0" indent="-317500" algn="l" rtl="0">
              <a:spcBef>
                <a:spcPts val="0"/>
              </a:spcBef>
              <a:spcAft>
                <a:spcPts val="0"/>
              </a:spcAft>
              <a:buSzPts val="1400"/>
              <a:buFont typeface="Arial"/>
              <a:buChar char="●"/>
            </a:pPr>
            <a:r>
              <a:rPr lang="en-GB" sz="1400">
                <a:latin typeface="Arial"/>
                <a:ea typeface="Arial"/>
                <a:cs typeface="Arial"/>
                <a:sym typeface="Arial"/>
              </a:rPr>
              <a:t>Used together for scalability</a:t>
            </a:r>
            <a:endParaRPr sz="1400">
              <a:latin typeface="Arial"/>
              <a:ea typeface="Arial"/>
              <a:cs typeface="Arial"/>
              <a:sym typeface="Arial"/>
            </a:endParaRPr>
          </a:p>
          <a:p>
            <a:pPr marL="0" lvl="0" indent="0" algn="l" rtl="0">
              <a:spcBef>
                <a:spcPts val="0"/>
              </a:spcBef>
              <a:spcAft>
                <a:spcPts val="0"/>
              </a:spcAft>
              <a:buNone/>
            </a:pPr>
            <a:endParaRPr sz="1100"/>
          </a:p>
        </p:txBody>
      </p:sp>
      <p:sp>
        <p:nvSpPr>
          <p:cNvPr id="329" name="Google Shape;329;p21"/>
          <p:cNvSpPr txBox="1">
            <a:spLocks noGrp="1"/>
          </p:cNvSpPr>
          <p:nvPr>
            <p:ph type="subTitle" idx="1"/>
          </p:nvPr>
        </p:nvSpPr>
        <p:spPr>
          <a:xfrm>
            <a:off x="1946875" y="67375"/>
            <a:ext cx="5482500" cy="904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sz="2600" b="1">
                <a:latin typeface="Times New Roman"/>
                <a:ea typeface="Times New Roman"/>
                <a:cs typeface="Times New Roman"/>
                <a:sym typeface="Times New Roman"/>
              </a:rPr>
              <a:t>Partitioning-based ANN index</a:t>
            </a:r>
            <a:endParaRPr sz="2600" b="1">
              <a:latin typeface="Times New Roman"/>
              <a:ea typeface="Times New Roman"/>
              <a:cs typeface="Times New Roman"/>
              <a:sym typeface="Times New Roman"/>
            </a:endParaRPr>
          </a:p>
        </p:txBody>
      </p:sp>
      <p:pic>
        <p:nvPicPr>
          <p:cNvPr id="330" name="Google Shape;330;p21"/>
          <p:cNvPicPr preferRelativeResize="0"/>
          <p:nvPr/>
        </p:nvPicPr>
        <p:blipFill>
          <a:blip r:embed="rId3">
            <a:alphaModFix/>
          </a:blip>
          <a:stretch>
            <a:fillRect/>
          </a:stretch>
        </p:blipFill>
        <p:spPr>
          <a:xfrm>
            <a:off x="0" y="1522200"/>
            <a:ext cx="5609499" cy="21777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2"/>
          <p:cNvSpPr txBox="1">
            <a:spLocks noGrp="1"/>
          </p:cNvSpPr>
          <p:nvPr>
            <p:ph type="ctrTitle"/>
          </p:nvPr>
        </p:nvSpPr>
        <p:spPr>
          <a:xfrm>
            <a:off x="2370900" y="158575"/>
            <a:ext cx="4157100" cy="889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GB" sz="2600">
                <a:latin typeface="Times New Roman"/>
                <a:ea typeface="Times New Roman"/>
                <a:cs typeface="Times New Roman"/>
                <a:sym typeface="Times New Roman"/>
              </a:rPr>
              <a:t>HAKES-Index overview</a:t>
            </a:r>
            <a:endParaRPr sz="2600">
              <a:latin typeface="Times New Roman"/>
              <a:ea typeface="Times New Roman"/>
              <a:cs typeface="Times New Roman"/>
              <a:sym typeface="Times New Roman"/>
            </a:endParaRPr>
          </a:p>
        </p:txBody>
      </p:sp>
      <p:sp>
        <p:nvSpPr>
          <p:cNvPr id="336" name="Google Shape;336;p2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endParaRPr/>
          </a:p>
        </p:txBody>
      </p:sp>
      <p:pic>
        <p:nvPicPr>
          <p:cNvPr id="337" name="Google Shape;337;p22"/>
          <p:cNvPicPr preferRelativeResize="0"/>
          <p:nvPr/>
        </p:nvPicPr>
        <p:blipFill>
          <a:blip r:embed="rId3">
            <a:alphaModFix/>
          </a:blip>
          <a:stretch>
            <a:fillRect/>
          </a:stretch>
        </p:blipFill>
        <p:spPr>
          <a:xfrm>
            <a:off x="0" y="1102175"/>
            <a:ext cx="9143999" cy="3567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3"/>
          <p:cNvSpPr txBox="1">
            <a:spLocks noGrp="1"/>
          </p:cNvSpPr>
          <p:nvPr>
            <p:ph type="ctrTitle"/>
          </p:nvPr>
        </p:nvSpPr>
        <p:spPr>
          <a:xfrm>
            <a:off x="62600" y="482000"/>
            <a:ext cx="9041400" cy="46614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400"/>
              </a:spcBef>
              <a:spcAft>
                <a:spcPts val="0"/>
              </a:spcAft>
              <a:buNone/>
            </a:pPr>
            <a:r>
              <a:rPr lang="en-GB" sz="1311">
                <a:latin typeface="Arial"/>
                <a:ea typeface="Arial"/>
                <a:cs typeface="Arial"/>
                <a:sym typeface="Arial"/>
              </a:rPr>
              <a:t>1. Search Index Parameters (Top Section):</a:t>
            </a:r>
            <a:endParaRPr sz="1311">
              <a:latin typeface="Arial"/>
              <a:ea typeface="Arial"/>
              <a:cs typeface="Arial"/>
              <a:sym typeface="Arial"/>
            </a:endParaRPr>
          </a:p>
          <a:p>
            <a:pPr marL="457200" lvl="0" indent="-303529" algn="l" rtl="0">
              <a:lnSpc>
                <a:spcPct val="115000"/>
              </a:lnSpc>
              <a:spcBef>
                <a:spcPts val="1200"/>
              </a:spcBef>
              <a:spcAft>
                <a:spcPts val="0"/>
              </a:spcAft>
              <a:buClr>
                <a:schemeClr val="lt1"/>
              </a:buClr>
              <a:buSzPct val="100000"/>
              <a:buFont typeface="Arial"/>
              <a:buChar char="●"/>
            </a:pPr>
            <a:r>
              <a:rPr lang="en-GB" sz="1311">
                <a:latin typeface="Arial"/>
                <a:ea typeface="Arial"/>
                <a:cs typeface="Arial"/>
                <a:sym typeface="Arial"/>
              </a:rPr>
              <a:t>Dimension Reduction</a:t>
            </a:r>
            <a:r>
              <a:rPr lang="en-GB" sz="1311" b="0">
                <a:latin typeface="Arial"/>
                <a:ea typeface="Arial"/>
                <a:cs typeface="Arial"/>
                <a:sym typeface="Arial"/>
              </a:rPr>
              <a:t>: A learned transformation reduces the dimensionality of the query vector.</a:t>
            </a:r>
            <a:br>
              <a:rPr lang="en-GB" sz="1311" b="0">
                <a:latin typeface="Arial"/>
                <a:ea typeface="Arial"/>
                <a:cs typeface="Arial"/>
                <a:sym typeface="Arial"/>
              </a:rPr>
            </a:br>
            <a:endParaRPr sz="1311" b="0">
              <a:latin typeface="Arial"/>
              <a:ea typeface="Arial"/>
              <a:cs typeface="Arial"/>
              <a:sym typeface="Arial"/>
            </a:endParaRPr>
          </a:p>
          <a:p>
            <a:pPr marL="457200" lvl="0" indent="-303529" algn="l" rtl="0">
              <a:lnSpc>
                <a:spcPct val="115000"/>
              </a:lnSpc>
              <a:spcBef>
                <a:spcPts val="0"/>
              </a:spcBef>
              <a:spcAft>
                <a:spcPts val="0"/>
              </a:spcAft>
              <a:buClr>
                <a:schemeClr val="lt1"/>
              </a:buClr>
              <a:buSzPct val="100000"/>
              <a:buFont typeface="Arial"/>
              <a:buChar char="●"/>
            </a:pPr>
            <a:r>
              <a:rPr lang="en-GB" sz="1311">
                <a:latin typeface="Arial"/>
                <a:ea typeface="Arial"/>
                <a:cs typeface="Arial"/>
                <a:sym typeface="Arial"/>
              </a:rPr>
              <a:t>IVF Centroids</a:t>
            </a:r>
            <a:r>
              <a:rPr lang="en-GB" sz="1311" b="0">
                <a:latin typeface="Arial"/>
                <a:ea typeface="Arial"/>
                <a:cs typeface="Arial"/>
                <a:sym typeface="Arial"/>
              </a:rPr>
              <a:t>: Inverted File (IVF) centroids help partition the vector space for fast lookup.</a:t>
            </a:r>
            <a:br>
              <a:rPr lang="en-GB" sz="1311" b="0">
                <a:latin typeface="Arial"/>
                <a:ea typeface="Arial"/>
                <a:cs typeface="Arial"/>
                <a:sym typeface="Arial"/>
              </a:rPr>
            </a:br>
            <a:endParaRPr sz="1311" b="0">
              <a:latin typeface="Arial"/>
              <a:ea typeface="Arial"/>
              <a:cs typeface="Arial"/>
              <a:sym typeface="Arial"/>
            </a:endParaRPr>
          </a:p>
          <a:p>
            <a:pPr marL="457200" lvl="0" indent="-303529" algn="l" rtl="0">
              <a:lnSpc>
                <a:spcPct val="115000"/>
              </a:lnSpc>
              <a:spcBef>
                <a:spcPts val="0"/>
              </a:spcBef>
              <a:spcAft>
                <a:spcPts val="0"/>
              </a:spcAft>
              <a:buClr>
                <a:schemeClr val="lt1"/>
              </a:buClr>
              <a:buSzPct val="100000"/>
              <a:buFont typeface="Arial"/>
              <a:buChar char="●"/>
            </a:pPr>
            <a:r>
              <a:rPr lang="en-GB" sz="1311">
                <a:latin typeface="Arial"/>
                <a:ea typeface="Arial"/>
                <a:cs typeface="Arial"/>
                <a:sym typeface="Arial"/>
              </a:rPr>
              <a:t>PQ Codebooks</a:t>
            </a:r>
            <a:r>
              <a:rPr lang="en-GB" sz="1311" b="0">
                <a:latin typeface="Arial"/>
                <a:ea typeface="Arial"/>
                <a:cs typeface="Arial"/>
                <a:sym typeface="Arial"/>
              </a:rPr>
              <a:t>: Product Quantization (PQ) codebooks are used to compress vectors for fast search.</a:t>
            </a:r>
            <a:br>
              <a:rPr lang="en-GB" sz="1311" b="0">
                <a:latin typeface="Arial"/>
                <a:ea typeface="Arial"/>
                <a:cs typeface="Arial"/>
                <a:sym typeface="Arial"/>
              </a:rPr>
            </a:br>
            <a:endParaRPr sz="1311" b="0">
              <a:latin typeface="Arial"/>
              <a:ea typeface="Arial"/>
              <a:cs typeface="Arial"/>
              <a:sym typeface="Arial"/>
            </a:endParaRPr>
          </a:p>
          <a:p>
            <a:pPr marL="0" lvl="0" indent="0" algn="l" rtl="0">
              <a:lnSpc>
                <a:spcPct val="115000"/>
              </a:lnSpc>
              <a:spcBef>
                <a:spcPts val="1400"/>
              </a:spcBef>
              <a:spcAft>
                <a:spcPts val="0"/>
              </a:spcAft>
              <a:buNone/>
            </a:pPr>
            <a:r>
              <a:rPr lang="en-GB" sz="1311">
                <a:latin typeface="Arial"/>
                <a:ea typeface="Arial"/>
                <a:cs typeface="Arial"/>
                <a:sym typeface="Arial"/>
              </a:rPr>
              <a:t>2. Insert Index Parameters (Bottom Section):</a:t>
            </a:r>
            <a:endParaRPr sz="1311">
              <a:latin typeface="Arial"/>
              <a:ea typeface="Arial"/>
              <a:cs typeface="Arial"/>
              <a:sym typeface="Arial"/>
            </a:endParaRPr>
          </a:p>
          <a:p>
            <a:pPr marL="457200" lvl="0" indent="-303529" algn="l" rtl="0">
              <a:lnSpc>
                <a:spcPct val="115000"/>
              </a:lnSpc>
              <a:spcBef>
                <a:spcPts val="1200"/>
              </a:spcBef>
              <a:spcAft>
                <a:spcPts val="0"/>
              </a:spcAft>
              <a:buClr>
                <a:schemeClr val="lt1"/>
              </a:buClr>
              <a:buSzPct val="100000"/>
              <a:buFont typeface="Arial"/>
              <a:buChar char="●"/>
            </a:pPr>
            <a:r>
              <a:rPr lang="en-GB" sz="1311" b="0">
                <a:latin typeface="Arial"/>
                <a:ea typeface="Arial"/>
                <a:cs typeface="Arial"/>
                <a:sym typeface="Arial"/>
              </a:rPr>
              <a:t>Similar to the search parameters, but with a separate (possibly less optimized) set of components dedicated for efficient and incremental vector </a:t>
            </a:r>
            <a:r>
              <a:rPr lang="en-GB" sz="1311">
                <a:latin typeface="Arial"/>
                <a:ea typeface="Arial"/>
                <a:cs typeface="Arial"/>
                <a:sym typeface="Arial"/>
              </a:rPr>
              <a:t>insertion</a:t>
            </a:r>
            <a:r>
              <a:rPr lang="en-GB" sz="1311" b="0">
                <a:latin typeface="Arial"/>
                <a:ea typeface="Arial"/>
                <a:cs typeface="Arial"/>
                <a:sym typeface="Arial"/>
              </a:rPr>
              <a:t>.</a:t>
            </a:r>
            <a:br>
              <a:rPr lang="en-GB" sz="1311" b="0">
                <a:latin typeface="Arial"/>
                <a:ea typeface="Arial"/>
                <a:cs typeface="Arial"/>
                <a:sym typeface="Arial"/>
              </a:rPr>
            </a:br>
            <a:endParaRPr sz="1311" b="0">
              <a:latin typeface="Arial"/>
              <a:ea typeface="Arial"/>
              <a:cs typeface="Arial"/>
              <a:sym typeface="Arial"/>
            </a:endParaRPr>
          </a:p>
          <a:p>
            <a:pPr marL="0" lvl="0" indent="0" algn="l" rtl="0">
              <a:lnSpc>
                <a:spcPct val="115000"/>
              </a:lnSpc>
              <a:spcBef>
                <a:spcPts val="1400"/>
              </a:spcBef>
              <a:spcAft>
                <a:spcPts val="0"/>
              </a:spcAft>
              <a:buNone/>
            </a:pPr>
            <a:r>
              <a:rPr lang="en-GB" sz="1311">
                <a:latin typeface="Arial"/>
                <a:ea typeface="Arial"/>
                <a:cs typeface="Arial"/>
                <a:sym typeface="Arial"/>
              </a:rPr>
              <a:t>3. Partitions of Compressed Vectors:</a:t>
            </a:r>
            <a:endParaRPr sz="1311">
              <a:latin typeface="Arial"/>
              <a:ea typeface="Arial"/>
              <a:cs typeface="Arial"/>
              <a:sym typeface="Arial"/>
            </a:endParaRPr>
          </a:p>
          <a:p>
            <a:pPr marL="457200" lvl="0" indent="-303529" algn="l" rtl="0">
              <a:lnSpc>
                <a:spcPct val="115000"/>
              </a:lnSpc>
              <a:spcBef>
                <a:spcPts val="1200"/>
              </a:spcBef>
              <a:spcAft>
                <a:spcPts val="0"/>
              </a:spcAft>
              <a:buClr>
                <a:schemeClr val="lt1"/>
              </a:buClr>
              <a:buSzPct val="100000"/>
              <a:buFont typeface="Arial"/>
              <a:buChar char="●"/>
            </a:pPr>
            <a:r>
              <a:rPr lang="en-GB" sz="1311" b="0">
                <a:latin typeface="Arial"/>
                <a:ea typeface="Arial"/>
                <a:cs typeface="Arial"/>
                <a:sym typeface="Arial"/>
              </a:rPr>
              <a:t>After quantization, vectors are stored in partitions based on IVF assignments and compressed using PQ.</a:t>
            </a:r>
            <a:br>
              <a:rPr lang="en-GB" sz="1311" b="0">
                <a:latin typeface="Arial"/>
                <a:ea typeface="Arial"/>
                <a:cs typeface="Arial"/>
                <a:sym typeface="Arial"/>
              </a:rPr>
            </a:br>
            <a:endParaRPr sz="1311" b="0">
              <a:latin typeface="Arial"/>
              <a:ea typeface="Arial"/>
              <a:cs typeface="Arial"/>
              <a:sym typeface="Arial"/>
            </a:endParaRPr>
          </a:p>
          <a:p>
            <a:pPr marL="0" lvl="0" indent="0" algn="l" rtl="0">
              <a:lnSpc>
                <a:spcPct val="115000"/>
              </a:lnSpc>
              <a:spcBef>
                <a:spcPts val="1400"/>
              </a:spcBef>
              <a:spcAft>
                <a:spcPts val="0"/>
              </a:spcAft>
              <a:buNone/>
            </a:pPr>
            <a:r>
              <a:rPr lang="en-GB" sz="1311">
                <a:latin typeface="Arial"/>
                <a:ea typeface="Arial"/>
                <a:cs typeface="Arial"/>
                <a:sym typeface="Arial"/>
              </a:rPr>
              <a:t>4. Full Vectors:</a:t>
            </a:r>
            <a:endParaRPr sz="1311">
              <a:latin typeface="Arial"/>
              <a:ea typeface="Arial"/>
              <a:cs typeface="Arial"/>
              <a:sym typeface="Arial"/>
            </a:endParaRPr>
          </a:p>
          <a:p>
            <a:pPr marL="457200" lvl="0" indent="-291465" algn="l" rtl="0">
              <a:lnSpc>
                <a:spcPct val="115000"/>
              </a:lnSpc>
              <a:spcBef>
                <a:spcPts val="1200"/>
              </a:spcBef>
              <a:spcAft>
                <a:spcPts val="0"/>
              </a:spcAft>
              <a:buClr>
                <a:schemeClr val="lt1"/>
              </a:buClr>
              <a:buSzPct val="83898"/>
              <a:buFont typeface="Arial"/>
              <a:buChar char="●"/>
            </a:pPr>
            <a:r>
              <a:rPr lang="en-GB" sz="1311" b="0">
                <a:latin typeface="Arial"/>
                <a:ea typeface="Arial"/>
                <a:cs typeface="Arial"/>
                <a:sym typeface="Arial"/>
              </a:rPr>
              <a:t>The system also stores full (original or high-fidelity) vectors, used for </a:t>
            </a:r>
            <a:r>
              <a:rPr lang="en-GB" sz="1311">
                <a:latin typeface="Arial"/>
                <a:ea typeface="Arial"/>
                <a:cs typeface="Arial"/>
                <a:sym typeface="Arial"/>
              </a:rPr>
              <a:t>refinement</a:t>
            </a:r>
            <a:r>
              <a:rPr lang="en-GB" sz="1311" b="0">
                <a:latin typeface="Arial"/>
                <a:ea typeface="Arial"/>
                <a:cs typeface="Arial"/>
                <a:sym typeface="Arial"/>
              </a:rPr>
              <a:t> in the final search stage or insertion.</a:t>
            </a:r>
            <a:br>
              <a:rPr lang="en-GB" sz="1100" b="0">
                <a:latin typeface="Arial"/>
                <a:ea typeface="Arial"/>
                <a:cs typeface="Arial"/>
                <a:sym typeface="Arial"/>
              </a:rPr>
            </a:br>
            <a:endParaRPr sz="1100" b="0">
              <a:latin typeface="Arial"/>
              <a:ea typeface="Arial"/>
              <a:cs typeface="Arial"/>
              <a:sym typeface="Arial"/>
            </a:endParaRPr>
          </a:p>
        </p:txBody>
      </p:sp>
      <p:sp>
        <p:nvSpPr>
          <p:cNvPr id="343" name="Google Shape;343;p23"/>
          <p:cNvSpPr txBox="1">
            <a:spLocks noGrp="1"/>
          </p:cNvSpPr>
          <p:nvPr>
            <p:ph type="subTitle" idx="1"/>
          </p:nvPr>
        </p:nvSpPr>
        <p:spPr>
          <a:xfrm>
            <a:off x="2283575" y="-67425"/>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3000" b="1">
                <a:latin typeface="Times New Roman"/>
                <a:ea typeface="Times New Roman"/>
                <a:cs typeface="Times New Roman"/>
                <a:sym typeface="Times New Roman"/>
              </a:rPr>
              <a:t>HAKES-Index overview</a:t>
            </a:r>
            <a:endParaRPr sz="3000" b="1">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4"/>
          <p:cNvSpPr txBox="1">
            <a:spLocks noGrp="1"/>
          </p:cNvSpPr>
          <p:nvPr>
            <p:ph type="ctrTitle"/>
          </p:nvPr>
        </p:nvSpPr>
        <p:spPr>
          <a:xfrm>
            <a:off x="60200" y="1381800"/>
            <a:ext cx="7917900" cy="3543300"/>
          </a:xfrm>
          <a:prstGeom prst="rect">
            <a:avLst/>
          </a:prstGeom>
        </p:spPr>
        <p:txBody>
          <a:bodyPr spcFirstLastPara="1" wrap="square" lIns="91425" tIns="91425" rIns="91425" bIns="91425" anchor="ctr" anchorCtr="0">
            <a:noAutofit/>
          </a:bodyPr>
          <a:lstStyle/>
          <a:p>
            <a:pPr marL="0" lvl="0" indent="0" algn="l" rtl="0">
              <a:lnSpc>
                <a:spcPct val="115000"/>
              </a:lnSpc>
              <a:spcBef>
                <a:spcPts val="1400"/>
              </a:spcBef>
              <a:spcAft>
                <a:spcPts val="0"/>
              </a:spcAft>
              <a:buNone/>
            </a:pPr>
            <a:r>
              <a:rPr lang="en-GB" sz="1200">
                <a:latin typeface="Arial"/>
                <a:ea typeface="Arial"/>
                <a:cs typeface="Arial"/>
                <a:sym typeface="Arial"/>
              </a:rPr>
              <a:t>1.</a:t>
            </a:r>
            <a:r>
              <a:rPr lang="en-GB" sz="1400">
                <a:latin typeface="Arial"/>
                <a:ea typeface="Arial"/>
                <a:cs typeface="Arial"/>
                <a:sym typeface="Arial"/>
              </a:rPr>
              <a:t> Reduce Dimension:</a:t>
            </a:r>
            <a:endParaRPr sz="1400">
              <a:latin typeface="Arial"/>
              <a:ea typeface="Arial"/>
              <a:cs typeface="Arial"/>
              <a:sym typeface="Arial"/>
            </a:endParaRPr>
          </a:p>
          <a:p>
            <a:pPr marL="457200" lvl="0" indent="-317500" algn="l" rtl="0">
              <a:lnSpc>
                <a:spcPct val="115000"/>
              </a:lnSpc>
              <a:spcBef>
                <a:spcPts val="1200"/>
              </a:spcBef>
              <a:spcAft>
                <a:spcPts val="0"/>
              </a:spcAft>
              <a:buClr>
                <a:schemeClr val="lt1"/>
              </a:buClr>
              <a:buSzPts val="1400"/>
              <a:buFont typeface="Arial"/>
              <a:buChar char="●"/>
            </a:pPr>
            <a:r>
              <a:rPr lang="en-GB" sz="1400" b="0">
                <a:latin typeface="Arial"/>
                <a:ea typeface="Arial"/>
                <a:cs typeface="Arial"/>
                <a:sym typeface="Arial"/>
              </a:rPr>
              <a:t>The incoming </a:t>
            </a:r>
            <a:r>
              <a:rPr lang="en-GB" sz="1400">
                <a:latin typeface="Arial"/>
                <a:ea typeface="Arial"/>
                <a:cs typeface="Arial"/>
                <a:sym typeface="Arial"/>
              </a:rPr>
              <a:t>query vector</a:t>
            </a:r>
            <a:r>
              <a:rPr lang="en-GB" sz="1400" b="0">
                <a:latin typeface="Arial"/>
                <a:ea typeface="Arial"/>
                <a:cs typeface="Arial"/>
                <a:sym typeface="Arial"/>
              </a:rPr>
              <a:t> (red) is reduced in dimension using a trained model.</a:t>
            </a:r>
            <a:br>
              <a:rPr lang="en-GB" sz="1400" b="0">
                <a:latin typeface="Arial"/>
                <a:ea typeface="Arial"/>
                <a:cs typeface="Arial"/>
                <a:sym typeface="Arial"/>
              </a:rPr>
            </a:br>
            <a:endParaRPr sz="1400" b="0">
              <a:latin typeface="Arial"/>
              <a:ea typeface="Arial"/>
              <a:cs typeface="Arial"/>
              <a:sym typeface="Arial"/>
            </a:endParaRPr>
          </a:p>
          <a:p>
            <a:pPr marL="0" lvl="0" indent="0" algn="l" rtl="0">
              <a:lnSpc>
                <a:spcPct val="115000"/>
              </a:lnSpc>
              <a:spcBef>
                <a:spcPts val="1400"/>
              </a:spcBef>
              <a:spcAft>
                <a:spcPts val="0"/>
              </a:spcAft>
              <a:buNone/>
            </a:pPr>
            <a:r>
              <a:rPr lang="en-GB" sz="1400">
                <a:latin typeface="Arial"/>
                <a:ea typeface="Arial"/>
                <a:cs typeface="Arial"/>
                <a:sym typeface="Arial"/>
              </a:rPr>
              <a:t>2. Compute LUT (Look-Up Table):</a:t>
            </a:r>
            <a:endParaRPr sz="1400">
              <a:latin typeface="Arial"/>
              <a:ea typeface="Arial"/>
              <a:cs typeface="Arial"/>
              <a:sym typeface="Arial"/>
            </a:endParaRPr>
          </a:p>
          <a:p>
            <a:pPr marL="457200" lvl="0" indent="-317500" algn="l" rtl="0">
              <a:lnSpc>
                <a:spcPct val="115000"/>
              </a:lnSpc>
              <a:spcBef>
                <a:spcPts val="1200"/>
              </a:spcBef>
              <a:spcAft>
                <a:spcPts val="0"/>
              </a:spcAft>
              <a:buClr>
                <a:schemeClr val="lt1"/>
              </a:buClr>
              <a:buSzPts val="1400"/>
              <a:buFont typeface="Arial"/>
              <a:buChar char="●"/>
            </a:pPr>
            <a:r>
              <a:rPr lang="en-GB" sz="1400" b="0">
                <a:latin typeface="Arial"/>
                <a:ea typeface="Arial"/>
                <a:cs typeface="Arial"/>
                <a:sym typeface="Arial"/>
              </a:rPr>
              <a:t>A LUT is computed using PQ codebooks and the reduced query. This speeds up distance calculations during search.</a:t>
            </a:r>
            <a:br>
              <a:rPr lang="en-GB" sz="1400" b="0">
                <a:latin typeface="Arial"/>
                <a:ea typeface="Arial"/>
                <a:cs typeface="Arial"/>
                <a:sym typeface="Arial"/>
              </a:rPr>
            </a:br>
            <a:endParaRPr sz="1400" b="0">
              <a:latin typeface="Arial"/>
              <a:ea typeface="Arial"/>
              <a:cs typeface="Arial"/>
              <a:sym typeface="Arial"/>
            </a:endParaRPr>
          </a:p>
          <a:p>
            <a:pPr marL="0" lvl="0" indent="0" algn="l" rtl="0">
              <a:lnSpc>
                <a:spcPct val="115000"/>
              </a:lnSpc>
              <a:spcBef>
                <a:spcPts val="1400"/>
              </a:spcBef>
              <a:spcAft>
                <a:spcPts val="0"/>
              </a:spcAft>
              <a:buNone/>
            </a:pPr>
            <a:r>
              <a:rPr lang="en-GB" sz="1400">
                <a:latin typeface="Arial"/>
                <a:ea typeface="Arial"/>
                <a:cs typeface="Arial"/>
                <a:sym typeface="Arial"/>
              </a:rPr>
              <a:t>3. Scan Selected Partitions:</a:t>
            </a:r>
            <a:endParaRPr sz="1400">
              <a:latin typeface="Arial"/>
              <a:ea typeface="Arial"/>
              <a:cs typeface="Arial"/>
              <a:sym typeface="Arial"/>
            </a:endParaRPr>
          </a:p>
          <a:p>
            <a:pPr marL="457200" lvl="0" indent="-317500" algn="l" rtl="0">
              <a:lnSpc>
                <a:spcPct val="115000"/>
              </a:lnSpc>
              <a:spcBef>
                <a:spcPts val="1200"/>
              </a:spcBef>
              <a:spcAft>
                <a:spcPts val="0"/>
              </a:spcAft>
              <a:buClr>
                <a:schemeClr val="lt1"/>
              </a:buClr>
              <a:buSzPts val="1400"/>
              <a:buFont typeface="Arial"/>
              <a:buChar char="●"/>
            </a:pPr>
            <a:r>
              <a:rPr lang="en-GB" sz="1400" b="0">
                <a:latin typeface="Arial"/>
                <a:ea typeface="Arial"/>
                <a:cs typeface="Arial"/>
                <a:sym typeface="Arial"/>
              </a:rPr>
              <a:t>IVF centroids identify the most relevant partitions (based on proximity to the query). Only those are scanned using PQ distance approximation from the LUT.</a:t>
            </a:r>
            <a:br>
              <a:rPr lang="en-GB" sz="1400" b="0">
                <a:latin typeface="Arial"/>
                <a:ea typeface="Arial"/>
                <a:cs typeface="Arial"/>
                <a:sym typeface="Arial"/>
              </a:rPr>
            </a:br>
            <a:endParaRPr sz="1400" b="0">
              <a:latin typeface="Arial"/>
              <a:ea typeface="Arial"/>
              <a:cs typeface="Arial"/>
              <a:sym typeface="Arial"/>
            </a:endParaRPr>
          </a:p>
          <a:p>
            <a:pPr marL="0" lvl="0" indent="0" algn="l" rtl="0">
              <a:lnSpc>
                <a:spcPct val="115000"/>
              </a:lnSpc>
              <a:spcBef>
                <a:spcPts val="1400"/>
              </a:spcBef>
              <a:spcAft>
                <a:spcPts val="0"/>
              </a:spcAft>
              <a:buNone/>
            </a:pPr>
            <a:r>
              <a:rPr lang="en-GB" sz="1400">
                <a:latin typeface="Arial"/>
                <a:ea typeface="Arial"/>
                <a:cs typeface="Arial"/>
                <a:sym typeface="Arial"/>
              </a:rPr>
              <a:t>4. Refine to TopK:</a:t>
            </a:r>
            <a:endParaRPr sz="1400">
              <a:latin typeface="Arial"/>
              <a:ea typeface="Arial"/>
              <a:cs typeface="Arial"/>
              <a:sym typeface="Arial"/>
            </a:endParaRPr>
          </a:p>
          <a:p>
            <a:pPr marL="457200" lvl="0" indent="-298450" algn="l" rtl="0">
              <a:lnSpc>
                <a:spcPct val="115000"/>
              </a:lnSpc>
              <a:spcBef>
                <a:spcPts val="1200"/>
              </a:spcBef>
              <a:spcAft>
                <a:spcPts val="0"/>
              </a:spcAft>
              <a:buClr>
                <a:schemeClr val="lt1"/>
              </a:buClr>
              <a:buSzPts val="1100"/>
              <a:buFont typeface="Arial"/>
              <a:buChar char="●"/>
            </a:pPr>
            <a:r>
              <a:rPr lang="en-GB" sz="1400" b="0">
                <a:latin typeface="Arial"/>
                <a:ea typeface="Arial"/>
                <a:cs typeface="Arial"/>
                <a:sym typeface="Arial"/>
              </a:rPr>
              <a:t>From the approximate matches, a shortlist is created. Then, </a:t>
            </a:r>
            <a:r>
              <a:rPr lang="en-GB" sz="1400">
                <a:latin typeface="Arial"/>
                <a:ea typeface="Arial"/>
                <a:cs typeface="Arial"/>
                <a:sym typeface="Arial"/>
              </a:rPr>
              <a:t>full vectors</a:t>
            </a:r>
            <a:r>
              <a:rPr lang="en-GB" sz="1400" b="0">
                <a:latin typeface="Arial"/>
                <a:ea typeface="Arial"/>
                <a:cs typeface="Arial"/>
                <a:sym typeface="Arial"/>
              </a:rPr>
              <a:t> are used to re-rank candidates using accurate distances to retrieve the final Top-K nearest neighbors.</a:t>
            </a:r>
            <a:br>
              <a:rPr lang="en-GB" sz="1300" b="0">
                <a:latin typeface="Arial"/>
                <a:ea typeface="Arial"/>
                <a:cs typeface="Arial"/>
                <a:sym typeface="Arial"/>
              </a:rPr>
            </a:br>
            <a:endParaRPr sz="1300" b="0">
              <a:latin typeface="Arial"/>
              <a:ea typeface="Arial"/>
              <a:cs typeface="Arial"/>
              <a:sym typeface="Arial"/>
            </a:endParaRPr>
          </a:p>
          <a:p>
            <a:pPr marL="0" lvl="0" indent="0" algn="l" rtl="0">
              <a:spcBef>
                <a:spcPts val="1200"/>
              </a:spcBef>
              <a:spcAft>
                <a:spcPts val="0"/>
              </a:spcAft>
              <a:buNone/>
            </a:pPr>
            <a:endParaRPr sz="1000">
              <a:latin typeface="Arial"/>
              <a:ea typeface="Arial"/>
              <a:cs typeface="Arial"/>
              <a:sym typeface="Arial"/>
            </a:endParaRPr>
          </a:p>
          <a:p>
            <a:pPr marL="0" lvl="0" indent="0" algn="l" rtl="0">
              <a:spcBef>
                <a:spcPts val="0"/>
              </a:spcBef>
              <a:spcAft>
                <a:spcPts val="0"/>
              </a:spcAft>
              <a:buNone/>
            </a:pPr>
            <a:endParaRPr sz="1000"/>
          </a:p>
        </p:txBody>
      </p:sp>
      <p:sp>
        <p:nvSpPr>
          <p:cNvPr id="349" name="Google Shape;349;p24"/>
          <p:cNvSpPr txBox="1">
            <a:spLocks noGrp="1"/>
          </p:cNvSpPr>
          <p:nvPr>
            <p:ph type="subTitle" idx="1"/>
          </p:nvPr>
        </p:nvSpPr>
        <p:spPr>
          <a:xfrm>
            <a:off x="2298175" y="-128050"/>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3000" b="1">
                <a:latin typeface="Times New Roman"/>
                <a:ea typeface="Times New Roman"/>
                <a:cs typeface="Times New Roman"/>
                <a:sym typeface="Times New Roman"/>
              </a:rPr>
              <a:t>Search Workflow</a:t>
            </a:r>
            <a:endParaRPr sz="3000" b="1">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25"/>
          <p:cNvSpPr txBox="1">
            <a:spLocks noGrp="1"/>
          </p:cNvSpPr>
          <p:nvPr>
            <p:ph type="ctrTitle"/>
          </p:nvPr>
        </p:nvSpPr>
        <p:spPr>
          <a:xfrm>
            <a:off x="0" y="1062525"/>
            <a:ext cx="9144000" cy="39840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400"/>
              </a:spcBef>
              <a:spcAft>
                <a:spcPts val="0"/>
              </a:spcAft>
              <a:buNone/>
            </a:pPr>
            <a:r>
              <a:rPr lang="en-GB" sz="1744">
                <a:latin typeface="Arial"/>
                <a:ea typeface="Arial"/>
                <a:cs typeface="Arial"/>
                <a:sym typeface="Arial"/>
              </a:rPr>
              <a:t>1. Reduce Dimension:</a:t>
            </a:r>
            <a:endParaRPr sz="1744">
              <a:latin typeface="Arial"/>
              <a:ea typeface="Arial"/>
              <a:cs typeface="Arial"/>
              <a:sym typeface="Arial"/>
            </a:endParaRPr>
          </a:p>
          <a:p>
            <a:pPr marL="457200" lvl="0" indent="-328294" algn="l" rtl="0">
              <a:lnSpc>
                <a:spcPct val="115000"/>
              </a:lnSpc>
              <a:spcBef>
                <a:spcPts val="1200"/>
              </a:spcBef>
              <a:spcAft>
                <a:spcPts val="0"/>
              </a:spcAft>
              <a:buClr>
                <a:schemeClr val="lt1"/>
              </a:buClr>
              <a:buSzPct val="100000"/>
              <a:buFont typeface="Arial"/>
              <a:buChar char="●"/>
            </a:pPr>
            <a:r>
              <a:rPr lang="en-GB" sz="1744" b="0">
                <a:latin typeface="Arial"/>
                <a:ea typeface="Arial"/>
                <a:cs typeface="Arial"/>
                <a:sym typeface="Arial"/>
              </a:rPr>
              <a:t>Similar to search, the new vector is first reduced in dimensionality.</a:t>
            </a:r>
            <a:br>
              <a:rPr lang="en-GB" sz="1744" b="0">
                <a:latin typeface="Arial"/>
                <a:ea typeface="Arial"/>
                <a:cs typeface="Arial"/>
                <a:sym typeface="Arial"/>
              </a:rPr>
            </a:br>
            <a:endParaRPr sz="1744" b="0">
              <a:latin typeface="Arial"/>
              <a:ea typeface="Arial"/>
              <a:cs typeface="Arial"/>
              <a:sym typeface="Arial"/>
            </a:endParaRPr>
          </a:p>
          <a:p>
            <a:pPr marL="0" lvl="0" indent="0" algn="l" rtl="0">
              <a:lnSpc>
                <a:spcPct val="115000"/>
              </a:lnSpc>
              <a:spcBef>
                <a:spcPts val="1400"/>
              </a:spcBef>
              <a:spcAft>
                <a:spcPts val="0"/>
              </a:spcAft>
              <a:buNone/>
            </a:pPr>
            <a:r>
              <a:rPr lang="en-GB" sz="1744">
                <a:latin typeface="Arial"/>
                <a:ea typeface="Arial"/>
                <a:cs typeface="Arial"/>
                <a:sym typeface="Arial"/>
              </a:rPr>
              <a:t>2. Quantize Vector:</a:t>
            </a:r>
            <a:endParaRPr sz="1744">
              <a:latin typeface="Arial"/>
              <a:ea typeface="Arial"/>
              <a:cs typeface="Arial"/>
              <a:sym typeface="Arial"/>
            </a:endParaRPr>
          </a:p>
          <a:p>
            <a:pPr marL="457200" lvl="0" indent="-328294" algn="l" rtl="0">
              <a:lnSpc>
                <a:spcPct val="115000"/>
              </a:lnSpc>
              <a:spcBef>
                <a:spcPts val="1200"/>
              </a:spcBef>
              <a:spcAft>
                <a:spcPts val="0"/>
              </a:spcAft>
              <a:buClr>
                <a:schemeClr val="lt1"/>
              </a:buClr>
              <a:buSzPct val="100000"/>
              <a:buFont typeface="Arial"/>
              <a:buChar char="●"/>
            </a:pPr>
            <a:r>
              <a:rPr lang="en-GB" sz="1744" b="0">
                <a:latin typeface="Arial"/>
                <a:ea typeface="Arial"/>
                <a:cs typeface="Arial"/>
                <a:sym typeface="Arial"/>
              </a:rPr>
              <a:t>The reduced vector is quantized using the PQ codebooks, creating a compressed representation.</a:t>
            </a:r>
            <a:br>
              <a:rPr lang="en-GB" sz="1744" b="0">
                <a:latin typeface="Arial"/>
                <a:ea typeface="Arial"/>
                <a:cs typeface="Arial"/>
                <a:sym typeface="Arial"/>
              </a:rPr>
            </a:br>
            <a:endParaRPr sz="1744" b="0">
              <a:latin typeface="Arial"/>
              <a:ea typeface="Arial"/>
              <a:cs typeface="Arial"/>
              <a:sym typeface="Arial"/>
            </a:endParaRPr>
          </a:p>
          <a:p>
            <a:pPr marL="0" lvl="0" indent="0" algn="l" rtl="0">
              <a:lnSpc>
                <a:spcPct val="115000"/>
              </a:lnSpc>
              <a:spcBef>
                <a:spcPts val="1400"/>
              </a:spcBef>
              <a:spcAft>
                <a:spcPts val="0"/>
              </a:spcAft>
              <a:buNone/>
            </a:pPr>
            <a:r>
              <a:rPr lang="en-GB" sz="1744">
                <a:latin typeface="Arial"/>
                <a:ea typeface="Arial"/>
                <a:cs typeface="Arial"/>
                <a:sym typeface="Arial"/>
              </a:rPr>
              <a:t>3. Append to Selected Partition and Full Vectors:</a:t>
            </a:r>
            <a:endParaRPr sz="1744">
              <a:latin typeface="Arial"/>
              <a:ea typeface="Arial"/>
              <a:cs typeface="Arial"/>
              <a:sym typeface="Arial"/>
            </a:endParaRPr>
          </a:p>
          <a:p>
            <a:pPr marL="457200" lvl="0" indent="-328294" algn="l" rtl="0">
              <a:lnSpc>
                <a:spcPct val="115000"/>
              </a:lnSpc>
              <a:spcBef>
                <a:spcPts val="1200"/>
              </a:spcBef>
              <a:spcAft>
                <a:spcPts val="0"/>
              </a:spcAft>
              <a:buClr>
                <a:schemeClr val="lt1"/>
              </a:buClr>
              <a:buSzPct val="100000"/>
              <a:buFont typeface="Arial"/>
              <a:buChar char="●"/>
            </a:pPr>
            <a:r>
              <a:rPr lang="en-GB" sz="1744" b="0">
                <a:latin typeface="Arial"/>
                <a:ea typeface="Arial"/>
                <a:cs typeface="Arial"/>
                <a:sym typeface="Arial"/>
              </a:rPr>
              <a:t>The compressed vector is assigned to the correct IVF partition and appended to the corresponding storage.</a:t>
            </a:r>
            <a:br>
              <a:rPr lang="en-GB" sz="1744" b="0">
                <a:latin typeface="Arial"/>
                <a:ea typeface="Arial"/>
                <a:cs typeface="Arial"/>
                <a:sym typeface="Arial"/>
              </a:rPr>
            </a:br>
            <a:endParaRPr sz="1744" b="0">
              <a:latin typeface="Arial"/>
              <a:ea typeface="Arial"/>
              <a:cs typeface="Arial"/>
              <a:sym typeface="Arial"/>
            </a:endParaRPr>
          </a:p>
          <a:p>
            <a:pPr marL="457200" lvl="0" indent="-315594" algn="l" rtl="0">
              <a:lnSpc>
                <a:spcPct val="115000"/>
              </a:lnSpc>
              <a:spcBef>
                <a:spcPts val="0"/>
              </a:spcBef>
              <a:spcAft>
                <a:spcPts val="0"/>
              </a:spcAft>
              <a:buClr>
                <a:schemeClr val="lt1"/>
              </a:buClr>
              <a:buSzPct val="87261"/>
              <a:buFont typeface="Arial"/>
              <a:buChar char="●"/>
            </a:pPr>
            <a:r>
              <a:rPr lang="en-GB" sz="1744" b="0">
                <a:latin typeface="Arial"/>
                <a:ea typeface="Arial"/>
                <a:cs typeface="Arial"/>
                <a:sym typeface="Arial"/>
              </a:rPr>
              <a:t>The </a:t>
            </a:r>
            <a:r>
              <a:rPr lang="en-GB" sz="1744">
                <a:latin typeface="Arial"/>
                <a:ea typeface="Arial"/>
                <a:cs typeface="Arial"/>
                <a:sym typeface="Arial"/>
              </a:rPr>
              <a:t>full version</a:t>
            </a:r>
            <a:r>
              <a:rPr lang="en-GB" sz="1744" b="0">
                <a:latin typeface="Arial"/>
                <a:ea typeface="Arial"/>
                <a:cs typeface="Arial"/>
                <a:sym typeface="Arial"/>
              </a:rPr>
              <a:t> of the vector is also stored for future refinement during search.</a:t>
            </a:r>
            <a:br>
              <a:rPr lang="en-GB" sz="1522" b="0">
                <a:latin typeface="Arial"/>
                <a:ea typeface="Arial"/>
                <a:cs typeface="Arial"/>
                <a:sym typeface="Arial"/>
              </a:rPr>
            </a:br>
            <a:endParaRPr sz="1522" b="0">
              <a:latin typeface="Arial"/>
              <a:ea typeface="Arial"/>
              <a:cs typeface="Arial"/>
              <a:sym typeface="Arial"/>
            </a:endParaRPr>
          </a:p>
          <a:p>
            <a:pPr marL="0" lvl="0" indent="0" algn="l" rtl="0">
              <a:spcBef>
                <a:spcPts val="1200"/>
              </a:spcBef>
              <a:spcAft>
                <a:spcPts val="0"/>
              </a:spcAft>
              <a:buNone/>
            </a:pPr>
            <a:endParaRPr sz="1050">
              <a:latin typeface="Arial"/>
              <a:ea typeface="Arial"/>
              <a:cs typeface="Arial"/>
              <a:sym typeface="Arial"/>
            </a:endParaRPr>
          </a:p>
          <a:p>
            <a:pPr marL="0" lvl="0" indent="0" algn="l" rtl="0">
              <a:spcBef>
                <a:spcPts val="0"/>
              </a:spcBef>
              <a:spcAft>
                <a:spcPts val="0"/>
              </a:spcAft>
              <a:buNone/>
            </a:pPr>
            <a:endParaRPr sz="1200"/>
          </a:p>
        </p:txBody>
      </p:sp>
      <p:sp>
        <p:nvSpPr>
          <p:cNvPr id="355" name="Google Shape;355;p25"/>
          <p:cNvSpPr txBox="1">
            <a:spLocks noGrp="1"/>
          </p:cNvSpPr>
          <p:nvPr>
            <p:ph type="subTitle" idx="1"/>
          </p:nvPr>
        </p:nvSpPr>
        <p:spPr>
          <a:xfrm>
            <a:off x="2670650" y="96400"/>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3000" b="1">
                <a:latin typeface="Times New Roman"/>
                <a:ea typeface="Times New Roman"/>
                <a:cs typeface="Times New Roman"/>
                <a:sym typeface="Times New Roman"/>
              </a:rPr>
              <a:t>Insert Workflow</a:t>
            </a:r>
            <a:endParaRPr sz="3000" b="1">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6"/>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
        <p:nvSpPr>
          <p:cNvPr id="361" name="Google Shape;361;p26"/>
          <p:cNvSpPr txBox="1">
            <a:spLocks noGrp="1"/>
          </p:cNvSpPr>
          <p:nvPr>
            <p:ph type="subTitle" idx="1"/>
          </p:nvPr>
        </p:nvSpPr>
        <p:spPr>
          <a:xfrm>
            <a:off x="2206575" y="164075"/>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400" b="1">
                <a:latin typeface="Times New Roman"/>
                <a:ea typeface="Times New Roman"/>
                <a:cs typeface="Times New Roman"/>
                <a:sym typeface="Times New Roman"/>
              </a:rPr>
              <a:t>End-to-end index construction</a:t>
            </a:r>
            <a:endParaRPr sz="2400" b="1">
              <a:latin typeface="Times New Roman"/>
              <a:ea typeface="Times New Roman"/>
              <a:cs typeface="Times New Roman"/>
              <a:sym typeface="Times New Roman"/>
            </a:endParaRPr>
          </a:p>
        </p:txBody>
      </p:sp>
      <p:pic>
        <p:nvPicPr>
          <p:cNvPr id="362" name="Google Shape;362;p26"/>
          <p:cNvPicPr preferRelativeResize="0"/>
          <p:nvPr/>
        </p:nvPicPr>
        <p:blipFill>
          <a:blip r:embed="rId3">
            <a:alphaModFix/>
          </a:blip>
          <a:stretch>
            <a:fillRect/>
          </a:stretch>
        </p:blipFill>
        <p:spPr>
          <a:xfrm>
            <a:off x="0" y="817975"/>
            <a:ext cx="9143999" cy="3816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7"/>
          <p:cNvSpPr txBox="1">
            <a:spLocks noGrp="1"/>
          </p:cNvSpPr>
          <p:nvPr>
            <p:ph type="ctrTitle"/>
          </p:nvPr>
        </p:nvSpPr>
        <p:spPr>
          <a:xfrm>
            <a:off x="0" y="1083000"/>
            <a:ext cx="9144000" cy="4060500"/>
          </a:xfrm>
          <a:prstGeom prst="rect">
            <a:avLst/>
          </a:prstGeom>
        </p:spPr>
        <p:txBody>
          <a:bodyPr spcFirstLastPara="1" wrap="square" lIns="91425" tIns="91425" rIns="91425" bIns="91425" anchor="ctr" anchorCtr="0">
            <a:noAutofit/>
          </a:bodyPr>
          <a:lstStyle/>
          <a:p>
            <a:pPr marL="0" lvl="0" indent="0" algn="l" rtl="0">
              <a:lnSpc>
                <a:spcPct val="115000"/>
              </a:lnSpc>
              <a:spcBef>
                <a:spcPts val="1400"/>
              </a:spcBef>
              <a:spcAft>
                <a:spcPts val="0"/>
              </a:spcAft>
              <a:buNone/>
            </a:pPr>
            <a:r>
              <a:rPr lang="en-GB" sz="1500">
                <a:latin typeface="Arial"/>
                <a:ea typeface="Arial"/>
                <a:cs typeface="Arial"/>
                <a:sym typeface="Arial"/>
              </a:rPr>
              <a:t>Step 1: Initialize Index Parameters</a:t>
            </a:r>
            <a:endParaRPr sz="1500">
              <a:latin typeface="Arial"/>
              <a:ea typeface="Arial"/>
              <a:cs typeface="Arial"/>
              <a:sym typeface="Arial"/>
            </a:endParaRPr>
          </a:p>
          <a:p>
            <a:pPr marL="457200" lvl="0" indent="-323850" algn="l" rtl="0">
              <a:lnSpc>
                <a:spcPct val="115000"/>
              </a:lnSpc>
              <a:spcBef>
                <a:spcPts val="1200"/>
              </a:spcBef>
              <a:spcAft>
                <a:spcPts val="0"/>
              </a:spcAft>
              <a:buClr>
                <a:schemeClr val="lt1"/>
              </a:buClr>
              <a:buSzPts val="1500"/>
              <a:buFont typeface="Arial"/>
              <a:buChar char="●"/>
            </a:pPr>
            <a:r>
              <a:rPr lang="en-GB" sz="1500">
                <a:latin typeface="Arial"/>
                <a:ea typeface="Arial"/>
                <a:cs typeface="Arial"/>
                <a:sym typeface="Arial"/>
              </a:rPr>
              <a:t>OPQ (Optimized Product Quantization)</a:t>
            </a:r>
            <a:r>
              <a:rPr lang="en-GB" sz="1500" b="0">
                <a:latin typeface="Arial"/>
                <a:ea typeface="Arial"/>
                <a:cs typeface="Arial"/>
                <a:sym typeface="Arial"/>
              </a:rPr>
              <a:t> and </a:t>
            </a:r>
            <a:r>
              <a:rPr lang="en-GB" sz="1500">
                <a:latin typeface="Arial"/>
                <a:ea typeface="Arial"/>
                <a:cs typeface="Arial"/>
                <a:sym typeface="Arial"/>
              </a:rPr>
              <a:t>k-means clustering</a:t>
            </a:r>
            <a:r>
              <a:rPr lang="en-GB" sz="1500" b="0">
                <a:latin typeface="Arial"/>
                <a:ea typeface="Arial"/>
                <a:cs typeface="Arial"/>
                <a:sym typeface="Arial"/>
              </a:rPr>
              <a:t> are initialized.</a:t>
            </a:r>
            <a:br>
              <a:rPr lang="en-GB" sz="1500" b="0">
                <a:latin typeface="Arial"/>
                <a:ea typeface="Arial"/>
                <a:cs typeface="Arial"/>
                <a:sym typeface="Arial"/>
              </a:rPr>
            </a:br>
            <a:endParaRPr sz="1500" b="0">
              <a:latin typeface="Arial"/>
              <a:ea typeface="Arial"/>
              <a:cs typeface="Arial"/>
              <a:sym typeface="Arial"/>
            </a:endParaRPr>
          </a:p>
          <a:p>
            <a:pPr marL="457200" lvl="0" indent="-323850" algn="l" rtl="0">
              <a:lnSpc>
                <a:spcPct val="115000"/>
              </a:lnSpc>
              <a:spcBef>
                <a:spcPts val="0"/>
              </a:spcBef>
              <a:spcAft>
                <a:spcPts val="0"/>
              </a:spcAft>
              <a:buClr>
                <a:schemeClr val="lt1"/>
              </a:buClr>
              <a:buSzPts val="1500"/>
              <a:buFont typeface="Arial"/>
              <a:buChar char="●"/>
            </a:pPr>
            <a:r>
              <a:rPr lang="en-GB" sz="1500" b="0">
                <a:latin typeface="Arial"/>
                <a:ea typeface="Arial"/>
                <a:cs typeface="Arial"/>
                <a:sym typeface="Arial"/>
              </a:rPr>
              <a:t>OPQ: Applies rotation and dimensional reordering for better compression.</a:t>
            </a:r>
            <a:br>
              <a:rPr lang="en-GB" sz="1500" b="0">
                <a:latin typeface="Arial"/>
                <a:ea typeface="Arial"/>
                <a:cs typeface="Arial"/>
                <a:sym typeface="Arial"/>
              </a:rPr>
            </a:br>
            <a:endParaRPr sz="1500" b="0">
              <a:latin typeface="Arial"/>
              <a:ea typeface="Arial"/>
              <a:cs typeface="Arial"/>
              <a:sym typeface="Arial"/>
            </a:endParaRPr>
          </a:p>
          <a:p>
            <a:pPr marL="457200" lvl="0" indent="-323850" algn="l" rtl="0">
              <a:lnSpc>
                <a:spcPct val="115000"/>
              </a:lnSpc>
              <a:spcBef>
                <a:spcPts val="0"/>
              </a:spcBef>
              <a:spcAft>
                <a:spcPts val="0"/>
              </a:spcAft>
              <a:buClr>
                <a:schemeClr val="lt1"/>
              </a:buClr>
              <a:buSzPts val="1500"/>
              <a:buFont typeface="Arial"/>
              <a:buChar char="●"/>
            </a:pPr>
            <a:r>
              <a:rPr lang="en-GB" sz="1500" b="0">
                <a:latin typeface="Arial"/>
                <a:ea typeface="Arial"/>
                <a:cs typeface="Arial"/>
                <a:sym typeface="Arial"/>
              </a:rPr>
              <a:t>k-means: Used to compute </a:t>
            </a:r>
            <a:r>
              <a:rPr lang="en-GB" sz="1500">
                <a:latin typeface="Arial"/>
                <a:ea typeface="Arial"/>
                <a:cs typeface="Arial"/>
                <a:sym typeface="Arial"/>
              </a:rPr>
              <a:t>IVF centroids</a:t>
            </a:r>
            <a:r>
              <a:rPr lang="en-GB" sz="1500" b="0">
                <a:latin typeface="Arial"/>
                <a:ea typeface="Arial"/>
                <a:cs typeface="Arial"/>
                <a:sym typeface="Arial"/>
              </a:rPr>
              <a:t> (coarse clusters) from raw data vectors.</a:t>
            </a:r>
            <a:br>
              <a:rPr lang="en-GB" sz="1500" b="0">
                <a:latin typeface="Arial"/>
                <a:ea typeface="Arial"/>
                <a:cs typeface="Arial"/>
                <a:sym typeface="Arial"/>
              </a:rPr>
            </a:br>
            <a:endParaRPr sz="1500" b="0">
              <a:latin typeface="Arial"/>
              <a:ea typeface="Arial"/>
              <a:cs typeface="Arial"/>
              <a:sym typeface="Arial"/>
            </a:endParaRPr>
          </a:p>
          <a:p>
            <a:pPr marL="0" lvl="0" indent="0" algn="l" rtl="0">
              <a:lnSpc>
                <a:spcPct val="115000"/>
              </a:lnSpc>
              <a:spcBef>
                <a:spcPts val="1400"/>
              </a:spcBef>
              <a:spcAft>
                <a:spcPts val="0"/>
              </a:spcAft>
              <a:buNone/>
            </a:pPr>
            <a:r>
              <a:rPr lang="en-GB" sz="1500">
                <a:latin typeface="Arial"/>
                <a:ea typeface="Arial"/>
                <a:cs typeface="Arial"/>
                <a:sym typeface="Arial"/>
              </a:rPr>
              <a:t>Step 2: Index the Dataset</a:t>
            </a:r>
            <a:endParaRPr sz="1500">
              <a:latin typeface="Arial"/>
              <a:ea typeface="Arial"/>
              <a:cs typeface="Arial"/>
              <a:sym typeface="Arial"/>
            </a:endParaRPr>
          </a:p>
          <a:p>
            <a:pPr marL="457200" lvl="0" indent="-323850" algn="l" rtl="0">
              <a:lnSpc>
                <a:spcPct val="115000"/>
              </a:lnSpc>
              <a:spcBef>
                <a:spcPts val="1200"/>
              </a:spcBef>
              <a:spcAft>
                <a:spcPts val="0"/>
              </a:spcAft>
              <a:buClr>
                <a:schemeClr val="lt1"/>
              </a:buClr>
              <a:buSzPts val="1500"/>
              <a:buFont typeface="Arial"/>
              <a:buChar char="●"/>
            </a:pPr>
            <a:r>
              <a:rPr lang="en-GB" sz="1500" b="0">
                <a:latin typeface="Arial"/>
                <a:ea typeface="Arial"/>
                <a:cs typeface="Arial"/>
                <a:sym typeface="Arial"/>
              </a:rPr>
              <a:t>The dataset is </a:t>
            </a:r>
            <a:r>
              <a:rPr lang="en-GB" sz="1500">
                <a:latin typeface="Arial"/>
                <a:ea typeface="Arial"/>
                <a:cs typeface="Arial"/>
                <a:sym typeface="Arial"/>
              </a:rPr>
              <a:t>clustered</a:t>
            </a:r>
            <a:r>
              <a:rPr lang="en-GB" sz="1500" b="0">
                <a:latin typeface="Arial"/>
                <a:ea typeface="Arial"/>
                <a:cs typeface="Arial"/>
                <a:sym typeface="Arial"/>
              </a:rPr>
              <a:t> into IVF cells (coarse centroids) using k-means.</a:t>
            </a:r>
            <a:br>
              <a:rPr lang="en-GB" sz="1500" b="0">
                <a:latin typeface="Arial"/>
                <a:ea typeface="Arial"/>
                <a:cs typeface="Arial"/>
                <a:sym typeface="Arial"/>
              </a:rPr>
            </a:br>
            <a:endParaRPr sz="1500" b="0">
              <a:latin typeface="Arial"/>
              <a:ea typeface="Arial"/>
              <a:cs typeface="Arial"/>
              <a:sym typeface="Arial"/>
            </a:endParaRPr>
          </a:p>
          <a:p>
            <a:pPr marL="457200" lvl="0" indent="-323850" algn="l" rtl="0">
              <a:lnSpc>
                <a:spcPct val="115000"/>
              </a:lnSpc>
              <a:spcBef>
                <a:spcPts val="0"/>
              </a:spcBef>
              <a:spcAft>
                <a:spcPts val="0"/>
              </a:spcAft>
              <a:buClr>
                <a:schemeClr val="lt1"/>
              </a:buClr>
              <a:buSzPts val="1500"/>
              <a:buFont typeface="Arial"/>
              <a:buChar char="●"/>
            </a:pPr>
            <a:r>
              <a:rPr lang="en-GB" sz="1500" b="0">
                <a:latin typeface="Arial"/>
                <a:ea typeface="Arial"/>
                <a:cs typeface="Arial"/>
                <a:sym typeface="Arial"/>
              </a:rPr>
              <a:t>Each vector is </a:t>
            </a:r>
            <a:r>
              <a:rPr lang="en-GB" sz="1500">
                <a:latin typeface="Arial"/>
                <a:ea typeface="Arial"/>
                <a:cs typeface="Arial"/>
                <a:sym typeface="Arial"/>
              </a:rPr>
              <a:t>assigned to the nearest centroid</a:t>
            </a:r>
            <a:r>
              <a:rPr lang="en-GB" sz="1500" b="0">
                <a:latin typeface="Arial"/>
                <a:ea typeface="Arial"/>
                <a:cs typeface="Arial"/>
                <a:sym typeface="Arial"/>
              </a:rPr>
              <a:t>.</a:t>
            </a:r>
            <a:br>
              <a:rPr lang="en-GB" sz="1500" b="0">
                <a:latin typeface="Arial"/>
                <a:ea typeface="Arial"/>
                <a:cs typeface="Arial"/>
                <a:sym typeface="Arial"/>
              </a:rPr>
            </a:br>
            <a:endParaRPr sz="1500" b="0">
              <a:latin typeface="Arial"/>
              <a:ea typeface="Arial"/>
              <a:cs typeface="Arial"/>
              <a:sym typeface="Arial"/>
            </a:endParaRPr>
          </a:p>
          <a:p>
            <a:pPr marL="457200" lvl="0" indent="-323850" algn="l" rtl="0">
              <a:lnSpc>
                <a:spcPct val="115000"/>
              </a:lnSpc>
              <a:spcBef>
                <a:spcPts val="0"/>
              </a:spcBef>
              <a:spcAft>
                <a:spcPts val="0"/>
              </a:spcAft>
              <a:buClr>
                <a:schemeClr val="lt1"/>
              </a:buClr>
              <a:buSzPts val="1500"/>
              <a:buFont typeface="Arial"/>
              <a:buChar char="●"/>
            </a:pPr>
            <a:r>
              <a:rPr lang="en-GB" sz="1500" b="0">
                <a:latin typeface="Arial"/>
                <a:ea typeface="Arial"/>
                <a:cs typeface="Arial"/>
                <a:sym typeface="Arial"/>
              </a:rPr>
              <a:t>Inside each cell, </a:t>
            </a:r>
            <a:r>
              <a:rPr lang="en-GB" sz="1500">
                <a:latin typeface="Arial"/>
                <a:ea typeface="Arial"/>
                <a:cs typeface="Arial"/>
                <a:sym typeface="Arial"/>
              </a:rPr>
              <a:t>PQ codebooks</a:t>
            </a:r>
            <a:r>
              <a:rPr lang="en-GB" sz="1500" b="0">
                <a:latin typeface="Arial"/>
                <a:ea typeface="Arial"/>
                <a:cs typeface="Arial"/>
                <a:sym typeface="Arial"/>
              </a:rPr>
              <a:t> (sub-vector quantizers) are created to compress and store data vectors.</a:t>
            </a:r>
            <a:endParaRPr sz="1500" b="0">
              <a:latin typeface="Arial"/>
              <a:ea typeface="Arial"/>
              <a:cs typeface="Arial"/>
              <a:sym typeface="Arial"/>
            </a:endParaRPr>
          </a:p>
          <a:p>
            <a:pPr marL="0" lvl="0" indent="0" algn="l" rtl="0">
              <a:spcBef>
                <a:spcPts val="1200"/>
              </a:spcBef>
              <a:spcAft>
                <a:spcPts val="0"/>
              </a:spcAft>
              <a:buNone/>
            </a:pPr>
            <a:endParaRPr sz="1000"/>
          </a:p>
        </p:txBody>
      </p:sp>
      <p:sp>
        <p:nvSpPr>
          <p:cNvPr id="368" name="Google Shape;368;p27"/>
          <p:cNvSpPr txBox="1">
            <a:spLocks noGrp="1"/>
          </p:cNvSpPr>
          <p:nvPr>
            <p:ph type="subTitle" idx="1"/>
          </p:nvPr>
        </p:nvSpPr>
        <p:spPr>
          <a:xfrm>
            <a:off x="2738325" y="222325"/>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3000" b="1">
                <a:latin typeface="Times New Roman"/>
                <a:ea typeface="Times New Roman"/>
                <a:cs typeface="Times New Roman"/>
                <a:sym typeface="Times New Roman"/>
              </a:rPr>
              <a:t>Build Base Index</a:t>
            </a:r>
            <a:endParaRPr sz="3000" b="1">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28"/>
          <p:cNvSpPr txBox="1">
            <a:spLocks noGrp="1"/>
          </p:cNvSpPr>
          <p:nvPr>
            <p:ph type="ctrTitle"/>
          </p:nvPr>
        </p:nvSpPr>
        <p:spPr>
          <a:xfrm>
            <a:off x="0" y="961025"/>
            <a:ext cx="9144000" cy="41826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200"/>
              </a:spcBef>
              <a:spcAft>
                <a:spcPts val="0"/>
              </a:spcAft>
              <a:buNone/>
            </a:pPr>
            <a:r>
              <a:rPr lang="en-GB" sz="1772">
                <a:latin typeface="Arial"/>
                <a:ea typeface="Arial"/>
                <a:cs typeface="Arial"/>
                <a:sym typeface="Arial"/>
              </a:rPr>
              <a:t>Step 3. Sample Data and Retrieve ANNs</a:t>
            </a:r>
            <a:endParaRPr sz="1772">
              <a:latin typeface="Arial"/>
              <a:ea typeface="Arial"/>
              <a:cs typeface="Arial"/>
              <a:sym typeface="Arial"/>
            </a:endParaRPr>
          </a:p>
          <a:p>
            <a:pPr marL="457200" lvl="0" indent="-329882" algn="l" rtl="0">
              <a:lnSpc>
                <a:spcPct val="115000"/>
              </a:lnSpc>
              <a:spcBef>
                <a:spcPts val="1200"/>
              </a:spcBef>
              <a:spcAft>
                <a:spcPts val="0"/>
              </a:spcAft>
              <a:buSzPct val="100000"/>
              <a:buFont typeface="Arial"/>
              <a:buChar char="●"/>
            </a:pPr>
            <a:r>
              <a:rPr lang="en-GB" sz="1772" b="0">
                <a:latin typeface="Arial"/>
                <a:ea typeface="Arial"/>
                <a:cs typeface="Arial"/>
                <a:sym typeface="Arial"/>
              </a:rPr>
              <a:t>A subset of the full dataset is randomly </a:t>
            </a:r>
            <a:r>
              <a:rPr lang="en-GB" sz="1772">
                <a:latin typeface="Arial"/>
                <a:ea typeface="Arial"/>
                <a:cs typeface="Arial"/>
                <a:sym typeface="Arial"/>
              </a:rPr>
              <a:t>sampled</a:t>
            </a:r>
            <a:r>
              <a:rPr lang="en-GB" sz="1772" b="0">
                <a:latin typeface="Arial"/>
                <a:ea typeface="Arial"/>
                <a:cs typeface="Arial"/>
                <a:sym typeface="Arial"/>
              </a:rPr>
              <a:t> to use as training data.</a:t>
            </a:r>
            <a:br>
              <a:rPr lang="en-GB" sz="1772" b="0">
                <a:latin typeface="Arial"/>
                <a:ea typeface="Arial"/>
                <a:cs typeface="Arial"/>
                <a:sym typeface="Arial"/>
              </a:rPr>
            </a:br>
            <a:endParaRPr sz="1772" b="0">
              <a:latin typeface="Arial"/>
              <a:ea typeface="Arial"/>
              <a:cs typeface="Arial"/>
              <a:sym typeface="Arial"/>
            </a:endParaRPr>
          </a:p>
          <a:p>
            <a:pPr marL="457200" lvl="0" indent="-329882" algn="l" rtl="0">
              <a:lnSpc>
                <a:spcPct val="115000"/>
              </a:lnSpc>
              <a:spcBef>
                <a:spcPts val="0"/>
              </a:spcBef>
              <a:spcAft>
                <a:spcPts val="0"/>
              </a:spcAft>
              <a:buSzPct val="100000"/>
              <a:buFont typeface="Arial"/>
              <a:buChar char="●"/>
            </a:pPr>
            <a:r>
              <a:rPr lang="en-GB" sz="1772" b="0">
                <a:latin typeface="Arial"/>
                <a:ea typeface="Arial"/>
                <a:cs typeface="Arial"/>
                <a:sym typeface="Arial"/>
              </a:rPr>
              <a:t>For each sampled vector, its </a:t>
            </a:r>
            <a:r>
              <a:rPr lang="en-GB" sz="1772">
                <a:latin typeface="Arial"/>
                <a:ea typeface="Arial"/>
                <a:cs typeface="Arial"/>
                <a:sym typeface="Arial"/>
              </a:rPr>
              <a:t>approximate nearest neighbors (ANNs)</a:t>
            </a:r>
            <a:r>
              <a:rPr lang="en-GB" sz="1772" b="0">
                <a:latin typeface="Arial"/>
                <a:ea typeface="Arial"/>
                <a:cs typeface="Arial"/>
                <a:sym typeface="Arial"/>
              </a:rPr>
              <a:t> are retrieved from the base index.</a:t>
            </a:r>
            <a:br>
              <a:rPr lang="en-GB" sz="1772" b="0">
                <a:latin typeface="Arial"/>
                <a:ea typeface="Arial"/>
                <a:cs typeface="Arial"/>
                <a:sym typeface="Arial"/>
              </a:rPr>
            </a:br>
            <a:endParaRPr sz="1772" b="0">
              <a:latin typeface="Arial"/>
              <a:ea typeface="Arial"/>
              <a:cs typeface="Arial"/>
              <a:sym typeface="Arial"/>
            </a:endParaRPr>
          </a:p>
          <a:p>
            <a:pPr marL="457200" lvl="0" indent="-329882" algn="l" rtl="0">
              <a:lnSpc>
                <a:spcPct val="115000"/>
              </a:lnSpc>
              <a:spcBef>
                <a:spcPts val="0"/>
              </a:spcBef>
              <a:spcAft>
                <a:spcPts val="0"/>
              </a:spcAft>
              <a:buSzPct val="100000"/>
              <a:buFont typeface="Arial"/>
              <a:buChar char="●"/>
            </a:pPr>
            <a:r>
              <a:rPr lang="en-GB" sz="1772" b="0">
                <a:latin typeface="Arial"/>
                <a:ea typeface="Arial"/>
                <a:cs typeface="Arial"/>
                <a:sym typeface="Arial"/>
              </a:rPr>
              <a:t>These ANNs serve as weak approximations of the true neighbors and act as targets for training.</a:t>
            </a:r>
            <a:br>
              <a:rPr lang="en-GB" sz="1772" b="0">
                <a:latin typeface="Arial"/>
                <a:ea typeface="Arial"/>
                <a:cs typeface="Arial"/>
                <a:sym typeface="Arial"/>
              </a:rPr>
            </a:br>
            <a:endParaRPr sz="1772" b="0">
              <a:latin typeface="Arial"/>
              <a:ea typeface="Arial"/>
              <a:cs typeface="Arial"/>
              <a:sym typeface="Arial"/>
            </a:endParaRPr>
          </a:p>
          <a:p>
            <a:pPr marL="457200" lvl="0" indent="-329882" algn="l" rtl="0">
              <a:lnSpc>
                <a:spcPct val="115000"/>
              </a:lnSpc>
              <a:spcBef>
                <a:spcPts val="0"/>
              </a:spcBef>
              <a:spcAft>
                <a:spcPts val="0"/>
              </a:spcAft>
              <a:buSzPct val="100000"/>
              <a:buFont typeface="Arial"/>
              <a:buChar char="●"/>
            </a:pPr>
            <a:r>
              <a:rPr lang="en-GB" sz="1772" b="0">
                <a:latin typeface="Arial"/>
                <a:ea typeface="Arial"/>
                <a:cs typeface="Arial"/>
                <a:sym typeface="Arial"/>
              </a:rPr>
              <a:t>Both the sampled vectors and their corresponding ANNs are stored for use in the training phase.</a:t>
            </a:r>
            <a:br>
              <a:rPr lang="en-GB" sz="1772" b="0">
                <a:latin typeface="Arial"/>
                <a:ea typeface="Arial"/>
                <a:cs typeface="Arial"/>
                <a:sym typeface="Arial"/>
              </a:rPr>
            </a:br>
            <a:endParaRPr sz="1772" b="0">
              <a:latin typeface="Arial"/>
              <a:ea typeface="Arial"/>
              <a:cs typeface="Arial"/>
              <a:sym typeface="Arial"/>
            </a:endParaRPr>
          </a:p>
          <a:p>
            <a:pPr marL="457200" lvl="0" indent="-329882" algn="l" rtl="0">
              <a:lnSpc>
                <a:spcPct val="115000"/>
              </a:lnSpc>
              <a:spcBef>
                <a:spcPts val="0"/>
              </a:spcBef>
              <a:spcAft>
                <a:spcPts val="0"/>
              </a:spcAft>
              <a:buSzPct val="100000"/>
              <a:buFont typeface="Arial"/>
              <a:buChar char="●"/>
            </a:pPr>
            <a:r>
              <a:rPr lang="en-GB" sz="1772" b="0">
                <a:latin typeface="Arial"/>
                <a:ea typeface="Arial"/>
                <a:cs typeface="Arial"/>
                <a:sym typeface="Arial"/>
              </a:rPr>
              <a:t>This pairing helps measure and minimize errors between real and compressed-space similarity distributions.</a:t>
            </a:r>
            <a:endParaRPr sz="1772" b="0">
              <a:latin typeface="Arial"/>
              <a:ea typeface="Arial"/>
              <a:cs typeface="Arial"/>
              <a:sym typeface="Arial"/>
            </a:endParaRPr>
          </a:p>
          <a:p>
            <a:pPr marL="0" lvl="0" indent="0" algn="l" rtl="0">
              <a:spcBef>
                <a:spcPts val="1200"/>
              </a:spcBef>
              <a:spcAft>
                <a:spcPts val="0"/>
              </a:spcAft>
              <a:buNone/>
            </a:pPr>
            <a:endParaRPr sz="1000"/>
          </a:p>
        </p:txBody>
      </p:sp>
      <p:sp>
        <p:nvSpPr>
          <p:cNvPr id="374" name="Google Shape;374;p28"/>
          <p:cNvSpPr txBox="1">
            <a:spLocks noGrp="1"/>
          </p:cNvSpPr>
          <p:nvPr>
            <p:ph type="subTitle" idx="1"/>
          </p:nvPr>
        </p:nvSpPr>
        <p:spPr>
          <a:xfrm>
            <a:off x="2573950" y="106075"/>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3000" b="1">
                <a:latin typeface="Times New Roman"/>
                <a:ea typeface="Times New Roman"/>
                <a:cs typeface="Times New Roman"/>
                <a:sym typeface="Times New Roman"/>
              </a:rPr>
              <a:t>Prepare Training Data</a:t>
            </a:r>
            <a:endParaRPr sz="3000" b="1">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29"/>
          <p:cNvSpPr txBox="1">
            <a:spLocks noGrp="1"/>
          </p:cNvSpPr>
          <p:nvPr>
            <p:ph type="ctrTitle"/>
          </p:nvPr>
        </p:nvSpPr>
        <p:spPr>
          <a:xfrm>
            <a:off x="70000" y="1488125"/>
            <a:ext cx="8256300" cy="3001800"/>
          </a:xfrm>
          <a:prstGeom prst="rect">
            <a:avLst/>
          </a:prstGeom>
        </p:spPr>
        <p:txBody>
          <a:bodyPr spcFirstLastPara="1" wrap="square" lIns="91425" tIns="91425" rIns="91425" bIns="91425" anchor="ctr" anchorCtr="0">
            <a:noAutofit/>
          </a:bodyPr>
          <a:lstStyle/>
          <a:p>
            <a:pPr marL="0" lvl="0" indent="0" algn="l" rtl="0">
              <a:lnSpc>
                <a:spcPct val="115000"/>
              </a:lnSpc>
              <a:spcBef>
                <a:spcPts val="1200"/>
              </a:spcBef>
              <a:spcAft>
                <a:spcPts val="0"/>
              </a:spcAft>
              <a:buNone/>
            </a:pPr>
            <a:r>
              <a:rPr lang="en-GB" sz="1600">
                <a:latin typeface="Arial"/>
                <a:ea typeface="Arial"/>
                <a:cs typeface="Arial"/>
                <a:sym typeface="Arial"/>
              </a:rPr>
              <a:t>Step 4. Train Dimension Reduction and Quantization Codebook</a:t>
            </a:r>
            <a:endParaRPr sz="1600">
              <a:latin typeface="Arial"/>
              <a:ea typeface="Arial"/>
              <a:cs typeface="Arial"/>
              <a:sym typeface="Arial"/>
            </a:endParaRPr>
          </a:p>
          <a:p>
            <a:pPr marL="457200" lvl="0" indent="-330200" algn="l" rtl="0">
              <a:lnSpc>
                <a:spcPct val="115000"/>
              </a:lnSpc>
              <a:spcBef>
                <a:spcPts val="1200"/>
              </a:spcBef>
              <a:spcAft>
                <a:spcPts val="0"/>
              </a:spcAft>
              <a:buSzPts val="1600"/>
              <a:buFont typeface="Arial"/>
              <a:buChar char="●"/>
            </a:pPr>
            <a:r>
              <a:rPr lang="en-GB" sz="1600" b="0">
                <a:latin typeface="Arial"/>
                <a:ea typeface="Arial"/>
                <a:cs typeface="Arial"/>
                <a:sym typeface="Arial"/>
              </a:rPr>
              <a:t>Apply optimization to learn a better OPQ matrix that improves downstream similarity accuracy.</a:t>
            </a:r>
            <a:br>
              <a:rPr lang="en-GB" sz="1600" b="0">
                <a:latin typeface="Arial"/>
                <a:ea typeface="Arial"/>
                <a:cs typeface="Arial"/>
                <a:sym typeface="Arial"/>
              </a:rPr>
            </a:br>
            <a:endParaRPr sz="1600" b="0">
              <a:latin typeface="Arial"/>
              <a:ea typeface="Arial"/>
              <a:cs typeface="Arial"/>
              <a:sym typeface="Arial"/>
            </a:endParaRPr>
          </a:p>
          <a:p>
            <a:pPr marL="457200" lvl="0" indent="-330200" algn="l" rtl="0">
              <a:lnSpc>
                <a:spcPct val="115000"/>
              </a:lnSpc>
              <a:spcBef>
                <a:spcPts val="0"/>
              </a:spcBef>
              <a:spcAft>
                <a:spcPts val="0"/>
              </a:spcAft>
              <a:buSzPts val="1600"/>
              <a:buFont typeface="Arial"/>
              <a:buChar char="●"/>
            </a:pPr>
            <a:r>
              <a:rPr lang="en-GB" sz="1600" b="0">
                <a:latin typeface="Arial"/>
                <a:ea typeface="Arial"/>
                <a:cs typeface="Arial"/>
                <a:sym typeface="Arial"/>
              </a:rPr>
              <a:t>Simultaneously train PQ codebooks to quantize the reduced vectors more effectively.</a:t>
            </a:r>
            <a:br>
              <a:rPr lang="en-GB" sz="1600" b="0">
                <a:latin typeface="Arial"/>
                <a:ea typeface="Arial"/>
                <a:cs typeface="Arial"/>
                <a:sym typeface="Arial"/>
              </a:rPr>
            </a:br>
            <a:endParaRPr sz="1600" b="0">
              <a:latin typeface="Arial"/>
              <a:ea typeface="Arial"/>
              <a:cs typeface="Arial"/>
              <a:sym typeface="Arial"/>
            </a:endParaRPr>
          </a:p>
          <a:p>
            <a:pPr marL="457200" lvl="0" indent="-330200" algn="l" rtl="0">
              <a:lnSpc>
                <a:spcPct val="115000"/>
              </a:lnSpc>
              <a:spcBef>
                <a:spcPts val="0"/>
              </a:spcBef>
              <a:spcAft>
                <a:spcPts val="0"/>
              </a:spcAft>
              <a:buSzPts val="1600"/>
              <a:buFont typeface="Arial"/>
              <a:buChar char="●"/>
            </a:pPr>
            <a:r>
              <a:rPr lang="en-GB" sz="1600" b="0">
                <a:latin typeface="Arial"/>
                <a:ea typeface="Arial"/>
                <a:cs typeface="Arial"/>
                <a:sym typeface="Arial"/>
              </a:rPr>
              <a:t>Calculate original similarity score using high-dimensional sampled data.</a:t>
            </a:r>
            <a:br>
              <a:rPr lang="en-GB" sz="1600" b="0">
                <a:latin typeface="Arial"/>
                <a:ea typeface="Arial"/>
                <a:cs typeface="Arial"/>
                <a:sym typeface="Arial"/>
              </a:rPr>
            </a:br>
            <a:endParaRPr sz="1600" b="0">
              <a:latin typeface="Arial"/>
              <a:ea typeface="Arial"/>
              <a:cs typeface="Arial"/>
              <a:sym typeface="Arial"/>
            </a:endParaRPr>
          </a:p>
          <a:p>
            <a:pPr marL="457200" lvl="0" indent="-330200" algn="l" rtl="0">
              <a:lnSpc>
                <a:spcPct val="115000"/>
              </a:lnSpc>
              <a:spcBef>
                <a:spcPts val="0"/>
              </a:spcBef>
              <a:spcAft>
                <a:spcPts val="0"/>
              </a:spcAft>
              <a:buSzPts val="1600"/>
              <a:buFont typeface="Arial"/>
              <a:buChar char="●"/>
            </a:pPr>
            <a:r>
              <a:rPr lang="en-GB" sz="1600" b="0">
                <a:latin typeface="Arial"/>
                <a:ea typeface="Arial"/>
                <a:cs typeface="Arial"/>
                <a:sym typeface="Arial"/>
              </a:rPr>
              <a:t>Compute reconstructed similarity score after dimension reduction and quantization.</a:t>
            </a:r>
            <a:br>
              <a:rPr lang="en-GB" sz="1600" b="0">
                <a:latin typeface="Arial"/>
                <a:ea typeface="Arial"/>
                <a:cs typeface="Arial"/>
                <a:sym typeface="Arial"/>
              </a:rPr>
            </a:br>
            <a:endParaRPr sz="1600" b="0">
              <a:latin typeface="Arial"/>
              <a:ea typeface="Arial"/>
              <a:cs typeface="Arial"/>
              <a:sym typeface="Arial"/>
            </a:endParaRPr>
          </a:p>
          <a:p>
            <a:pPr marL="457200" lvl="0" indent="-298450" algn="l" rtl="0">
              <a:lnSpc>
                <a:spcPct val="115000"/>
              </a:lnSpc>
              <a:spcBef>
                <a:spcPts val="0"/>
              </a:spcBef>
              <a:spcAft>
                <a:spcPts val="0"/>
              </a:spcAft>
              <a:buSzPts val="1100"/>
              <a:buFont typeface="Arial"/>
              <a:buChar char="●"/>
            </a:pPr>
            <a:r>
              <a:rPr lang="en-GB" sz="1600" b="0">
                <a:latin typeface="Arial"/>
                <a:ea typeface="Arial"/>
                <a:cs typeface="Arial"/>
                <a:sym typeface="Arial"/>
              </a:rPr>
              <a:t>Minimize the loss  i.e., the difference in similarity distributions between original and compressed spaces.</a:t>
            </a:r>
            <a:br>
              <a:rPr lang="en-GB" sz="1100" b="0">
                <a:latin typeface="Arial"/>
                <a:ea typeface="Arial"/>
                <a:cs typeface="Arial"/>
                <a:sym typeface="Arial"/>
              </a:rPr>
            </a:br>
            <a:endParaRPr sz="1100" b="0">
              <a:latin typeface="Arial"/>
              <a:ea typeface="Arial"/>
              <a:cs typeface="Arial"/>
              <a:sym typeface="Arial"/>
            </a:endParaRPr>
          </a:p>
          <a:p>
            <a:pPr marL="0" lvl="0" indent="0" algn="l" rtl="0">
              <a:spcBef>
                <a:spcPts val="1200"/>
              </a:spcBef>
              <a:spcAft>
                <a:spcPts val="0"/>
              </a:spcAft>
              <a:buNone/>
            </a:pPr>
            <a:endParaRPr sz="1000"/>
          </a:p>
        </p:txBody>
      </p:sp>
      <p:sp>
        <p:nvSpPr>
          <p:cNvPr id="380" name="Google Shape;380;p29"/>
          <p:cNvSpPr txBox="1">
            <a:spLocks noGrp="1"/>
          </p:cNvSpPr>
          <p:nvPr>
            <p:ph type="subTitle" idx="1"/>
          </p:nvPr>
        </p:nvSpPr>
        <p:spPr>
          <a:xfrm>
            <a:off x="1587525" y="48025"/>
            <a:ext cx="66711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latin typeface="Times New Roman"/>
                <a:ea typeface="Times New Roman"/>
                <a:cs typeface="Times New Roman"/>
                <a:sym typeface="Times New Roman"/>
              </a:rPr>
              <a:t>Learn Compression Parameters</a:t>
            </a:r>
            <a:endParaRPr sz="3000" b="1">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0"/>
          <p:cNvSpPr txBox="1">
            <a:spLocks noGrp="1"/>
          </p:cNvSpPr>
          <p:nvPr>
            <p:ph type="ctrTitle"/>
          </p:nvPr>
        </p:nvSpPr>
        <p:spPr>
          <a:xfrm>
            <a:off x="-100" y="898150"/>
            <a:ext cx="9144000" cy="41913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200"/>
              </a:spcBef>
              <a:spcAft>
                <a:spcPts val="0"/>
              </a:spcAft>
              <a:buNone/>
            </a:pPr>
            <a:r>
              <a:rPr lang="en-GB" sz="1822">
                <a:latin typeface="Arial"/>
                <a:ea typeface="Arial"/>
                <a:cs typeface="Arial"/>
                <a:sym typeface="Arial"/>
              </a:rPr>
              <a:t>Step 5. Use Training Data Original Assignment and Vectors After Learned Dimension Reduction</a:t>
            </a:r>
            <a:endParaRPr sz="1822">
              <a:latin typeface="Arial"/>
              <a:ea typeface="Arial"/>
              <a:cs typeface="Arial"/>
              <a:sym typeface="Arial"/>
            </a:endParaRPr>
          </a:p>
          <a:p>
            <a:pPr marL="457200" lvl="0" indent="-332739" algn="l" rtl="0">
              <a:lnSpc>
                <a:spcPct val="115000"/>
              </a:lnSpc>
              <a:spcBef>
                <a:spcPts val="1200"/>
              </a:spcBef>
              <a:spcAft>
                <a:spcPts val="0"/>
              </a:spcAft>
              <a:buSzPct val="100000"/>
              <a:buFont typeface="Arial"/>
              <a:buChar char="●"/>
            </a:pPr>
            <a:r>
              <a:rPr lang="en-GB" sz="1822" b="0">
                <a:latin typeface="Arial"/>
                <a:ea typeface="Arial"/>
                <a:cs typeface="Arial"/>
                <a:sym typeface="Arial"/>
              </a:rPr>
              <a:t>Apply the learned OPQ transformation to the training vectors.</a:t>
            </a:r>
            <a:br>
              <a:rPr lang="en-GB" sz="1822" b="0">
                <a:latin typeface="Arial"/>
                <a:ea typeface="Arial"/>
                <a:cs typeface="Arial"/>
                <a:sym typeface="Arial"/>
              </a:rPr>
            </a:br>
            <a:endParaRPr sz="1822" b="0">
              <a:latin typeface="Arial"/>
              <a:ea typeface="Arial"/>
              <a:cs typeface="Arial"/>
              <a:sym typeface="Arial"/>
            </a:endParaRPr>
          </a:p>
          <a:p>
            <a:pPr marL="457200" lvl="0" indent="-332739" algn="l" rtl="0">
              <a:lnSpc>
                <a:spcPct val="115000"/>
              </a:lnSpc>
              <a:spcBef>
                <a:spcPts val="0"/>
              </a:spcBef>
              <a:spcAft>
                <a:spcPts val="0"/>
              </a:spcAft>
              <a:buSzPct val="100000"/>
              <a:buFont typeface="Arial"/>
              <a:buChar char="●"/>
            </a:pPr>
            <a:r>
              <a:rPr lang="en-GB" sz="1822" b="0">
                <a:latin typeface="Arial"/>
                <a:ea typeface="Arial"/>
                <a:cs typeface="Arial"/>
                <a:sym typeface="Arial"/>
              </a:rPr>
              <a:t>Reassign vectors to IVF cells in this newly reduced-dimensional space.</a:t>
            </a:r>
            <a:br>
              <a:rPr lang="en-GB" sz="1822" b="0">
                <a:latin typeface="Arial"/>
                <a:ea typeface="Arial"/>
                <a:cs typeface="Arial"/>
                <a:sym typeface="Arial"/>
              </a:rPr>
            </a:br>
            <a:endParaRPr sz="1822" b="0">
              <a:latin typeface="Arial"/>
              <a:ea typeface="Arial"/>
              <a:cs typeface="Arial"/>
              <a:sym typeface="Arial"/>
            </a:endParaRPr>
          </a:p>
          <a:p>
            <a:pPr marL="457200" lvl="0" indent="-332739" algn="l" rtl="0">
              <a:lnSpc>
                <a:spcPct val="115000"/>
              </a:lnSpc>
              <a:spcBef>
                <a:spcPts val="0"/>
              </a:spcBef>
              <a:spcAft>
                <a:spcPts val="0"/>
              </a:spcAft>
              <a:buSzPct val="100000"/>
              <a:buFont typeface="Arial"/>
              <a:buChar char="●"/>
            </a:pPr>
            <a:r>
              <a:rPr lang="en-GB" sz="1822" b="0">
                <a:latin typeface="Arial"/>
                <a:ea typeface="Arial"/>
                <a:cs typeface="Arial"/>
                <a:sym typeface="Arial"/>
              </a:rPr>
              <a:t>Recalculate the IVF centroids using these reassigned vectors.</a:t>
            </a:r>
            <a:br>
              <a:rPr lang="en-GB" sz="1822" b="0">
                <a:latin typeface="Arial"/>
                <a:ea typeface="Arial"/>
                <a:cs typeface="Arial"/>
                <a:sym typeface="Arial"/>
              </a:rPr>
            </a:br>
            <a:endParaRPr sz="1822" b="0">
              <a:latin typeface="Arial"/>
              <a:ea typeface="Arial"/>
              <a:cs typeface="Arial"/>
              <a:sym typeface="Arial"/>
            </a:endParaRPr>
          </a:p>
          <a:p>
            <a:pPr marL="457200" lvl="0" indent="-332739" algn="l" rtl="0">
              <a:lnSpc>
                <a:spcPct val="115000"/>
              </a:lnSpc>
              <a:spcBef>
                <a:spcPts val="0"/>
              </a:spcBef>
              <a:spcAft>
                <a:spcPts val="0"/>
              </a:spcAft>
              <a:buSzPct val="100000"/>
              <a:buFont typeface="Arial"/>
              <a:buChar char="●"/>
            </a:pPr>
            <a:r>
              <a:rPr lang="en-GB" sz="1822" b="0">
                <a:latin typeface="Arial"/>
                <a:ea typeface="Arial"/>
                <a:cs typeface="Arial"/>
                <a:sym typeface="Arial"/>
              </a:rPr>
              <a:t>This step improves the clustering quality and alignment with the compressed representation.</a:t>
            </a:r>
            <a:br>
              <a:rPr lang="en-GB" sz="1822" b="0">
                <a:latin typeface="Arial"/>
                <a:ea typeface="Arial"/>
                <a:cs typeface="Arial"/>
                <a:sym typeface="Arial"/>
              </a:rPr>
            </a:br>
            <a:endParaRPr sz="1822" b="0">
              <a:latin typeface="Arial"/>
              <a:ea typeface="Arial"/>
              <a:cs typeface="Arial"/>
              <a:sym typeface="Arial"/>
            </a:endParaRPr>
          </a:p>
          <a:p>
            <a:pPr marL="457200" lvl="0" indent="-302895" algn="l" rtl="0">
              <a:lnSpc>
                <a:spcPct val="115000"/>
              </a:lnSpc>
              <a:spcBef>
                <a:spcPts val="0"/>
              </a:spcBef>
              <a:spcAft>
                <a:spcPts val="0"/>
              </a:spcAft>
              <a:buClr>
                <a:srgbClr val="000000"/>
              </a:buClr>
              <a:buSzPct val="71341"/>
              <a:buFont typeface="Arial"/>
              <a:buChar char="●"/>
            </a:pPr>
            <a:r>
              <a:rPr lang="en-GB" sz="1822" b="0">
                <a:latin typeface="Arial"/>
                <a:ea typeface="Arial"/>
                <a:cs typeface="Arial"/>
                <a:sym typeface="Arial"/>
              </a:rPr>
              <a:t>These new centroids better reflect the updated structure of the data under learned compression.</a:t>
            </a:r>
            <a:br>
              <a:rPr lang="en-GB" sz="1300" b="0">
                <a:solidFill>
                  <a:srgbClr val="000000"/>
                </a:solidFill>
                <a:latin typeface="Arial"/>
                <a:ea typeface="Arial"/>
                <a:cs typeface="Arial"/>
                <a:sym typeface="Arial"/>
              </a:rPr>
            </a:br>
            <a:endParaRPr sz="1300" b="0">
              <a:solidFill>
                <a:srgbClr val="000000"/>
              </a:solidFill>
              <a:latin typeface="Arial"/>
              <a:ea typeface="Arial"/>
              <a:cs typeface="Arial"/>
              <a:sym typeface="Arial"/>
            </a:endParaRPr>
          </a:p>
          <a:p>
            <a:pPr marL="0" lvl="0" indent="0" algn="l" rtl="0">
              <a:spcBef>
                <a:spcPts val="1200"/>
              </a:spcBef>
              <a:spcAft>
                <a:spcPts val="0"/>
              </a:spcAft>
              <a:buNone/>
            </a:pPr>
            <a:endParaRPr sz="1000"/>
          </a:p>
        </p:txBody>
      </p:sp>
      <p:sp>
        <p:nvSpPr>
          <p:cNvPr id="386" name="Google Shape;386;p30"/>
          <p:cNvSpPr txBox="1">
            <a:spLocks noGrp="1"/>
          </p:cNvSpPr>
          <p:nvPr>
            <p:ph type="subTitle" idx="1"/>
          </p:nvPr>
        </p:nvSpPr>
        <p:spPr>
          <a:xfrm>
            <a:off x="1877575" y="106050"/>
            <a:ext cx="52959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latin typeface="Times New Roman"/>
                <a:ea typeface="Times New Roman"/>
                <a:cs typeface="Times New Roman"/>
                <a:sym typeface="Times New Roman"/>
              </a:rPr>
              <a:t>Recalculate IVF Centroids</a:t>
            </a:r>
            <a:endParaRPr sz="3000" b="1">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31"/>
          <p:cNvSpPr txBox="1">
            <a:spLocks noGrp="1"/>
          </p:cNvSpPr>
          <p:nvPr>
            <p:ph type="ctrTitle"/>
          </p:nvPr>
        </p:nvSpPr>
        <p:spPr>
          <a:xfrm>
            <a:off x="0" y="1270400"/>
            <a:ext cx="8752500" cy="3664200"/>
          </a:xfrm>
          <a:prstGeom prst="rect">
            <a:avLst/>
          </a:prstGeom>
        </p:spPr>
        <p:txBody>
          <a:bodyPr spcFirstLastPara="1" wrap="square" lIns="91425" tIns="91425" rIns="91425" bIns="91425" anchor="ctr" anchorCtr="0">
            <a:normAutofit fontScale="90000"/>
          </a:bodyPr>
          <a:lstStyle/>
          <a:p>
            <a:pPr marL="0" lvl="0" indent="0" algn="l" rtl="0">
              <a:lnSpc>
                <a:spcPct val="115000"/>
              </a:lnSpc>
              <a:spcBef>
                <a:spcPts val="1200"/>
              </a:spcBef>
              <a:spcAft>
                <a:spcPts val="0"/>
              </a:spcAft>
              <a:buNone/>
            </a:pPr>
            <a:r>
              <a:rPr lang="en-GB" sz="1777">
                <a:latin typeface="Arial"/>
                <a:ea typeface="Arial"/>
                <a:cs typeface="Arial"/>
                <a:sym typeface="Arial"/>
              </a:rPr>
              <a:t>Step 6. Install Learned Parameters</a:t>
            </a:r>
            <a:endParaRPr sz="1777">
              <a:latin typeface="Arial"/>
              <a:ea typeface="Arial"/>
              <a:cs typeface="Arial"/>
              <a:sym typeface="Arial"/>
            </a:endParaRPr>
          </a:p>
          <a:p>
            <a:pPr marL="457200" lvl="0" indent="-330200" algn="l" rtl="0">
              <a:lnSpc>
                <a:spcPct val="115000"/>
              </a:lnSpc>
              <a:spcBef>
                <a:spcPts val="1200"/>
              </a:spcBef>
              <a:spcAft>
                <a:spcPts val="0"/>
              </a:spcAft>
              <a:buSzPct val="100000"/>
              <a:buFont typeface="Arial"/>
              <a:buChar char="●"/>
            </a:pPr>
            <a:r>
              <a:rPr lang="en-GB" sz="1777" b="0">
                <a:latin typeface="Arial"/>
                <a:ea typeface="Arial"/>
                <a:cs typeface="Arial"/>
                <a:sym typeface="Arial"/>
              </a:rPr>
              <a:t>Replace the initialized OPQ matrix in the base index with the learned OPQ matrix.</a:t>
            </a:r>
            <a:br>
              <a:rPr lang="en-GB" sz="1777" b="0">
                <a:latin typeface="Arial"/>
                <a:ea typeface="Arial"/>
                <a:cs typeface="Arial"/>
                <a:sym typeface="Arial"/>
              </a:rPr>
            </a:br>
            <a:endParaRPr sz="1777" b="0">
              <a:latin typeface="Arial"/>
              <a:ea typeface="Arial"/>
              <a:cs typeface="Arial"/>
              <a:sym typeface="Arial"/>
            </a:endParaRPr>
          </a:p>
          <a:p>
            <a:pPr marL="457200" lvl="0" indent="-330200" algn="l" rtl="0">
              <a:lnSpc>
                <a:spcPct val="115000"/>
              </a:lnSpc>
              <a:spcBef>
                <a:spcPts val="0"/>
              </a:spcBef>
              <a:spcAft>
                <a:spcPts val="0"/>
              </a:spcAft>
              <a:buSzPct val="100000"/>
              <a:buFont typeface="Arial"/>
              <a:buChar char="●"/>
            </a:pPr>
            <a:r>
              <a:rPr lang="en-GB" sz="1777" b="0">
                <a:latin typeface="Arial"/>
                <a:ea typeface="Arial"/>
                <a:cs typeface="Arial"/>
                <a:sym typeface="Arial"/>
              </a:rPr>
              <a:t>Swap in the learned IVF centroids to improve vector-to-cell assignment.</a:t>
            </a:r>
            <a:br>
              <a:rPr lang="en-GB" sz="1777" b="0">
                <a:latin typeface="Arial"/>
                <a:ea typeface="Arial"/>
                <a:cs typeface="Arial"/>
                <a:sym typeface="Arial"/>
              </a:rPr>
            </a:br>
            <a:endParaRPr sz="1777" b="0">
              <a:latin typeface="Arial"/>
              <a:ea typeface="Arial"/>
              <a:cs typeface="Arial"/>
              <a:sym typeface="Arial"/>
            </a:endParaRPr>
          </a:p>
          <a:p>
            <a:pPr marL="457200" lvl="0" indent="-330200" algn="l" rtl="0">
              <a:lnSpc>
                <a:spcPct val="115000"/>
              </a:lnSpc>
              <a:spcBef>
                <a:spcPts val="0"/>
              </a:spcBef>
              <a:spcAft>
                <a:spcPts val="0"/>
              </a:spcAft>
              <a:buSzPct val="100000"/>
              <a:buFont typeface="Arial"/>
              <a:buChar char="●"/>
            </a:pPr>
            <a:r>
              <a:rPr lang="en-GB" sz="1777" b="0">
                <a:latin typeface="Arial"/>
                <a:ea typeface="Arial"/>
                <a:cs typeface="Arial"/>
                <a:sym typeface="Arial"/>
              </a:rPr>
              <a:t>Update the PQ codebooks inside each IVF cell with the trained versions.</a:t>
            </a:r>
            <a:br>
              <a:rPr lang="en-GB" sz="1777" b="0">
                <a:latin typeface="Arial"/>
                <a:ea typeface="Arial"/>
                <a:cs typeface="Arial"/>
                <a:sym typeface="Arial"/>
              </a:rPr>
            </a:br>
            <a:endParaRPr sz="1777" b="0">
              <a:latin typeface="Arial"/>
              <a:ea typeface="Arial"/>
              <a:cs typeface="Arial"/>
              <a:sym typeface="Arial"/>
            </a:endParaRPr>
          </a:p>
          <a:p>
            <a:pPr marL="457200" lvl="0" indent="-330200" algn="l" rtl="0">
              <a:lnSpc>
                <a:spcPct val="115000"/>
              </a:lnSpc>
              <a:spcBef>
                <a:spcPts val="0"/>
              </a:spcBef>
              <a:spcAft>
                <a:spcPts val="0"/>
              </a:spcAft>
              <a:buSzPct val="100000"/>
              <a:buFont typeface="Arial"/>
              <a:buChar char="●"/>
            </a:pPr>
            <a:r>
              <a:rPr lang="en-GB" sz="1777" b="0">
                <a:latin typeface="Arial"/>
                <a:ea typeface="Arial"/>
                <a:cs typeface="Arial"/>
                <a:sym typeface="Arial"/>
              </a:rPr>
              <a:t>No need to rebuild the entire index—existing structure is reused, minimizing compute cost.</a:t>
            </a:r>
            <a:br>
              <a:rPr lang="en-GB" sz="1777" b="0">
                <a:latin typeface="Arial"/>
                <a:ea typeface="Arial"/>
                <a:cs typeface="Arial"/>
                <a:sym typeface="Arial"/>
              </a:rPr>
            </a:br>
            <a:endParaRPr sz="1777" b="0">
              <a:latin typeface="Arial"/>
              <a:ea typeface="Arial"/>
              <a:cs typeface="Arial"/>
              <a:sym typeface="Arial"/>
            </a:endParaRPr>
          </a:p>
          <a:p>
            <a:pPr marL="457200" lvl="0" indent="-330200" algn="l" rtl="0">
              <a:lnSpc>
                <a:spcPct val="115000"/>
              </a:lnSpc>
              <a:spcBef>
                <a:spcPts val="0"/>
              </a:spcBef>
              <a:spcAft>
                <a:spcPts val="0"/>
              </a:spcAft>
              <a:buSzPct val="100000"/>
              <a:buFont typeface="Arial"/>
              <a:buChar char="●"/>
            </a:pPr>
            <a:r>
              <a:rPr lang="en-GB" sz="1777" b="0">
                <a:latin typeface="Arial"/>
                <a:ea typeface="Arial"/>
                <a:cs typeface="Arial"/>
                <a:sym typeface="Arial"/>
              </a:rPr>
              <a:t>The result is the final HAKES-index, which offers better ANN accuracy without rebuilding from scratch.</a:t>
            </a:r>
            <a:br>
              <a:rPr lang="en-GB" sz="1777" b="0">
                <a:latin typeface="Arial"/>
                <a:ea typeface="Arial"/>
                <a:cs typeface="Arial"/>
                <a:sym typeface="Arial"/>
              </a:rPr>
            </a:br>
            <a:endParaRPr sz="1777" b="0">
              <a:latin typeface="Arial"/>
              <a:ea typeface="Arial"/>
              <a:cs typeface="Arial"/>
              <a:sym typeface="Arial"/>
            </a:endParaRPr>
          </a:p>
          <a:p>
            <a:pPr marL="0" lvl="0" indent="0" algn="l" rtl="0">
              <a:spcBef>
                <a:spcPts val="1200"/>
              </a:spcBef>
              <a:spcAft>
                <a:spcPts val="0"/>
              </a:spcAft>
              <a:buNone/>
            </a:pPr>
            <a:endParaRPr sz="1000"/>
          </a:p>
        </p:txBody>
      </p:sp>
      <p:sp>
        <p:nvSpPr>
          <p:cNvPr id="392" name="Google Shape;392;p31"/>
          <p:cNvSpPr txBox="1">
            <a:spLocks noGrp="1"/>
          </p:cNvSpPr>
          <p:nvPr>
            <p:ph type="subTitle" idx="1"/>
          </p:nvPr>
        </p:nvSpPr>
        <p:spPr>
          <a:xfrm>
            <a:off x="2612575" y="77075"/>
            <a:ext cx="42555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3000" b="1">
                <a:latin typeface="Times New Roman"/>
                <a:ea typeface="Times New Roman"/>
                <a:cs typeface="Times New Roman"/>
                <a:sym typeface="Times New Roman"/>
              </a:rPr>
              <a:t>Update Index</a:t>
            </a:r>
            <a:endParaRPr sz="3000" b="1">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endParaRPr/>
          </a:p>
        </p:txBody>
      </p:sp>
      <p:sp>
        <p:nvSpPr>
          <p:cNvPr id="398" name="Google Shape;398;p32"/>
          <p:cNvSpPr txBox="1">
            <a:spLocks noGrp="1"/>
          </p:cNvSpPr>
          <p:nvPr>
            <p:ph type="subTitle" idx="1"/>
          </p:nvPr>
        </p:nvSpPr>
        <p:spPr>
          <a:xfrm>
            <a:off x="-41700" y="90250"/>
            <a:ext cx="92274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latin typeface="Times New Roman"/>
                <a:ea typeface="Times New Roman"/>
                <a:cs typeface="Times New Roman"/>
                <a:sym typeface="Times New Roman"/>
              </a:rPr>
              <a:t>Different architectures of distributed vector databases</a:t>
            </a:r>
            <a:endParaRPr sz="3000" b="1">
              <a:latin typeface="Times New Roman"/>
              <a:ea typeface="Times New Roman"/>
              <a:cs typeface="Times New Roman"/>
              <a:sym typeface="Times New Roman"/>
            </a:endParaRPr>
          </a:p>
        </p:txBody>
      </p:sp>
      <p:pic>
        <p:nvPicPr>
          <p:cNvPr id="399" name="Google Shape;399;p32"/>
          <p:cNvPicPr preferRelativeResize="0"/>
          <p:nvPr/>
        </p:nvPicPr>
        <p:blipFill>
          <a:blip r:embed="rId3">
            <a:alphaModFix/>
          </a:blip>
          <a:stretch>
            <a:fillRect/>
          </a:stretch>
        </p:blipFill>
        <p:spPr>
          <a:xfrm>
            <a:off x="279700" y="737525"/>
            <a:ext cx="8369749" cy="41883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33"/>
          <p:cNvSpPr txBox="1">
            <a:spLocks noGrp="1"/>
          </p:cNvSpPr>
          <p:nvPr>
            <p:ph type="ctrTitle"/>
          </p:nvPr>
        </p:nvSpPr>
        <p:spPr>
          <a:xfrm>
            <a:off x="0" y="1024800"/>
            <a:ext cx="9144000" cy="4118700"/>
          </a:xfrm>
          <a:prstGeom prst="rect">
            <a:avLst/>
          </a:prstGeom>
        </p:spPr>
        <p:txBody>
          <a:bodyPr spcFirstLastPara="1" wrap="square" lIns="91425" tIns="91425" rIns="91425" bIns="91425" anchor="ctr" anchorCtr="0">
            <a:normAutofit/>
          </a:bodyPr>
          <a:lstStyle/>
          <a:p>
            <a:pPr marL="457200" lvl="0" indent="-336550" algn="l" rtl="0">
              <a:lnSpc>
                <a:spcPct val="115000"/>
              </a:lnSpc>
              <a:spcBef>
                <a:spcPts val="1200"/>
              </a:spcBef>
              <a:spcAft>
                <a:spcPts val="0"/>
              </a:spcAft>
              <a:buSzPts val="1700"/>
              <a:buFont typeface="Arial"/>
              <a:buChar char="●"/>
            </a:pPr>
            <a:r>
              <a:rPr lang="en-GB" sz="1700" b="0">
                <a:latin typeface="Arial"/>
                <a:ea typeface="Arial"/>
                <a:cs typeface="Arial"/>
                <a:sym typeface="Arial"/>
              </a:rPr>
              <a:t>Each server hosts only one read-write (rw) shard that contains both the vectors and index.</a:t>
            </a:r>
            <a:br>
              <a:rPr lang="en-GB" sz="1700" b="0">
                <a:latin typeface="Arial"/>
                <a:ea typeface="Arial"/>
                <a:cs typeface="Arial"/>
                <a:sym typeface="Arial"/>
              </a:rPr>
            </a:br>
            <a:endParaRPr sz="1700" b="0">
              <a:latin typeface="Arial"/>
              <a:ea typeface="Arial"/>
              <a:cs typeface="Arial"/>
              <a:sym typeface="Arial"/>
            </a:endParaRPr>
          </a:p>
          <a:p>
            <a:pPr marL="457200" lvl="0" indent="-336550" algn="l" rtl="0">
              <a:lnSpc>
                <a:spcPct val="115000"/>
              </a:lnSpc>
              <a:spcBef>
                <a:spcPts val="0"/>
              </a:spcBef>
              <a:spcAft>
                <a:spcPts val="0"/>
              </a:spcAft>
              <a:buSzPts val="1700"/>
              <a:buFont typeface="Arial"/>
              <a:buChar char="●"/>
            </a:pPr>
            <a:r>
              <a:rPr lang="en-GB" sz="1700" b="0">
                <a:latin typeface="Arial"/>
                <a:ea typeface="Arial"/>
                <a:cs typeface="Arial"/>
                <a:sym typeface="Arial"/>
              </a:rPr>
              <a:t>Both read (R) and write (W) operations are directed to the same rw-shard on the node.</a:t>
            </a:r>
            <a:br>
              <a:rPr lang="en-GB" sz="1700" b="0">
                <a:latin typeface="Arial"/>
                <a:ea typeface="Arial"/>
                <a:cs typeface="Arial"/>
                <a:sym typeface="Arial"/>
              </a:rPr>
            </a:br>
            <a:endParaRPr sz="1700" b="0">
              <a:latin typeface="Arial"/>
              <a:ea typeface="Arial"/>
              <a:cs typeface="Arial"/>
              <a:sym typeface="Arial"/>
            </a:endParaRPr>
          </a:p>
          <a:p>
            <a:pPr marL="457200" lvl="0" indent="-336550" algn="l" rtl="0">
              <a:lnSpc>
                <a:spcPct val="115000"/>
              </a:lnSpc>
              <a:spcBef>
                <a:spcPts val="0"/>
              </a:spcBef>
              <a:spcAft>
                <a:spcPts val="0"/>
              </a:spcAft>
              <a:buSzPts val="1700"/>
              <a:buFont typeface="Arial"/>
              <a:buChar char="●"/>
            </a:pPr>
            <a:r>
              <a:rPr lang="en-GB" sz="1700" b="0">
                <a:latin typeface="Arial"/>
                <a:ea typeface="Arial"/>
                <a:cs typeface="Arial"/>
                <a:sym typeface="Arial"/>
              </a:rPr>
              <a:t>No shard sharing or redundancy exists—each node is self-contained.</a:t>
            </a:r>
            <a:br>
              <a:rPr lang="en-GB" sz="1700" b="0">
                <a:latin typeface="Arial"/>
                <a:ea typeface="Arial"/>
                <a:cs typeface="Arial"/>
                <a:sym typeface="Arial"/>
              </a:rPr>
            </a:br>
            <a:endParaRPr sz="1700" b="0">
              <a:latin typeface="Arial"/>
              <a:ea typeface="Arial"/>
              <a:cs typeface="Arial"/>
              <a:sym typeface="Arial"/>
            </a:endParaRPr>
          </a:p>
          <a:p>
            <a:pPr marL="457200" lvl="0" indent="-336550" algn="l" rtl="0">
              <a:lnSpc>
                <a:spcPct val="115000"/>
              </a:lnSpc>
              <a:spcBef>
                <a:spcPts val="0"/>
              </a:spcBef>
              <a:spcAft>
                <a:spcPts val="0"/>
              </a:spcAft>
              <a:buSzPts val="1700"/>
              <a:buFont typeface="Arial"/>
              <a:buChar char="●"/>
            </a:pPr>
            <a:r>
              <a:rPr lang="en-GB" sz="1700" b="0">
                <a:latin typeface="Arial"/>
                <a:ea typeface="Arial"/>
                <a:cs typeface="Arial"/>
                <a:sym typeface="Arial"/>
              </a:rPr>
              <a:t>Simple design, but limits query parallelism and load balancing, since reads and writes compete on the same resource.</a:t>
            </a:r>
            <a:br>
              <a:rPr lang="en-GB" sz="1700" b="0">
                <a:latin typeface="Arial"/>
                <a:ea typeface="Arial"/>
                <a:cs typeface="Arial"/>
                <a:sym typeface="Arial"/>
              </a:rPr>
            </a:br>
            <a:endParaRPr sz="1700" b="0">
              <a:latin typeface="Arial"/>
              <a:ea typeface="Arial"/>
              <a:cs typeface="Arial"/>
              <a:sym typeface="Arial"/>
            </a:endParaRPr>
          </a:p>
          <a:p>
            <a:pPr marL="457200" lvl="0" indent="-298450" algn="l" rtl="0">
              <a:lnSpc>
                <a:spcPct val="115000"/>
              </a:lnSpc>
              <a:spcBef>
                <a:spcPts val="0"/>
              </a:spcBef>
              <a:spcAft>
                <a:spcPts val="0"/>
              </a:spcAft>
              <a:buSzPts val="1100"/>
              <a:buFont typeface="Arial"/>
              <a:buChar char="●"/>
            </a:pPr>
            <a:r>
              <a:rPr lang="en-GB" sz="1700" b="0">
                <a:latin typeface="Arial"/>
                <a:ea typeface="Arial"/>
                <a:cs typeface="Arial"/>
                <a:sym typeface="Arial"/>
              </a:rPr>
              <a:t>Poor resource utilization in high-read scenarios due to lack of read-only replicas.</a:t>
            </a:r>
            <a:br>
              <a:rPr lang="en-GB" sz="1100" b="0">
                <a:latin typeface="Arial"/>
                <a:ea typeface="Arial"/>
                <a:cs typeface="Arial"/>
                <a:sym typeface="Arial"/>
              </a:rPr>
            </a:br>
            <a:endParaRPr sz="1100" b="0">
              <a:latin typeface="Arial"/>
              <a:ea typeface="Arial"/>
              <a:cs typeface="Arial"/>
              <a:sym typeface="Arial"/>
            </a:endParaRPr>
          </a:p>
          <a:p>
            <a:pPr marL="0" lvl="0" indent="0" algn="l" rtl="0">
              <a:spcBef>
                <a:spcPts val="1200"/>
              </a:spcBef>
              <a:spcAft>
                <a:spcPts val="0"/>
              </a:spcAft>
              <a:buNone/>
            </a:pPr>
            <a:endParaRPr sz="1000">
              <a:latin typeface="Arial"/>
              <a:ea typeface="Arial"/>
              <a:cs typeface="Arial"/>
              <a:sym typeface="Arial"/>
            </a:endParaRPr>
          </a:p>
        </p:txBody>
      </p:sp>
      <p:sp>
        <p:nvSpPr>
          <p:cNvPr id="405" name="Google Shape;405;p33"/>
          <p:cNvSpPr txBox="1">
            <a:spLocks noGrp="1"/>
          </p:cNvSpPr>
          <p:nvPr>
            <p:ph type="subTitle" idx="1"/>
          </p:nvPr>
        </p:nvSpPr>
        <p:spPr>
          <a:xfrm>
            <a:off x="656900" y="244375"/>
            <a:ext cx="81678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000" b="1">
                <a:latin typeface="Times New Roman"/>
                <a:ea typeface="Times New Roman"/>
                <a:cs typeface="Times New Roman"/>
                <a:sym typeface="Times New Roman"/>
              </a:rPr>
              <a:t>(a) Design I: One RW Shard per Node</a:t>
            </a:r>
            <a:endParaRPr sz="3000" b="1">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4"/>
          <p:cNvSpPr txBox="1">
            <a:spLocks noGrp="1"/>
          </p:cNvSpPr>
          <p:nvPr>
            <p:ph type="ctrTitle"/>
          </p:nvPr>
        </p:nvSpPr>
        <p:spPr>
          <a:xfrm>
            <a:off x="-100" y="841850"/>
            <a:ext cx="9144000" cy="4301700"/>
          </a:xfrm>
          <a:prstGeom prst="rect">
            <a:avLst/>
          </a:prstGeom>
        </p:spPr>
        <p:txBody>
          <a:bodyPr spcFirstLastPara="1" wrap="square" lIns="91425" tIns="91425" rIns="91425" bIns="91425" anchor="ctr" anchorCtr="0">
            <a:noAutofit/>
          </a:bodyPr>
          <a:lstStyle/>
          <a:p>
            <a:pPr marL="457200" lvl="0" indent="-342900" algn="l" rtl="0">
              <a:spcBef>
                <a:spcPts val="0"/>
              </a:spcBef>
              <a:spcAft>
                <a:spcPts val="0"/>
              </a:spcAft>
              <a:buSzPts val="1800"/>
              <a:buFont typeface="Arial"/>
              <a:buChar char="●"/>
            </a:pPr>
            <a:r>
              <a:rPr lang="en-GB" sz="1800" b="0">
                <a:latin typeface="Arial"/>
                <a:ea typeface="Arial"/>
                <a:cs typeface="Arial"/>
                <a:sym typeface="Arial"/>
              </a:rPr>
              <a:t>Each node has one rw-shard and multiple ro-shards, improving read throughput.</a:t>
            </a:r>
            <a:br>
              <a:rPr lang="en-GB" sz="1800" b="0">
                <a:latin typeface="Arial"/>
                <a:ea typeface="Arial"/>
                <a:cs typeface="Arial"/>
                <a:sym typeface="Arial"/>
              </a:rPr>
            </a:br>
            <a:endParaRPr sz="1800" b="0">
              <a:latin typeface="Arial"/>
              <a:ea typeface="Arial"/>
              <a:cs typeface="Arial"/>
              <a:sym typeface="Arial"/>
            </a:endParaRPr>
          </a:p>
          <a:p>
            <a:pPr marL="457200" lvl="0" indent="-342900" algn="l" rtl="0">
              <a:spcBef>
                <a:spcPts val="0"/>
              </a:spcBef>
              <a:spcAft>
                <a:spcPts val="0"/>
              </a:spcAft>
              <a:buSzPts val="1800"/>
              <a:buFont typeface="Arial"/>
              <a:buChar char="●"/>
            </a:pPr>
            <a:r>
              <a:rPr lang="en-GB" sz="1800" b="0">
                <a:latin typeface="Arial"/>
                <a:ea typeface="Arial"/>
                <a:cs typeface="Arial"/>
                <a:sym typeface="Arial"/>
              </a:rPr>
              <a:t>Write operations go only to the rw-shard; read operations can hit any of the ro-shards.</a:t>
            </a:r>
            <a:br>
              <a:rPr lang="en-GB" sz="1800" b="0">
                <a:latin typeface="Arial"/>
                <a:ea typeface="Arial"/>
                <a:cs typeface="Arial"/>
                <a:sym typeface="Arial"/>
              </a:rPr>
            </a:br>
            <a:endParaRPr sz="1800" b="0">
              <a:latin typeface="Arial"/>
              <a:ea typeface="Arial"/>
              <a:cs typeface="Arial"/>
              <a:sym typeface="Arial"/>
            </a:endParaRPr>
          </a:p>
          <a:p>
            <a:pPr marL="457200" lvl="0" indent="-342900" algn="l" rtl="0">
              <a:spcBef>
                <a:spcPts val="0"/>
              </a:spcBef>
              <a:spcAft>
                <a:spcPts val="0"/>
              </a:spcAft>
              <a:buSzPts val="1800"/>
              <a:buFont typeface="Arial"/>
              <a:buChar char="●"/>
            </a:pPr>
            <a:r>
              <a:rPr lang="en-GB" sz="1800" b="0">
                <a:latin typeface="Arial"/>
                <a:ea typeface="Arial"/>
                <a:cs typeface="Arial"/>
                <a:sym typeface="Arial"/>
              </a:rPr>
              <a:t>RO shards are replicas of rw-shards, allowing read scalability and faster queries.</a:t>
            </a:r>
            <a:br>
              <a:rPr lang="en-GB" sz="1800" b="0">
                <a:latin typeface="Arial"/>
                <a:ea typeface="Arial"/>
                <a:cs typeface="Arial"/>
                <a:sym typeface="Arial"/>
              </a:rPr>
            </a:br>
            <a:endParaRPr sz="1800" b="0">
              <a:latin typeface="Arial"/>
              <a:ea typeface="Arial"/>
              <a:cs typeface="Arial"/>
              <a:sym typeface="Arial"/>
            </a:endParaRPr>
          </a:p>
          <a:p>
            <a:pPr marL="457200" lvl="0" indent="-342900" algn="l" rtl="0">
              <a:spcBef>
                <a:spcPts val="0"/>
              </a:spcBef>
              <a:spcAft>
                <a:spcPts val="0"/>
              </a:spcAft>
              <a:buSzPts val="1800"/>
              <a:buFont typeface="Arial"/>
              <a:buChar char="●"/>
            </a:pPr>
            <a:r>
              <a:rPr lang="en-GB" sz="1800" b="0">
                <a:latin typeface="Arial"/>
                <a:ea typeface="Arial"/>
                <a:cs typeface="Arial"/>
                <a:sym typeface="Arial"/>
              </a:rPr>
              <a:t>This approach improves query latency but increases replication overhead.</a:t>
            </a:r>
            <a:br>
              <a:rPr lang="en-GB" sz="1800" b="0">
                <a:latin typeface="Arial"/>
                <a:ea typeface="Arial"/>
                <a:cs typeface="Arial"/>
                <a:sym typeface="Arial"/>
              </a:rPr>
            </a:br>
            <a:endParaRPr sz="1800" b="0">
              <a:latin typeface="Arial"/>
              <a:ea typeface="Arial"/>
              <a:cs typeface="Arial"/>
              <a:sym typeface="Arial"/>
            </a:endParaRPr>
          </a:p>
          <a:p>
            <a:pPr marL="457200" lvl="0" indent="-342900" algn="l" rtl="0">
              <a:spcBef>
                <a:spcPts val="0"/>
              </a:spcBef>
              <a:spcAft>
                <a:spcPts val="0"/>
              </a:spcAft>
              <a:buSzPts val="1800"/>
              <a:buFont typeface="Arial"/>
              <a:buChar char="●"/>
            </a:pPr>
            <a:r>
              <a:rPr lang="en-GB" sz="1800" b="0">
                <a:latin typeface="Arial"/>
                <a:ea typeface="Arial"/>
                <a:cs typeface="Arial"/>
                <a:sym typeface="Arial"/>
              </a:rPr>
              <a:t>Updates must propagate from the rw-shard to all corresponding ro-shards, leading to synchronization complexity.</a:t>
            </a:r>
            <a:endParaRPr sz="1800" b="0">
              <a:latin typeface="Arial"/>
              <a:ea typeface="Arial"/>
              <a:cs typeface="Arial"/>
              <a:sym typeface="Arial"/>
            </a:endParaRPr>
          </a:p>
          <a:p>
            <a:pPr marL="0" lvl="0" indent="0" algn="l" rtl="0">
              <a:spcBef>
                <a:spcPts val="0"/>
              </a:spcBef>
              <a:spcAft>
                <a:spcPts val="0"/>
              </a:spcAft>
              <a:buNone/>
            </a:pPr>
            <a:endParaRPr sz="1000"/>
          </a:p>
        </p:txBody>
      </p:sp>
      <p:sp>
        <p:nvSpPr>
          <p:cNvPr id="411" name="Google Shape;411;p34"/>
          <p:cNvSpPr txBox="1">
            <a:spLocks noGrp="1"/>
          </p:cNvSpPr>
          <p:nvPr>
            <p:ph type="subTitle" idx="1"/>
          </p:nvPr>
        </p:nvSpPr>
        <p:spPr>
          <a:xfrm>
            <a:off x="0" y="61325"/>
            <a:ext cx="91440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3000">
                <a:latin typeface="Times New Roman"/>
                <a:ea typeface="Times New Roman"/>
                <a:cs typeface="Times New Roman"/>
                <a:sym typeface="Times New Roman"/>
              </a:rPr>
              <a:t>(b) </a:t>
            </a:r>
            <a:r>
              <a:rPr lang="en-GB" sz="3000" b="1">
                <a:latin typeface="Times New Roman"/>
                <a:ea typeface="Times New Roman"/>
                <a:cs typeface="Times New Roman"/>
                <a:sym typeface="Times New Roman"/>
              </a:rPr>
              <a:t>Design II: RW + Multiple RO Shards per Node</a:t>
            </a:r>
            <a:endParaRPr sz="3000" b="1">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35"/>
          <p:cNvSpPr txBox="1">
            <a:spLocks noGrp="1"/>
          </p:cNvSpPr>
          <p:nvPr>
            <p:ph type="ctrTitle"/>
          </p:nvPr>
        </p:nvSpPr>
        <p:spPr>
          <a:xfrm>
            <a:off x="0" y="861100"/>
            <a:ext cx="9144000" cy="4282500"/>
          </a:xfrm>
          <a:prstGeom prst="rect">
            <a:avLst/>
          </a:prstGeom>
        </p:spPr>
        <p:txBody>
          <a:bodyPr spcFirstLastPara="1" wrap="square" lIns="91425" tIns="91425" rIns="91425" bIns="91425" anchor="ctr" anchorCtr="0">
            <a:normAutofit fontScale="90000"/>
          </a:bodyPr>
          <a:lstStyle/>
          <a:p>
            <a:pPr marL="457200" lvl="0" indent="-337819" algn="l" rtl="0">
              <a:lnSpc>
                <a:spcPct val="115000"/>
              </a:lnSpc>
              <a:spcBef>
                <a:spcPts val="1200"/>
              </a:spcBef>
              <a:spcAft>
                <a:spcPts val="0"/>
              </a:spcAft>
              <a:buSzPct val="100000"/>
              <a:buFont typeface="Arial"/>
              <a:buChar char="●"/>
            </a:pPr>
            <a:r>
              <a:rPr lang="en-GB" sz="1911" b="0">
                <a:latin typeface="Arial"/>
                <a:ea typeface="Arial"/>
                <a:cs typeface="Arial"/>
                <a:sym typeface="Arial"/>
              </a:rPr>
              <a:t>Read-write and read-only shards are distributed across servers, not confined per node.</a:t>
            </a:r>
            <a:br>
              <a:rPr lang="en-GB" sz="1911" b="0">
                <a:latin typeface="Arial"/>
                <a:ea typeface="Arial"/>
                <a:cs typeface="Arial"/>
                <a:sym typeface="Arial"/>
              </a:rPr>
            </a:br>
            <a:endParaRPr sz="1911" b="0">
              <a:latin typeface="Arial"/>
              <a:ea typeface="Arial"/>
              <a:cs typeface="Arial"/>
              <a:sym typeface="Arial"/>
            </a:endParaRPr>
          </a:p>
          <a:p>
            <a:pPr marL="457200" lvl="0" indent="-337819" algn="l" rtl="0">
              <a:lnSpc>
                <a:spcPct val="115000"/>
              </a:lnSpc>
              <a:spcBef>
                <a:spcPts val="0"/>
              </a:spcBef>
              <a:spcAft>
                <a:spcPts val="0"/>
              </a:spcAft>
              <a:buSzPct val="100000"/>
              <a:buFont typeface="Arial"/>
              <a:buChar char="●"/>
            </a:pPr>
            <a:r>
              <a:rPr lang="en-GB" sz="1911" b="0">
                <a:latin typeface="Arial"/>
                <a:ea typeface="Arial"/>
                <a:cs typeface="Arial"/>
                <a:sym typeface="Arial"/>
              </a:rPr>
              <a:t>A server can host multiple shards of any type (rw or ro), improving load balancing.</a:t>
            </a:r>
            <a:br>
              <a:rPr lang="en-GB" sz="1911" b="0">
                <a:latin typeface="Arial"/>
                <a:ea typeface="Arial"/>
                <a:cs typeface="Arial"/>
                <a:sym typeface="Arial"/>
              </a:rPr>
            </a:br>
            <a:endParaRPr sz="1911" b="0">
              <a:latin typeface="Arial"/>
              <a:ea typeface="Arial"/>
              <a:cs typeface="Arial"/>
              <a:sym typeface="Arial"/>
            </a:endParaRPr>
          </a:p>
          <a:p>
            <a:pPr marL="457200" lvl="0" indent="-337819" algn="l" rtl="0">
              <a:lnSpc>
                <a:spcPct val="115000"/>
              </a:lnSpc>
              <a:spcBef>
                <a:spcPts val="0"/>
              </a:spcBef>
              <a:spcAft>
                <a:spcPts val="0"/>
              </a:spcAft>
              <a:buSzPct val="100000"/>
              <a:buFont typeface="Arial"/>
              <a:buChar char="●"/>
            </a:pPr>
            <a:r>
              <a:rPr lang="en-GB" sz="1911" b="0">
                <a:latin typeface="Arial"/>
                <a:ea typeface="Arial"/>
                <a:cs typeface="Arial"/>
                <a:sym typeface="Arial"/>
              </a:rPr>
              <a:t>Write and read requests are routed to different shards dynamically across nodes.</a:t>
            </a:r>
            <a:br>
              <a:rPr lang="en-GB" sz="1911" b="0">
                <a:latin typeface="Arial"/>
                <a:ea typeface="Arial"/>
                <a:cs typeface="Arial"/>
                <a:sym typeface="Arial"/>
              </a:rPr>
            </a:br>
            <a:endParaRPr sz="1911" b="0">
              <a:latin typeface="Arial"/>
              <a:ea typeface="Arial"/>
              <a:cs typeface="Arial"/>
              <a:sym typeface="Arial"/>
            </a:endParaRPr>
          </a:p>
          <a:p>
            <a:pPr marL="457200" lvl="0" indent="-337819" algn="l" rtl="0">
              <a:lnSpc>
                <a:spcPct val="115000"/>
              </a:lnSpc>
              <a:spcBef>
                <a:spcPts val="0"/>
              </a:spcBef>
              <a:spcAft>
                <a:spcPts val="0"/>
              </a:spcAft>
              <a:buSzPct val="100000"/>
              <a:buFont typeface="Arial"/>
              <a:buChar char="●"/>
            </a:pPr>
            <a:r>
              <a:rPr lang="en-GB" sz="1911" b="0">
                <a:latin typeface="Arial"/>
                <a:ea typeface="Arial"/>
                <a:cs typeface="Arial"/>
                <a:sym typeface="Arial"/>
              </a:rPr>
              <a:t>This design enables flexibility and resource efficiency, especially in heterogeneous environments.</a:t>
            </a:r>
            <a:br>
              <a:rPr lang="en-GB" sz="1911" b="0">
                <a:latin typeface="Arial"/>
                <a:ea typeface="Arial"/>
                <a:cs typeface="Arial"/>
                <a:sym typeface="Arial"/>
              </a:rPr>
            </a:br>
            <a:endParaRPr sz="1911" b="0">
              <a:latin typeface="Arial"/>
              <a:ea typeface="Arial"/>
              <a:cs typeface="Arial"/>
              <a:sym typeface="Arial"/>
            </a:endParaRPr>
          </a:p>
          <a:p>
            <a:pPr marL="457200" lvl="0" indent="-331470" algn="l" rtl="0">
              <a:lnSpc>
                <a:spcPct val="115000"/>
              </a:lnSpc>
              <a:spcBef>
                <a:spcPts val="0"/>
              </a:spcBef>
              <a:spcAft>
                <a:spcPts val="0"/>
              </a:spcAft>
              <a:buSzPct val="94186"/>
              <a:buFont typeface="Arial"/>
              <a:buChar char="●"/>
            </a:pPr>
            <a:r>
              <a:rPr lang="en-GB" sz="1911" b="0">
                <a:latin typeface="Arial"/>
                <a:ea typeface="Arial"/>
                <a:cs typeface="Arial"/>
                <a:sym typeface="Arial"/>
              </a:rPr>
              <a:t>However, it introduces index lookup overhead, as there’s no global coordination of data placement.</a:t>
            </a:r>
            <a:br>
              <a:rPr lang="en-GB" sz="1100" b="0">
                <a:solidFill>
                  <a:srgbClr val="000000"/>
                </a:solidFill>
                <a:latin typeface="Arial"/>
                <a:ea typeface="Arial"/>
                <a:cs typeface="Arial"/>
                <a:sym typeface="Arial"/>
              </a:rPr>
            </a:br>
            <a:endParaRPr sz="1100" b="0">
              <a:solidFill>
                <a:srgbClr val="000000"/>
              </a:solidFill>
              <a:latin typeface="Arial"/>
              <a:ea typeface="Arial"/>
              <a:cs typeface="Arial"/>
              <a:sym typeface="Arial"/>
            </a:endParaRPr>
          </a:p>
          <a:p>
            <a:pPr marL="0" lvl="0" indent="0" algn="l" rtl="0">
              <a:spcBef>
                <a:spcPts val="1200"/>
              </a:spcBef>
              <a:spcAft>
                <a:spcPts val="0"/>
              </a:spcAft>
              <a:buNone/>
            </a:pPr>
            <a:endParaRPr sz="1000"/>
          </a:p>
        </p:txBody>
      </p:sp>
      <p:sp>
        <p:nvSpPr>
          <p:cNvPr id="417" name="Google Shape;417;p35"/>
          <p:cNvSpPr txBox="1">
            <a:spLocks noGrp="1"/>
          </p:cNvSpPr>
          <p:nvPr>
            <p:ph type="subTitle" idx="1"/>
          </p:nvPr>
        </p:nvSpPr>
        <p:spPr>
          <a:xfrm>
            <a:off x="520225" y="165700"/>
            <a:ext cx="91440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3000">
                <a:latin typeface="Times New Roman"/>
                <a:ea typeface="Times New Roman"/>
                <a:cs typeface="Times New Roman"/>
                <a:sym typeface="Times New Roman"/>
              </a:rPr>
              <a:t>(c) </a:t>
            </a:r>
            <a:r>
              <a:rPr lang="en-GB" sz="3000" b="1">
                <a:latin typeface="Times New Roman"/>
                <a:ea typeface="Times New Roman"/>
                <a:cs typeface="Times New Roman"/>
                <a:sym typeface="Times New Roman"/>
              </a:rPr>
              <a:t>Design III: Distributed RW/RO Shards</a:t>
            </a:r>
            <a:endParaRPr sz="3000">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36"/>
          <p:cNvSpPr txBox="1">
            <a:spLocks noGrp="1"/>
          </p:cNvSpPr>
          <p:nvPr>
            <p:ph type="ctrTitle"/>
          </p:nvPr>
        </p:nvSpPr>
        <p:spPr>
          <a:xfrm>
            <a:off x="20250" y="734075"/>
            <a:ext cx="9103500" cy="4533000"/>
          </a:xfrm>
          <a:prstGeom prst="rect">
            <a:avLst/>
          </a:prstGeom>
        </p:spPr>
        <p:txBody>
          <a:bodyPr spcFirstLastPara="1" wrap="square" lIns="91425" tIns="91425" rIns="91425" bIns="91425" anchor="ctr" anchorCtr="0">
            <a:normAutofit/>
          </a:bodyPr>
          <a:lstStyle/>
          <a:p>
            <a:pPr marL="457200" lvl="0" indent="-330200" algn="l" rtl="0">
              <a:lnSpc>
                <a:spcPct val="115000"/>
              </a:lnSpc>
              <a:spcBef>
                <a:spcPts val="1200"/>
              </a:spcBef>
              <a:spcAft>
                <a:spcPts val="0"/>
              </a:spcAft>
              <a:buSzPts val="1600"/>
              <a:buFont typeface="Arial"/>
              <a:buChar char="●"/>
            </a:pPr>
            <a:r>
              <a:rPr lang="en-GB" sz="1600" b="0">
                <a:latin typeface="Arial"/>
                <a:ea typeface="Arial"/>
                <a:cs typeface="Arial"/>
                <a:sym typeface="Arial"/>
              </a:rPr>
              <a:t>HAKES introduces a Global Index that maintains the mapping from vector IDs to shard locations.</a:t>
            </a:r>
            <a:br>
              <a:rPr lang="en-GB" sz="1600" b="0">
                <a:latin typeface="Arial"/>
                <a:ea typeface="Arial"/>
                <a:cs typeface="Arial"/>
                <a:sym typeface="Arial"/>
              </a:rPr>
            </a:br>
            <a:endParaRPr sz="1600" b="0">
              <a:latin typeface="Arial"/>
              <a:ea typeface="Arial"/>
              <a:cs typeface="Arial"/>
              <a:sym typeface="Arial"/>
            </a:endParaRPr>
          </a:p>
          <a:p>
            <a:pPr marL="457200" lvl="0" indent="-330200" algn="l" rtl="0">
              <a:lnSpc>
                <a:spcPct val="115000"/>
              </a:lnSpc>
              <a:spcBef>
                <a:spcPts val="0"/>
              </a:spcBef>
              <a:spcAft>
                <a:spcPts val="0"/>
              </a:spcAft>
              <a:buSzPts val="1600"/>
              <a:buFont typeface="Arial"/>
              <a:buChar char="●"/>
            </a:pPr>
            <a:r>
              <a:rPr lang="en-GB" sz="1600" b="0">
                <a:latin typeface="Arial"/>
                <a:ea typeface="Arial"/>
                <a:cs typeface="Arial"/>
                <a:sym typeface="Arial"/>
              </a:rPr>
              <a:t>Write operations are routed via the Global Index to the appropriate rw-shard that stores the target vector.</a:t>
            </a:r>
            <a:br>
              <a:rPr lang="en-GB" sz="1600" b="0">
                <a:latin typeface="Arial"/>
                <a:ea typeface="Arial"/>
                <a:cs typeface="Arial"/>
                <a:sym typeface="Arial"/>
              </a:rPr>
            </a:br>
            <a:endParaRPr sz="1600" b="0">
              <a:latin typeface="Arial"/>
              <a:ea typeface="Arial"/>
              <a:cs typeface="Arial"/>
              <a:sym typeface="Arial"/>
            </a:endParaRPr>
          </a:p>
          <a:p>
            <a:pPr marL="457200" lvl="0" indent="-330200" algn="l" rtl="0">
              <a:lnSpc>
                <a:spcPct val="115000"/>
              </a:lnSpc>
              <a:spcBef>
                <a:spcPts val="0"/>
              </a:spcBef>
              <a:spcAft>
                <a:spcPts val="0"/>
              </a:spcAft>
              <a:buSzPts val="1600"/>
              <a:buFont typeface="Arial"/>
              <a:buChar char="●"/>
            </a:pPr>
            <a:r>
              <a:rPr lang="en-GB" sz="1600" b="0">
                <a:latin typeface="Arial"/>
                <a:ea typeface="Arial"/>
                <a:cs typeface="Arial"/>
                <a:sym typeface="Arial"/>
              </a:rPr>
              <a:t>Read operations are also routed by the Global Index to the optimal shard (rw or ro), maximizing throughput.</a:t>
            </a:r>
            <a:br>
              <a:rPr lang="en-GB" sz="1600" b="0">
                <a:latin typeface="Arial"/>
                <a:ea typeface="Arial"/>
                <a:cs typeface="Arial"/>
                <a:sym typeface="Arial"/>
              </a:rPr>
            </a:br>
            <a:endParaRPr sz="1600" b="0">
              <a:latin typeface="Arial"/>
              <a:ea typeface="Arial"/>
              <a:cs typeface="Arial"/>
              <a:sym typeface="Arial"/>
            </a:endParaRPr>
          </a:p>
          <a:p>
            <a:pPr marL="457200" lvl="0" indent="-330200" algn="l" rtl="0">
              <a:lnSpc>
                <a:spcPct val="115000"/>
              </a:lnSpc>
              <a:spcBef>
                <a:spcPts val="0"/>
              </a:spcBef>
              <a:spcAft>
                <a:spcPts val="0"/>
              </a:spcAft>
              <a:buSzPts val="1600"/>
              <a:buFont typeface="Arial"/>
              <a:buChar char="●"/>
            </a:pPr>
            <a:r>
              <a:rPr lang="en-GB" sz="1600" b="0">
                <a:latin typeface="Arial"/>
                <a:ea typeface="Arial"/>
                <a:cs typeface="Arial"/>
                <a:sym typeface="Arial"/>
              </a:rPr>
              <a:t>This design decouples indexing and storage, enabling better scalability and routing efficiency.</a:t>
            </a:r>
            <a:br>
              <a:rPr lang="en-GB" sz="1600" b="0">
                <a:latin typeface="Arial"/>
                <a:ea typeface="Arial"/>
                <a:cs typeface="Arial"/>
                <a:sym typeface="Arial"/>
              </a:rPr>
            </a:br>
            <a:endParaRPr sz="1600" b="0">
              <a:latin typeface="Arial"/>
              <a:ea typeface="Arial"/>
              <a:cs typeface="Arial"/>
              <a:sym typeface="Arial"/>
            </a:endParaRPr>
          </a:p>
          <a:p>
            <a:pPr marL="457200" lvl="0" indent="-330200" algn="l" rtl="0">
              <a:lnSpc>
                <a:spcPct val="115000"/>
              </a:lnSpc>
              <a:spcBef>
                <a:spcPts val="0"/>
              </a:spcBef>
              <a:spcAft>
                <a:spcPts val="0"/>
              </a:spcAft>
              <a:buSzPts val="1600"/>
              <a:buFont typeface="Arial"/>
              <a:buChar char="●"/>
            </a:pPr>
            <a:r>
              <a:rPr lang="en-GB" sz="1600" b="0">
                <a:latin typeface="Arial"/>
                <a:ea typeface="Arial"/>
                <a:cs typeface="Arial"/>
                <a:sym typeface="Arial"/>
              </a:rPr>
              <a:t>With the global index, HAKES minimizes data duplication, improves query response time, and supports multi-shard fan-out intelligently.</a:t>
            </a:r>
            <a:br>
              <a:rPr lang="en-GB" sz="1600" b="0">
                <a:solidFill>
                  <a:srgbClr val="000000"/>
                </a:solidFill>
                <a:latin typeface="Arial"/>
                <a:ea typeface="Arial"/>
                <a:cs typeface="Arial"/>
                <a:sym typeface="Arial"/>
              </a:rPr>
            </a:br>
            <a:endParaRPr sz="1600" b="0">
              <a:solidFill>
                <a:srgbClr val="000000"/>
              </a:solidFill>
              <a:latin typeface="Arial"/>
              <a:ea typeface="Arial"/>
              <a:cs typeface="Arial"/>
              <a:sym typeface="Arial"/>
            </a:endParaRPr>
          </a:p>
          <a:p>
            <a:pPr marL="0" lvl="0" indent="0" algn="l" rtl="0">
              <a:spcBef>
                <a:spcPts val="1200"/>
              </a:spcBef>
              <a:spcAft>
                <a:spcPts val="0"/>
              </a:spcAft>
              <a:buNone/>
            </a:pPr>
            <a:endParaRPr sz="1000"/>
          </a:p>
        </p:txBody>
      </p:sp>
      <p:sp>
        <p:nvSpPr>
          <p:cNvPr id="423" name="Google Shape;423;p36"/>
          <p:cNvSpPr txBox="1">
            <a:spLocks noGrp="1"/>
          </p:cNvSpPr>
          <p:nvPr>
            <p:ph type="subTitle" idx="1"/>
          </p:nvPr>
        </p:nvSpPr>
        <p:spPr>
          <a:xfrm>
            <a:off x="108150" y="38675"/>
            <a:ext cx="102774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2600" b="1">
                <a:latin typeface="Times New Roman"/>
                <a:ea typeface="Times New Roman"/>
                <a:cs typeface="Times New Roman"/>
                <a:sym typeface="Times New Roman"/>
              </a:rPr>
              <a:t>(d) HAKES Design: Global Index with RW/RO Separation</a:t>
            </a:r>
            <a:endParaRPr sz="2600" b="1">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37"/>
          <p:cNvSpPr txBox="1">
            <a:spLocks noGrp="1"/>
          </p:cNvSpPr>
          <p:nvPr>
            <p:ph type="ctrTitle"/>
          </p:nvPr>
        </p:nvSpPr>
        <p:spPr>
          <a:xfrm>
            <a:off x="0" y="806850"/>
            <a:ext cx="9144000" cy="35298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endParaRPr sz="1000"/>
          </a:p>
          <a:p>
            <a:pPr marL="0" lvl="0" indent="0" algn="l" rtl="0">
              <a:spcBef>
                <a:spcPts val="0"/>
              </a:spcBef>
              <a:spcAft>
                <a:spcPts val="0"/>
              </a:spcAft>
              <a:buNone/>
            </a:pPr>
            <a:endParaRPr sz="1400" b="0">
              <a:latin typeface="Arial"/>
              <a:ea typeface="Arial"/>
              <a:cs typeface="Arial"/>
              <a:sym typeface="Arial"/>
            </a:endParaRPr>
          </a:p>
          <a:p>
            <a:pPr marL="457200" lvl="0" indent="-329882" algn="l" rtl="0">
              <a:spcBef>
                <a:spcPts val="0"/>
              </a:spcBef>
              <a:spcAft>
                <a:spcPts val="0"/>
              </a:spcAft>
              <a:buSzPct val="100000"/>
              <a:buFont typeface="Arial"/>
              <a:buChar char="●"/>
            </a:pPr>
            <a:r>
              <a:rPr lang="en-GB" sz="1772" b="0">
                <a:latin typeface="Arial"/>
                <a:ea typeface="Arial"/>
                <a:cs typeface="Arial"/>
                <a:sym typeface="Arial"/>
              </a:rPr>
              <a:t>HAKES supports scalable, update-efficient ANN search</a:t>
            </a:r>
            <a:endParaRPr sz="1772" b="0">
              <a:latin typeface="Arial"/>
              <a:ea typeface="Arial"/>
              <a:cs typeface="Arial"/>
              <a:sym typeface="Arial"/>
            </a:endParaRPr>
          </a:p>
          <a:p>
            <a:pPr marL="457200" lvl="0" indent="0" algn="l" rtl="0">
              <a:spcBef>
                <a:spcPts val="0"/>
              </a:spcBef>
              <a:spcAft>
                <a:spcPts val="0"/>
              </a:spcAft>
              <a:buNone/>
            </a:pPr>
            <a:endParaRPr sz="1772" b="0">
              <a:latin typeface="Arial"/>
              <a:ea typeface="Arial"/>
              <a:cs typeface="Arial"/>
              <a:sym typeface="Arial"/>
            </a:endParaRPr>
          </a:p>
          <a:p>
            <a:pPr marL="457200" lvl="0" indent="-329882" algn="l" rtl="0">
              <a:spcBef>
                <a:spcPts val="0"/>
              </a:spcBef>
              <a:spcAft>
                <a:spcPts val="0"/>
              </a:spcAft>
              <a:buSzPct val="100000"/>
              <a:buFont typeface="Arial"/>
              <a:buChar char="●"/>
            </a:pPr>
            <a:r>
              <a:rPr lang="en-GB" sz="1772" b="0">
                <a:latin typeface="Arial"/>
                <a:ea typeface="Arial"/>
                <a:cs typeface="Arial"/>
                <a:sym typeface="Arial"/>
              </a:rPr>
              <a:t>HAKES = high-throughput, high-recall, scalable vector DB</a:t>
            </a:r>
            <a:br>
              <a:rPr lang="en-GB" sz="1772" b="0">
                <a:latin typeface="Arial"/>
                <a:ea typeface="Arial"/>
                <a:cs typeface="Arial"/>
                <a:sym typeface="Arial"/>
              </a:rPr>
            </a:br>
            <a:endParaRPr sz="1772" b="0">
              <a:latin typeface="Arial"/>
              <a:ea typeface="Arial"/>
              <a:cs typeface="Arial"/>
              <a:sym typeface="Arial"/>
            </a:endParaRPr>
          </a:p>
          <a:p>
            <a:pPr marL="457200" lvl="0" indent="-329882" algn="l" rtl="0">
              <a:spcBef>
                <a:spcPts val="0"/>
              </a:spcBef>
              <a:spcAft>
                <a:spcPts val="0"/>
              </a:spcAft>
              <a:buSzPct val="100000"/>
              <a:buFont typeface="Arial"/>
              <a:buChar char="●"/>
            </a:pPr>
            <a:r>
              <a:rPr lang="en-GB" sz="1772" b="0">
                <a:latin typeface="Arial"/>
                <a:ea typeface="Arial"/>
                <a:cs typeface="Arial"/>
                <a:sym typeface="Arial"/>
              </a:rPr>
              <a:t>Filter-refine design is efficient and accurate</a:t>
            </a:r>
            <a:br>
              <a:rPr lang="en-GB" sz="1772" b="0">
                <a:latin typeface="Arial"/>
                <a:ea typeface="Arial"/>
                <a:cs typeface="Arial"/>
                <a:sym typeface="Arial"/>
              </a:rPr>
            </a:br>
            <a:endParaRPr sz="1772" b="0">
              <a:latin typeface="Arial"/>
              <a:ea typeface="Arial"/>
              <a:cs typeface="Arial"/>
              <a:sym typeface="Arial"/>
            </a:endParaRPr>
          </a:p>
          <a:p>
            <a:pPr marL="457200" lvl="0" indent="-329882" algn="l" rtl="0">
              <a:spcBef>
                <a:spcPts val="0"/>
              </a:spcBef>
              <a:spcAft>
                <a:spcPts val="0"/>
              </a:spcAft>
              <a:buSzPct val="100000"/>
              <a:buFont typeface="Arial"/>
              <a:buChar char="●"/>
            </a:pPr>
            <a:r>
              <a:rPr lang="en-GB" sz="1772" b="0">
                <a:latin typeface="Arial"/>
                <a:ea typeface="Arial"/>
                <a:cs typeface="Arial"/>
                <a:sym typeface="Arial"/>
              </a:rPr>
              <a:t>Decoupling search/insert = better concurrency</a:t>
            </a:r>
            <a:endParaRPr sz="1772" b="0">
              <a:latin typeface="Arial"/>
              <a:ea typeface="Arial"/>
              <a:cs typeface="Arial"/>
              <a:sym typeface="Arial"/>
            </a:endParaRPr>
          </a:p>
          <a:p>
            <a:pPr marL="457200" lvl="0" indent="0" algn="l" rtl="0">
              <a:spcBef>
                <a:spcPts val="0"/>
              </a:spcBef>
              <a:spcAft>
                <a:spcPts val="0"/>
              </a:spcAft>
              <a:buNone/>
            </a:pPr>
            <a:endParaRPr sz="1772" b="0">
              <a:latin typeface="Arial"/>
              <a:ea typeface="Arial"/>
              <a:cs typeface="Arial"/>
              <a:sym typeface="Arial"/>
            </a:endParaRPr>
          </a:p>
          <a:p>
            <a:pPr marL="457200" lvl="0" indent="-329882" algn="l" rtl="0">
              <a:spcBef>
                <a:spcPts val="0"/>
              </a:spcBef>
              <a:spcAft>
                <a:spcPts val="0"/>
              </a:spcAft>
              <a:buSzPct val="100000"/>
              <a:buFont typeface="Arial"/>
              <a:buChar char="●"/>
            </a:pPr>
            <a:r>
              <a:rPr lang="en-GB" sz="1772" b="0">
                <a:latin typeface="Arial"/>
                <a:ea typeface="Arial"/>
                <a:cs typeface="Arial"/>
                <a:sym typeface="Arial"/>
              </a:rPr>
              <a:t>Scales well with inserts and writes</a:t>
            </a:r>
            <a:br>
              <a:rPr lang="en-GB" sz="1772" b="0">
                <a:latin typeface="Arial"/>
                <a:ea typeface="Arial"/>
                <a:cs typeface="Arial"/>
                <a:sym typeface="Arial"/>
              </a:rPr>
            </a:br>
            <a:endParaRPr sz="1772" b="0">
              <a:latin typeface="Arial"/>
              <a:ea typeface="Arial"/>
              <a:cs typeface="Arial"/>
              <a:sym typeface="Arial"/>
            </a:endParaRPr>
          </a:p>
          <a:p>
            <a:pPr marL="457200" lvl="0" indent="-329882" algn="l" rtl="0">
              <a:spcBef>
                <a:spcPts val="0"/>
              </a:spcBef>
              <a:spcAft>
                <a:spcPts val="0"/>
              </a:spcAft>
              <a:buSzPct val="100000"/>
              <a:buFont typeface="Arial"/>
              <a:buChar char="●"/>
            </a:pPr>
            <a:r>
              <a:rPr lang="en-GB" sz="1772" b="0">
                <a:latin typeface="Arial"/>
                <a:ea typeface="Arial"/>
                <a:cs typeface="Arial"/>
                <a:sym typeface="Arial"/>
              </a:rPr>
              <a:t>Outperforms all tested baselines</a:t>
            </a:r>
            <a:br>
              <a:rPr lang="en-GB" sz="1772" b="0">
                <a:latin typeface="Arial"/>
                <a:ea typeface="Arial"/>
                <a:cs typeface="Arial"/>
                <a:sym typeface="Arial"/>
              </a:rPr>
            </a:br>
            <a:endParaRPr sz="1772" b="0">
              <a:latin typeface="Arial"/>
              <a:ea typeface="Arial"/>
              <a:cs typeface="Arial"/>
              <a:sym typeface="Arial"/>
            </a:endParaRPr>
          </a:p>
          <a:p>
            <a:pPr marL="457200" lvl="0" indent="-329882" algn="l" rtl="0">
              <a:spcBef>
                <a:spcPts val="0"/>
              </a:spcBef>
              <a:spcAft>
                <a:spcPts val="0"/>
              </a:spcAft>
              <a:buSzPct val="100000"/>
              <a:buFont typeface="Arial"/>
              <a:buChar char="●"/>
            </a:pPr>
            <a:r>
              <a:rPr lang="en-GB" sz="1772" b="0">
                <a:latin typeface="Arial"/>
                <a:ea typeface="Arial"/>
                <a:cs typeface="Arial"/>
                <a:sym typeface="Arial"/>
              </a:rPr>
              <a:t>Suitable for modern AI systems like RAG</a:t>
            </a:r>
            <a:endParaRPr sz="1772" b="0">
              <a:latin typeface="Arial"/>
              <a:ea typeface="Arial"/>
              <a:cs typeface="Arial"/>
              <a:sym typeface="Arial"/>
            </a:endParaRPr>
          </a:p>
          <a:p>
            <a:pPr marL="457200" lvl="0" indent="0" algn="l" rtl="0">
              <a:spcBef>
                <a:spcPts val="0"/>
              </a:spcBef>
              <a:spcAft>
                <a:spcPts val="0"/>
              </a:spcAft>
              <a:buNone/>
            </a:pPr>
            <a:endParaRPr sz="1772" b="0">
              <a:latin typeface="Arial"/>
              <a:ea typeface="Arial"/>
              <a:cs typeface="Arial"/>
              <a:sym typeface="Arial"/>
            </a:endParaRPr>
          </a:p>
          <a:p>
            <a:pPr marL="457200" lvl="0" indent="-329882" algn="l" rtl="0">
              <a:spcBef>
                <a:spcPts val="0"/>
              </a:spcBef>
              <a:spcAft>
                <a:spcPts val="0"/>
              </a:spcAft>
              <a:buSzPct val="100000"/>
              <a:buFont typeface="Arial"/>
              <a:buChar char="●"/>
            </a:pPr>
            <a:r>
              <a:rPr lang="en-GB" sz="1772" b="0">
                <a:latin typeface="Arial"/>
                <a:ea typeface="Arial"/>
                <a:cs typeface="Arial"/>
                <a:sym typeface="Arial"/>
              </a:rPr>
              <a:t>Better than graph-based ANN</a:t>
            </a:r>
            <a:endParaRPr sz="1772" b="0">
              <a:latin typeface="Arial"/>
              <a:ea typeface="Arial"/>
              <a:cs typeface="Arial"/>
              <a:sym typeface="Arial"/>
            </a:endParaRPr>
          </a:p>
        </p:txBody>
      </p:sp>
      <p:sp>
        <p:nvSpPr>
          <p:cNvPr id="429" name="Google Shape;429;p37"/>
          <p:cNvSpPr txBox="1">
            <a:spLocks noGrp="1"/>
          </p:cNvSpPr>
          <p:nvPr>
            <p:ph type="subTitle" idx="1"/>
          </p:nvPr>
        </p:nvSpPr>
        <p:spPr>
          <a:xfrm>
            <a:off x="1810825" y="99850"/>
            <a:ext cx="9104100" cy="695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3000" b="1">
                <a:latin typeface="Times New Roman"/>
                <a:ea typeface="Times New Roman"/>
                <a:cs typeface="Times New Roman"/>
                <a:sym typeface="Times New Roman"/>
              </a:rPr>
              <a:t>Conclusion &amp; Takeaways</a:t>
            </a:r>
            <a:endParaRPr sz="3000" b="1">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68"/>
          <p:cNvSpPr txBox="1">
            <a:spLocks noGrp="1"/>
          </p:cNvSpPr>
          <p:nvPr>
            <p:ph type="ctrTitle"/>
          </p:nvPr>
        </p:nvSpPr>
        <p:spPr>
          <a:xfrm>
            <a:off x="1209200" y="1613829"/>
            <a:ext cx="5980800" cy="13482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GB">
                <a:latin typeface="Times New Roman"/>
                <a:ea typeface="Times New Roman"/>
                <a:cs typeface="Times New Roman"/>
                <a:sym typeface="Times New Roman"/>
              </a:rPr>
              <a:t>           THANK YOU </a:t>
            </a:r>
            <a:endParaRPr>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1551</Words>
  <Application>Microsoft Office PowerPoint</Application>
  <PresentationFormat>On-screen Show (16:9)</PresentationFormat>
  <Paragraphs>161</Paragraphs>
  <Slides>26</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Times New Roman</vt:lpstr>
      <vt:lpstr>Nunito</vt:lpstr>
      <vt:lpstr>Impact</vt:lpstr>
      <vt:lpstr>Arial</vt:lpstr>
      <vt:lpstr>Maven Pro</vt:lpstr>
      <vt:lpstr>Momentum</vt:lpstr>
      <vt:lpstr>Milestone 3</vt:lpstr>
      <vt:lpstr>HAKES: Scalable Vector Database for Embedding Search Service</vt:lpstr>
      <vt:lpstr>HAKES: Scalable Vector Database  For Embedding Search Services  Authors: Guoyu Hu, Shaofeng Cai, et al.  Institutions: NUS, Deakin, Zhejiang Univ  Based on arXiv:2505.12524v1  Overview of architecture, index design </vt:lpstr>
      <vt:lpstr>HAKES: a scalable and accurate vector database  Designed for high-dimensional embedding search  Targets applications like RAG and recommendation  Supports concurrent updates and searches  Focused on high recall and throughput </vt:lpstr>
      <vt:lpstr>Explosion in use of deep learning embeddings  Traditional indexes suffer under scale and concurrency  Need for fast, accurate, update-friendly ANN search  Embedding dimensions continue to grow  Vector DBs must scale across servers </vt:lpstr>
      <vt:lpstr>PowerPoint Presentation</vt:lpstr>
      <vt:lpstr>Embeddings live in high-dimensional vector space  Exact NN search is expensive → use Approximate NN  Measures: inner product, cosine, Euclidean  Recall used to evaluate ANN quality  ANN indexes aim for speed vs recall balance </vt:lpstr>
      <vt:lpstr>Hierarchical structure  Beam search with greedy traversal  Costly updates and locking  Good for high-recall reads  Example: HNSW structure diagram </vt:lpstr>
      <vt:lpstr>K-means clustering → IVF  Product Quantization → compressed                                             vectors  Fast similarity approximation  High throughput using SIMD  Used together for scalability </vt:lpstr>
      <vt:lpstr>HAKES-Index overview</vt:lpstr>
      <vt:lpstr>1. Search Index Parameters (Top Section): Dimension Reduction: A learned transformation reduces the dimensionality of the query vector.  IVF Centroids: Inverted File (IVF) centroids help partition the vector space for fast lookup.  PQ Codebooks: Product Quantization (PQ) codebooks are used to compress vectors for fast search.  2. Insert Index Parameters (Bottom Section): Similar to the search parameters, but with a separate (possibly less optimized) set of components dedicated for efficient and incremental vector insertion.  3. Partitions of Compressed Vectors: After quantization, vectors are stored in partitions based on IVF assignments and compressed using PQ.  4. Full Vectors: The system also stores full (original or high-fidelity) vectors, used for refinement in the final search stage or insertion. </vt:lpstr>
      <vt:lpstr>1. Reduce Dimension: The incoming query vector (red) is reduced in dimension using a trained model.  2. Compute LUT (Look-Up Table): A LUT is computed using PQ codebooks and the reduced query. This speeds up distance calculations during search.  3. Scan Selected Partitions: IVF centroids identify the most relevant partitions (based on proximity to the query). Only those are scanned using PQ distance approximation from the LUT.  4. Refine to TopK: From the approximate matches, a shortlist is created. Then, full vectors are used to re-rank candidates using accurate distances to retrieve the final Top-K nearest neighbors.   </vt:lpstr>
      <vt:lpstr>1. Reduce Dimension: Similar to search, the new vector is first reduced in dimensionality.  2. Quantize Vector: The reduced vector is quantized using the PQ codebooks, creating a compressed representation.  3. Append to Selected Partition and Full Vectors: The compressed vector is assigned to the correct IVF partition and appended to the corresponding storage.  The full version of the vector is also stored for future refinement during search.   </vt:lpstr>
      <vt:lpstr>PowerPoint Presentation</vt:lpstr>
      <vt:lpstr>Step 1: Initialize Index Parameters OPQ (Optimized Product Quantization) and k-means clustering are initialized.  OPQ: Applies rotation and dimensional reordering for better compression.  k-means: Used to compute IVF centroids (coarse clusters) from raw data vectors.  Step 2: Index the Dataset The dataset is clustered into IVF cells (coarse centroids) using k-means.  Each vector is assigned to the nearest centroid.  Inside each cell, PQ codebooks (sub-vector quantizers) are created to compress and store data vectors. </vt:lpstr>
      <vt:lpstr>Step 3. Sample Data and Retrieve ANNs A subset of the full dataset is randomly sampled to use as training data.  For each sampled vector, its approximate nearest neighbors (ANNs) are retrieved from the base index.  These ANNs serve as weak approximations of the true neighbors and act as targets for training.  Both the sampled vectors and their corresponding ANNs are stored for use in the training phase.  This pairing helps measure and minimize errors between real and compressed-space similarity distributions. </vt:lpstr>
      <vt:lpstr>Step 4. Train Dimension Reduction and Quantization Codebook Apply optimization to learn a better OPQ matrix that improves downstream similarity accuracy.  Simultaneously train PQ codebooks to quantize the reduced vectors more effectively.  Calculate original similarity score using high-dimensional sampled data.  Compute reconstructed similarity score after dimension reduction and quantization.  Minimize the loss  i.e., the difference in similarity distributions between original and compressed spaces.  </vt:lpstr>
      <vt:lpstr>Step 5. Use Training Data Original Assignment and Vectors After Learned Dimension Reduction Apply the learned OPQ transformation to the training vectors.  Reassign vectors to IVF cells in this newly reduced-dimensional space.  Recalculate the IVF centroids using these reassigned vectors.  This step improves the clustering quality and alignment with the compressed representation.  These new centroids better reflect the updated structure of the data under learned compression.  </vt:lpstr>
      <vt:lpstr>Step 6. Install Learned Parameters Replace the initialized OPQ matrix in the base index with the learned OPQ matrix.  Swap in the learned IVF centroids to improve vector-to-cell assignment.  Update the PQ codebooks inside each IVF cell with the trained versions.  No need to rebuild the entire index—existing structure is reused, minimizing compute cost.  The result is the final HAKES-index, which offers better ANN accuracy without rebuilding from scratch.  </vt:lpstr>
      <vt:lpstr>PowerPoint Presentation</vt:lpstr>
      <vt:lpstr>Each server hosts only one read-write (rw) shard that contains both the vectors and index.  Both read (R) and write (W) operations are directed to the same rw-shard on the node.  No shard sharing or redundancy exists—each node is self-contained.  Simple design, but limits query parallelism and load balancing, since reads and writes compete on the same resource.  Poor resource utilization in high-read scenarios due to lack of read-only replicas.  </vt:lpstr>
      <vt:lpstr>Each node has one rw-shard and multiple ro-shards, improving read throughput.  Write operations go only to the rw-shard; read operations can hit any of the ro-shards.  RO shards are replicas of rw-shards, allowing read scalability and faster queries.  This approach improves query latency but increases replication overhead.  Updates must propagate from the rw-shard to all corresponding ro-shards, leading to synchronization complexity. </vt:lpstr>
      <vt:lpstr>Read-write and read-only shards are distributed across servers, not confined per node.  A server can host multiple shards of any type (rw or ro), improving load balancing.  Write and read requests are routed to different shards dynamically across nodes.  This design enables flexibility and resource efficiency, especially in heterogeneous environments.  However, it introduces index lookup overhead, as there’s no global coordination of data placement.  </vt:lpstr>
      <vt:lpstr>HAKES introduces a Global Index that maintains the mapping from vector IDs to shard locations.  Write operations are routed via the Global Index to the appropriate rw-shard that stores the target vector.  Read operations are also routed by the Global Index to the optimal shard (rw or ro), maximizing throughput.  This design decouples indexing and storage, enabling better scalability and routing efficiency.  With the global index, HAKES minimizes data duplication, improves query response time, and supports multi-shard fan-out intelligently.  </vt:lpstr>
      <vt:lpstr>  HAKES supports scalable, update-efficient ANN search  HAKES = high-throughput, high-recall, scalable vector DB  Filter-refine design is efficient and accurate  Decoupling search/insert = better concurrency  Scales well with inserts and writes  Outperforms all tested baselines  Suitable for modern AI systems like RAG  Better than graph-based ANN</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mohan .</cp:lastModifiedBy>
  <cp:revision>1</cp:revision>
  <dcterms:modified xsi:type="dcterms:W3CDTF">2025-07-07T21:21:54Z</dcterms:modified>
</cp:coreProperties>
</file>