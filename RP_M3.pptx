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y="5143500" cx="9144000"/>
  <p:notesSz cx="6858000" cy="9144000"/>
  <p:embeddedFontLst>
    <p:embeddedFont>
      <p:font typeface="Nunito"/>
      <p:regular r:id="rId63"/>
      <p:bold r:id="rId64"/>
      <p:italic r:id="rId65"/>
      <p:boldItalic r:id="rId66"/>
    </p:embeddedFont>
    <p:embeddedFont>
      <p:font typeface="Maven Pro"/>
      <p:regular r:id="rId67"/>
      <p:bold r:id="rId68"/>
    </p:embeddedFont>
    <p:embeddedFont>
      <p:font typeface="Roboto Mono"/>
      <p:regular r:id="rId69"/>
      <p:bold r:id="rId70"/>
      <p:italic r:id="rId71"/>
      <p:boldItalic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0CCD287-B4FA-44F8-B7B1-190A3A04613E}">
  <a:tblStyle styleId="{F0CCD287-B4FA-44F8-B7B1-190A3A04613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5D1A7BFB-AFC5-478E-94C4-FD4E1BAADA0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2" Type="http://schemas.openxmlformats.org/officeDocument/2006/relationships/font" Target="fonts/RobotoMono-boldItalic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RobotoMono-italic.fntdata"/><Relationship Id="rId70" Type="http://schemas.openxmlformats.org/officeDocument/2006/relationships/font" Target="fonts/RobotoMono-bold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font" Target="fonts/Nunito-bold.fntdata"/><Relationship Id="rId63" Type="http://schemas.openxmlformats.org/officeDocument/2006/relationships/font" Target="fonts/Nunito-regular.fntdata"/><Relationship Id="rId22" Type="http://schemas.openxmlformats.org/officeDocument/2006/relationships/slide" Target="slides/slide16.xml"/><Relationship Id="rId66" Type="http://schemas.openxmlformats.org/officeDocument/2006/relationships/font" Target="fonts/Nunito-boldItalic.fntdata"/><Relationship Id="rId21" Type="http://schemas.openxmlformats.org/officeDocument/2006/relationships/slide" Target="slides/slide15.xml"/><Relationship Id="rId65" Type="http://schemas.openxmlformats.org/officeDocument/2006/relationships/font" Target="fonts/Nunito-italic.fntdata"/><Relationship Id="rId24" Type="http://schemas.openxmlformats.org/officeDocument/2006/relationships/slide" Target="slides/slide18.xml"/><Relationship Id="rId68" Type="http://schemas.openxmlformats.org/officeDocument/2006/relationships/font" Target="fonts/MavenPro-bold.fntdata"/><Relationship Id="rId23" Type="http://schemas.openxmlformats.org/officeDocument/2006/relationships/slide" Target="slides/slide17.xml"/><Relationship Id="rId67" Type="http://schemas.openxmlformats.org/officeDocument/2006/relationships/font" Target="fonts/MavenPro-regular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RobotoMono-regular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6bf18bee9c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6bf18bee9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6bf18bee9c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6bf18bee9c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6bdeada6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6bdeada6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6bdeada66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6bdeada66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6bdeada66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6bdeada66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6bdeada66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6bdeada66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6bdeada66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6bdeada66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6bdeada665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6bdeada66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6bdeada66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6bdeada66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6bdeada665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6bdeada66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6bdeada665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6bdeada665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6bdeada665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6bdeada66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6bdeada665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6bdeada665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6bdeada665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6bdeada665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6bdeada665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6bdeada665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6bdeada665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6bdeada665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6bdeada665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6bdeada665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6bdeada665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6bdeada665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6bdeada665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6bdeada665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6bdeada665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6bdeada665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6bdeada665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6bdeada665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6bdeada665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6bdeada665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6bdeada665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6bdeada665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6bdeada665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6bdeada665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6bdeada665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6bdeada665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6bf18bee9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6bf18bee9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6d3ebdd8a6_4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6d3ebdd8a6_4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6d3ebdd8a6_4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6d3ebdd8a6_4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6d3ebdd8a6_4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6d3ebdd8a6_4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6d3ebdd8a6_4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6d3ebdd8a6_4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6d3ebdd8a6_4_10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6d3ebdd8a6_4_10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6d3ebdd8a6_4_1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6d3ebdd8a6_4_1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6d3ebdd8a6_4_1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6d3ebdd8a6_4_1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6d3ebdd8a6_4_17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6d3ebdd8a6_4_17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6d3ebdd8a6_4_1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6d3ebdd8a6_4_1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6d3ebdd8a6_4_1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6d3ebdd8a6_4_1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6bf18bee9c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6bf18bee9c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6d3ebdd8a6_4_16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6d3ebdd8a6_4_1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6d3ebdd8a6_4_1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6d3ebdd8a6_4_1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6d3ebdd8a6_4_17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6d3ebdd8a6_4_17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6d3ebdd8a6_4_17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6d3ebdd8a6_4_1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6d3ebdd8a6_4_17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6d3ebdd8a6_4_17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6be0129e20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6be0129e20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6be0129e20_2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6be0129e20_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6be0129e20_2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6be0129e20_2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6be0129e20_2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6be0129e20_2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6be0129e20_2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6be0129e20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6be0129e20_2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36be0129e20_2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6be0129e20_2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36be0129e20_2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6be0129e20_2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36be0129e20_2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6be0129e20_2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6be0129e20_2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6bf18bee9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6bf18bee9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6bf18bee9c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36bf18bee9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6bf18bee9c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36bf18bee9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6bf18bee9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6bf18bee9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339275" y="341548"/>
            <a:ext cx="7023900" cy="69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Milestone 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545875" y="1167900"/>
            <a:ext cx="4533600" cy="5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                      </a:t>
            </a:r>
            <a:r>
              <a:rPr b="1" lang="en-GB" sz="3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GB" sz="3000">
                <a:latin typeface="Times New Roman"/>
                <a:ea typeface="Times New Roman"/>
                <a:cs typeface="Times New Roman"/>
                <a:sym typeface="Times New Roman"/>
              </a:rPr>
              <a:t>Group 6 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3"/>
          <p:cNvSpPr txBox="1"/>
          <p:nvPr/>
        </p:nvSpPr>
        <p:spPr>
          <a:xfrm>
            <a:off x="219675" y="1950825"/>
            <a:ext cx="6828900" cy="30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Sneha Painuli [</a:t>
            </a:r>
            <a:r>
              <a:rPr b="1" lang="en-GB" sz="1700">
                <a:solidFill>
                  <a:srgbClr val="FFFFFF"/>
                </a:solidFill>
              </a:rPr>
              <a:t>C0933116]</a:t>
            </a:r>
            <a:endParaRPr b="1" sz="1700">
              <a:solidFill>
                <a:srgbClr val="FFFFFF"/>
              </a:solidFill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Amita	  [</a:t>
            </a:r>
            <a:r>
              <a:rPr b="1" lang="en-GB" sz="1700">
                <a:solidFill>
                  <a:srgbClr val="FFFFFF"/>
                </a:solidFill>
              </a:rPr>
              <a:t>C0935607]</a:t>
            </a:r>
            <a:endParaRPr b="1" sz="1700">
              <a:solidFill>
                <a:srgbClr val="FFFFFF"/>
              </a:solidFill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Japjeet Kaur  (</a:t>
            </a:r>
            <a:r>
              <a:rPr b="1" lang="en-GB" sz="1700">
                <a:solidFill>
                  <a:srgbClr val="FFFFFF"/>
                </a:solidFill>
              </a:rPr>
              <a:t>C0937720]</a:t>
            </a:r>
            <a:endParaRPr b="1" sz="1700">
              <a:solidFill>
                <a:srgbClr val="FFFFFF"/>
              </a:solidFill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Manjot Kaur [</a:t>
            </a:r>
            <a:r>
              <a:rPr b="1" lang="en-GB" sz="1700">
                <a:solidFill>
                  <a:srgbClr val="FFFFFF"/>
                </a:solidFill>
              </a:rPr>
              <a:t>C0938094]</a:t>
            </a:r>
            <a:endParaRPr b="1" sz="1700">
              <a:solidFill>
                <a:srgbClr val="FFFFFF"/>
              </a:solidFill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Anju Bala </a:t>
            </a:r>
            <a:r>
              <a:rPr b="1" lang="en-GB" sz="17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[</a:t>
            </a:r>
            <a:r>
              <a:rPr b="1" lang="en-GB" sz="1700">
                <a:solidFill>
                  <a:srgbClr val="FFFFFF"/>
                </a:solidFill>
              </a:rPr>
              <a:t>C0935847]</a:t>
            </a:r>
            <a:endParaRPr b="1" sz="1700">
              <a:solidFill>
                <a:srgbClr val="FFFFFF"/>
              </a:solidFill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Nicolas [</a:t>
            </a:r>
            <a:r>
              <a:rPr lang="en-GB" sz="1700">
                <a:solidFill>
                  <a:srgbClr val="FFFFFF"/>
                </a:solidFill>
              </a:rPr>
              <a:t> </a:t>
            </a:r>
            <a:r>
              <a:rPr b="1" lang="en-GB" sz="1700">
                <a:solidFill>
                  <a:srgbClr val="FFFFFF"/>
                </a:solidFill>
              </a:rPr>
              <a:t>C0922995]</a:t>
            </a:r>
            <a:endParaRPr b="1" sz="1700">
              <a:solidFill>
                <a:srgbClr val="FFFFFF"/>
              </a:solidFill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Brian Martinez </a:t>
            </a:r>
            <a:r>
              <a:rPr b="1" lang="en-GB" sz="17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[</a:t>
            </a:r>
            <a:r>
              <a:rPr b="1" lang="en-GB" sz="1700">
                <a:solidFill>
                  <a:srgbClr val="FFFFFF"/>
                </a:solidFill>
              </a:rPr>
              <a:t>C0940439</a:t>
            </a:r>
            <a:r>
              <a:rPr b="1" lang="en-GB" sz="17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]</a:t>
            </a:r>
            <a:endParaRPr b="1" sz="1700">
              <a:solidFill>
                <a:srgbClr val="FFFFFF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Krishna Mohan Gadepalli [</a:t>
            </a:r>
            <a:r>
              <a:rPr b="1" lang="en-GB" sz="1700">
                <a:solidFill>
                  <a:srgbClr val="FFFFFF"/>
                </a:solidFill>
              </a:rPr>
              <a:t>C0937251] </a:t>
            </a:r>
            <a:endParaRPr b="1" sz="17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/>
          <p:nvPr>
            <p:ph type="ctrTitle"/>
          </p:nvPr>
        </p:nvSpPr>
        <p:spPr>
          <a:xfrm>
            <a:off x="316500" y="122825"/>
            <a:ext cx="8827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Times New Roman"/>
                <a:ea typeface="Times New Roman"/>
                <a:cs typeface="Times New Roman"/>
                <a:sym typeface="Times New Roman"/>
              </a:rPr>
              <a:t>HAKES: Scalable Vector Database for Embedding Search Service</a:t>
            </a:r>
            <a:endParaRPr/>
          </a:p>
        </p:txBody>
      </p:sp>
      <p:sp>
        <p:nvSpPr>
          <p:cNvPr id="285" name="Google Shape;285;p14"/>
          <p:cNvSpPr txBox="1"/>
          <p:nvPr>
            <p:ph idx="1" type="subTitle"/>
          </p:nvPr>
        </p:nvSpPr>
        <p:spPr>
          <a:xfrm>
            <a:off x="3744550" y="3536225"/>
            <a:ext cx="57240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200">
                <a:latin typeface="Times New Roman"/>
                <a:ea typeface="Times New Roman"/>
                <a:cs typeface="Times New Roman"/>
                <a:sym typeface="Times New Roman"/>
              </a:rPr>
              <a:t>Presented by </a:t>
            </a:r>
            <a:endParaRPr b="1" sz="9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200">
                <a:latin typeface="Times New Roman"/>
                <a:ea typeface="Times New Roman"/>
                <a:cs typeface="Times New Roman"/>
                <a:sym typeface="Times New Roman"/>
              </a:rPr>
              <a:t>Krishna Mohan Gadepalli (C0937251)</a:t>
            </a:r>
            <a:endParaRPr b="1" sz="9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>
            <p:ph type="ctrTitle"/>
          </p:nvPr>
        </p:nvSpPr>
        <p:spPr>
          <a:xfrm>
            <a:off x="96550" y="583925"/>
            <a:ext cx="8978700" cy="502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Arial"/>
                <a:ea typeface="Arial"/>
                <a:cs typeface="Arial"/>
                <a:sym typeface="Arial"/>
              </a:rPr>
              <a:t>HAKES: Scalable Vector Database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300">
                <a:latin typeface="Arial"/>
                <a:ea typeface="Arial"/>
                <a:cs typeface="Arial"/>
                <a:sym typeface="Arial"/>
              </a:rPr>
              <a:t>For Embedding Search Services</a:t>
            </a:r>
            <a:br>
              <a:rPr lang="en-GB" sz="2300">
                <a:latin typeface="Arial"/>
                <a:ea typeface="Arial"/>
                <a:cs typeface="Arial"/>
                <a:sym typeface="Arial"/>
              </a:rPr>
            </a:b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300">
                <a:latin typeface="Arial"/>
                <a:ea typeface="Arial"/>
                <a:cs typeface="Arial"/>
                <a:sym typeface="Arial"/>
              </a:rPr>
              <a:t>Authors: Guoyu Hu, Shaofeng Cai, et al.</a:t>
            </a:r>
            <a:br>
              <a:rPr b="0" lang="en-GB" sz="2300">
                <a:latin typeface="Arial"/>
                <a:ea typeface="Arial"/>
                <a:cs typeface="Arial"/>
                <a:sym typeface="Arial"/>
              </a:rPr>
            </a:br>
            <a:endParaRPr b="0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300">
                <a:latin typeface="Arial"/>
                <a:ea typeface="Arial"/>
                <a:cs typeface="Arial"/>
                <a:sym typeface="Arial"/>
              </a:rPr>
              <a:t>Institutions: NUS, Deakin, Zhejiang Univ</a:t>
            </a:r>
            <a:br>
              <a:rPr b="0" lang="en-GB" sz="2300">
                <a:latin typeface="Arial"/>
                <a:ea typeface="Arial"/>
                <a:cs typeface="Arial"/>
                <a:sym typeface="Arial"/>
              </a:rPr>
            </a:br>
            <a:endParaRPr b="0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300">
                <a:latin typeface="Arial"/>
                <a:ea typeface="Arial"/>
                <a:cs typeface="Arial"/>
                <a:sym typeface="Arial"/>
              </a:rPr>
              <a:t>Based on arXiv:2505.12524v1</a:t>
            </a:r>
            <a:br>
              <a:rPr b="0" lang="en-GB" sz="2300">
                <a:latin typeface="Arial"/>
                <a:ea typeface="Arial"/>
                <a:cs typeface="Arial"/>
                <a:sym typeface="Arial"/>
              </a:rPr>
            </a:br>
            <a:endParaRPr b="0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300">
                <a:latin typeface="Arial"/>
                <a:ea typeface="Arial"/>
                <a:cs typeface="Arial"/>
                <a:sym typeface="Arial"/>
              </a:rPr>
              <a:t>Overview of architecture, index design</a:t>
            </a:r>
            <a:endParaRPr b="0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291" name="Google Shape;291;p15"/>
          <p:cNvSpPr txBox="1"/>
          <p:nvPr>
            <p:ph idx="1" type="subTitle"/>
          </p:nvPr>
        </p:nvSpPr>
        <p:spPr>
          <a:xfrm>
            <a:off x="3299075" y="1199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100">
                <a:latin typeface="Times New Roman"/>
                <a:ea typeface="Times New Roman"/>
                <a:cs typeface="Times New Roman"/>
                <a:sym typeface="Times New Roman"/>
              </a:rPr>
              <a:t>Title</a:t>
            </a:r>
            <a:endParaRPr sz="4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"/>
          <p:cNvSpPr txBox="1"/>
          <p:nvPr>
            <p:ph type="ctrTitle"/>
          </p:nvPr>
        </p:nvSpPr>
        <p:spPr>
          <a:xfrm>
            <a:off x="118225" y="912675"/>
            <a:ext cx="8957100" cy="42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b="0" lang="en-GB" sz="2300">
                <a:latin typeface="Arial"/>
                <a:ea typeface="Arial"/>
                <a:cs typeface="Arial"/>
                <a:sym typeface="Arial"/>
              </a:rPr>
              <a:t>HAKES: a scalable and accurate vector database</a:t>
            </a:r>
            <a:br>
              <a:rPr b="0" lang="en-GB" sz="2300">
                <a:latin typeface="Arial"/>
                <a:ea typeface="Arial"/>
                <a:cs typeface="Arial"/>
                <a:sym typeface="Arial"/>
              </a:rPr>
            </a:br>
            <a:endParaRPr b="0"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b="0" lang="en-GB" sz="2300">
                <a:latin typeface="Arial"/>
                <a:ea typeface="Arial"/>
                <a:cs typeface="Arial"/>
                <a:sym typeface="Arial"/>
              </a:rPr>
              <a:t>Designed for high-dimensional embedding search</a:t>
            </a:r>
            <a:br>
              <a:rPr b="0" lang="en-GB" sz="2300">
                <a:latin typeface="Arial"/>
                <a:ea typeface="Arial"/>
                <a:cs typeface="Arial"/>
                <a:sym typeface="Arial"/>
              </a:rPr>
            </a:br>
            <a:endParaRPr b="0"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b="0" lang="en-GB" sz="2300">
                <a:latin typeface="Arial"/>
                <a:ea typeface="Arial"/>
                <a:cs typeface="Arial"/>
                <a:sym typeface="Arial"/>
              </a:rPr>
              <a:t>Targets applications like RAG and recommendation</a:t>
            </a:r>
            <a:br>
              <a:rPr b="0" lang="en-GB" sz="2300">
                <a:latin typeface="Arial"/>
                <a:ea typeface="Arial"/>
                <a:cs typeface="Arial"/>
                <a:sym typeface="Arial"/>
              </a:rPr>
            </a:br>
            <a:endParaRPr b="0"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b="0" lang="en-GB" sz="2300">
                <a:latin typeface="Arial"/>
                <a:ea typeface="Arial"/>
                <a:cs typeface="Arial"/>
                <a:sym typeface="Arial"/>
              </a:rPr>
              <a:t>Supports concurrent updates and searches</a:t>
            </a:r>
            <a:br>
              <a:rPr b="0" lang="en-GB" sz="2300">
                <a:latin typeface="Arial"/>
                <a:ea typeface="Arial"/>
                <a:cs typeface="Arial"/>
                <a:sym typeface="Arial"/>
              </a:rPr>
            </a:br>
            <a:endParaRPr b="0"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b="0" lang="en-GB" sz="2300">
                <a:latin typeface="Arial"/>
                <a:ea typeface="Arial"/>
                <a:cs typeface="Arial"/>
                <a:sym typeface="Arial"/>
              </a:rPr>
              <a:t>Focused on high recall and throughput</a:t>
            </a:r>
            <a:endParaRPr b="0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297" name="Google Shape;297;p16"/>
          <p:cNvSpPr txBox="1"/>
          <p:nvPr>
            <p:ph idx="1" type="subTitle"/>
          </p:nvPr>
        </p:nvSpPr>
        <p:spPr>
          <a:xfrm>
            <a:off x="2843475" y="217275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sz="3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"/>
          <p:cNvSpPr txBox="1"/>
          <p:nvPr>
            <p:ph type="ctrTitle"/>
          </p:nvPr>
        </p:nvSpPr>
        <p:spPr>
          <a:xfrm>
            <a:off x="50550" y="1101400"/>
            <a:ext cx="7366800" cy="404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-372109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0" lang="en-GB" sz="2511">
                <a:latin typeface="Arial"/>
                <a:ea typeface="Arial"/>
                <a:cs typeface="Arial"/>
                <a:sym typeface="Arial"/>
              </a:rPr>
              <a:t>Explosion in use of deep learning embeddings</a:t>
            </a:r>
            <a:br>
              <a:rPr b="0" lang="en-GB" sz="2511">
                <a:latin typeface="Arial"/>
                <a:ea typeface="Arial"/>
                <a:cs typeface="Arial"/>
                <a:sym typeface="Arial"/>
              </a:rPr>
            </a:br>
            <a:endParaRPr b="0" sz="2511">
              <a:latin typeface="Arial"/>
              <a:ea typeface="Arial"/>
              <a:cs typeface="Arial"/>
              <a:sym typeface="Arial"/>
            </a:endParaRPr>
          </a:p>
          <a:p>
            <a:pPr indent="-372109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0" lang="en-GB" sz="2511">
                <a:latin typeface="Arial"/>
                <a:ea typeface="Arial"/>
                <a:cs typeface="Arial"/>
                <a:sym typeface="Arial"/>
              </a:rPr>
              <a:t>Traditional indexes suffer under scale and concurrency</a:t>
            </a:r>
            <a:br>
              <a:rPr b="0" lang="en-GB" sz="2511">
                <a:latin typeface="Arial"/>
                <a:ea typeface="Arial"/>
                <a:cs typeface="Arial"/>
                <a:sym typeface="Arial"/>
              </a:rPr>
            </a:br>
            <a:endParaRPr b="0" sz="2511">
              <a:latin typeface="Arial"/>
              <a:ea typeface="Arial"/>
              <a:cs typeface="Arial"/>
              <a:sym typeface="Arial"/>
            </a:endParaRPr>
          </a:p>
          <a:p>
            <a:pPr indent="-372109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0" lang="en-GB" sz="2511">
                <a:latin typeface="Arial"/>
                <a:ea typeface="Arial"/>
                <a:cs typeface="Arial"/>
                <a:sym typeface="Arial"/>
              </a:rPr>
              <a:t>Need for fast, accurate, update-friendly ANN search</a:t>
            </a:r>
            <a:br>
              <a:rPr b="0" lang="en-GB" sz="2511">
                <a:latin typeface="Arial"/>
                <a:ea typeface="Arial"/>
                <a:cs typeface="Arial"/>
                <a:sym typeface="Arial"/>
              </a:rPr>
            </a:br>
            <a:endParaRPr b="0" sz="2511">
              <a:latin typeface="Arial"/>
              <a:ea typeface="Arial"/>
              <a:cs typeface="Arial"/>
              <a:sym typeface="Arial"/>
            </a:endParaRPr>
          </a:p>
          <a:p>
            <a:pPr indent="-372109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0" lang="en-GB" sz="2511">
                <a:latin typeface="Arial"/>
                <a:ea typeface="Arial"/>
                <a:cs typeface="Arial"/>
                <a:sym typeface="Arial"/>
              </a:rPr>
              <a:t>Embedding dimensions continue to grow</a:t>
            </a:r>
            <a:br>
              <a:rPr b="0" lang="en-GB" sz="2511">
                <a:latin typeface="Arial"/>
                <a:ea typeface="Arial"/>
                <a:cs typeface="Arial"/>
                <a:sym typeface="Arial"/>
              </a:rPr>
            </a:br>
            <a:endParaRPr b="0" sz="2511">
              <a:latin typeface="Arial"/>
              <a:ea typeface="Arial"/>
              <a:cs typeface="Arial"/>
              <a:sym typeface="Arial"/>
            </a:endParaRPr>
          </a:p>
          <a:p>
            <a:pPr indent="-372109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0" lang="en-GB" sz="2511">
                <a:latin typeface="Arial"/>
                <a:ea typeface="Arial"/>
                <a:cs typeface="Arial"/>
                <a:sym typeface="Arial"/>
              </a:rPr>
              <a:t>Vector DBs must scale across servers</a:t>
            </a:r>
            <a:endParaRPr b="0" sz="251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03" name="Google Shape;303;p17"/>
          <p:cNvSpPr txBox="1"/>
          <p:nvPr>
            <p:ph idx="1" type="subTitle"/>
          </p:nvPr>
        </p:nvSpPr>
        <p:spPr>
          <a:xfrm>
            <a:off x="2949500" y="115975"/>
            <a:ext cx="42555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 b="1" sz="3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8"/>
          <p:cNvSpPr txBox="1"/>
          <p:nvPr>
            <p:ph type="ctrTitle"/>
          </p:nvPr>
        </p:nvSpPr>
        <p:spPr>
          <a:xfrm>
            <a:off x="862650" y="2407088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8"/>
          <p:cNvSpPr txBox="1"/>
          <p:nvPr>
            <p:ph idx="1" type="subTitle"/>
          </p:nvPr>
        </p:nvSpPr>
        <p:spPr>
          <a:xfrm>
            <a:off x="1075125" y="48050"/>
            <a:ext cx="7792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latin typeface="Times New Roman"/>
                <a:ea typeface="Times New Roman"/>
                <a:cs typeface="Times New Roman"/>
                <a:sym typeface="Times New Roman"/>
              </a:rPr>
              <a:t>Vector database in retrieval augmented generation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0" name="Google Shape;3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64282"/>
            <a:ext cx="9143999" cy="3299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9"/>
          <p:cNvSpPr txBox="1"/>
          <p:nvPr>
            <p:ph type="ctrTitle"/>
          </p:nvPr>
        </p:nvSpPr>
        <p:spPr>
          <a:xfrm>
            <a:off x="125" y="699975"/>
            <a:ext cx="9144000" cy="444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b="0" lang="en-GB" sz="2300">
                <a:latin typeface="Arial"/>
                <a:ea typeface="Arial"/>
                <a:cs typeface="Arial"/>
                <a:sym typeface="Arial"/>
              </a:rPr>
              <a:t>Embeddings live in high-dimensional vector space</a:t>
            </a:r>
            <a:br>
              <a:rPr b="0" lang="en-GB" sz="2300">
                <a:latin typeface="Arial"/>
                <a:ea typeface="Arial"/>
                <a:cs typeface="Arial"/>
                <a:sym typeface="Arial"/>
              </a:rPr>
            </a:br>
            <a:endParaRPr b="0"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b="0" lang="en-GB" sz="2300">
                <a:latin typeface="Arial"/>
                <a:ea typeface="Arial"/>
                <a:cs typeface="Arial"/>
                <a:sym typeface="Arial"/>
              </a:rPr>
              <a:t>Exact NN search is expensive → use Approximate NN</a:t>
            </a:r>
            <a:br>
              <a:rPr b="0" lang="en-GB" sz="2300">
                <a:latin typeface="Arial"/>
                <a:ea typeface="Arial"/>
                <a:cs typeface="Arial"/>
                <a:sym typeface="Arial"/>
              </a:rPr>
            </a:br>
            <a:endParaRPr b="0"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b="0" lang="en-GB" sz="2300">
                <a:latin typeface="Arial"/>
                <a:ea typeface="Arial"/>
                <a:cs typeface="Arial"/>
                <a:sym typeface="Arial"/>
              </a:rPr>
              <a:t>Measures: inner product, cosine, Euclidean</a:t>
            </a:r>
            <a:br>
              <a:rPr b="0" lang="en-GB" sz="2300">
                <a:latin typeface="Arial"/>
                <a:ea typeface="Arial"/>
                <a:cs typeface="Arial"/>
                <a:sym typeface="Arial"/>
              </a:rPr>
            </a:br>
            <a:endParaRPr b="0"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b="0" lang="en-GB" sz="2300">
                <a:latin typeface="Arial"/>
                <a:ea typeface="Arial"/>
                <a:cs typeface="Arial"/>
                <a:sym typeface="Arial"/>
              </a:rPr>
              <a:t>Recall used to evaluate ANN quality</a:t>
            </a:r>
            <a:br>
              <a:rPr b="0" lang="en-GB" sz="2300">
                <a:latin typeface="Arial"/>
                <a:ea typeface="Arial"/>
                <a:cs typeface="Arial"/>
                <a:sym typeface="Arial"/>
              </a:rPr>
            </a:br>
            <a:endParaRPr b="0"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b="0" lang="en-GB" sz="2300">
                <a:latin typeface="Arial"/>
                <a:ea typeface="Arial"/>
                <a:cs typeface="Arial"/>
                <a:sym typeface="Arial"/>
              </a:rPr>
              <a:t>ANN indexes aim for speed vs recall balance</a:t>
            </a:r>
            <a:endParaRPr b="0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/>
          </a:p>
        </p:txBody>
      </p:sp>
      <p:sp>
        <p:nvSpPr>
          <p:cNvPr id="316" name="Google Shape;316;p19"/>
          <p:cNvSpPr txBox="1"/>
          <p:nvPr>
            <p:ph idx="1" type="subTitle"/>
          </p:nvPr>
        </p:nvSpPr>
        <p:spPr>
          <a:xfrm>
            <a:off x="2999350" y="202775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00">
                <a:latin typeface="Times New Roman"/>
                <a:ea typeface="Times New Roman"/>
                <a:cs typeface="Times New Roman"/>
                <a:sym typeface="Times New Roman"/>
              </a:rPr>
              <a:t>ANN Search</a:t>
            </a:r>
            <a:endParaRPr b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0"/>
          <p:cNvSpPr txBox="1"/>
          <p:nvPr>
            <p:ph type="ctrTitle"/>
          </p:nvPr>
        </p:nvSpPr>
        <p:spPr>
          <a:xfrm>
            <a:off x="5755825" y="1461250"/>
            <a:ext cx="45552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Hierarchical structure</a:t>
            </a:r>
            <a:br>
              <a:rPr lang="en-GB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Beam search with greedy traversal</a:t>
            </a:r>
            <a:br>
              <a:rPr lang="en-GB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Costly updates and locking</a:t>
            </a:r>
            <a:br>
              <a:rPr lang="en-GB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Good for high-recall reads</a:t>
            </a:r>
            <a:br>
              <a:rPr lang="en-GB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Example: HNSW structure diagram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22" name="Google Shape;322;p20"/>
          <p:cNvSpPr txBox="1"/>
          <p:nvPr>
            <p:ph idx="1" type="subTitle"/>
          </p:nvPr>
        </p:nvSpPr>
        <p:spPr>
          <a:xfrm>
            <a:off x="2535275" y="13535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latin typeface="Times New Roman"/>
                <a:ea typeface="Times New Roman"/>
                <a:cs typeface="Times New Roman"/>
                <a:sym typeface="Times New Roman"/>
              </a:rPr>
              <a:t>Graph-based ANN index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3" name="Google Shape;32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375" y="925175"/>
            <a:ext cx="5512924" cy="316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1"/>
          <p:cNvSpPr txBox="1"/>
          <p:nvPr>
            <p:ph type="ctrTitle"/>
          </p:nvPr>
        </p:nvSpPr>
        <p:spPr>
          <a:xfrm>
            <a:off x="5444025" y="1814650"/>
            <a:ext cx="4527000" cy="19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K-means clustering → IVF</a:t>
            </a:r>
            <a:br>
              <a:rPr lang="en-GB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Product Quantization → compressed 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                                           vectors</a:t>
            </a:r>
            <a:br>
              <a:rPr lang="en-GB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Fast similarity approximation</a:t>
            </a:r>
            <a:br>
              <a:rPr lang="en-GB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High throughput using SIMD</a:t>
            </a:r>
            <a:br>
              <a:rPr lang="en-GB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Used together for scalability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29" name="Google Shape;329;p21"/>
          <p:cNvSpPr txBox="1"/>
          <p:nvPr>
            <p:ph idx="1" type="subTitle"/>
          </p:nvPr>
        </p:nvSpPr>
        <p:spPr>
          <a:xfrm>
            <a:off x="1946875" y="67375"/>
            <a:ext cx="5482500" cy="9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latin typeface="Times New Roman"/>
                <a:ea typeface="Times New Roman"/>
                <a:cs typeface="Times New Roman"/>
                <a:sym typeface="Times New Roman"/>
              </a:rPr>
              <a:t>Partitioning-based ANN index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0" name="Google Shape;33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22200"/>
            <a:ext cx="5609499" cy="217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2"/>
          <p:cNvSpPr txBox="1"/>
          <p:nvPr>
            <p:ph type="ctrTitle"/>
          </p:nvPr>
        </p:nvSpPr>
        <p:spPr>
          <a:xfrm>
            <a:off x="2370900" y="158575"/>
            <a:ext cx="4157100" cy="88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HAKES-Index overview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" name="Google Shape;336;p2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7" name="Google Shape;33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02175"/>
            <a:ext cx="9143999" cy="356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/>
          <p:nvPr>
            <p:ph type="ctrTitle"/>
          </p:nvPr>
        </p:nvSpPr>
        <p:spPr>
          <a:xfrm>
            <a:off x="62600" y="482000"/>
            <a:ext cx="9041400" cy="466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311">
                <a:latin typeface="Arial"/>
                <a:ea typeface="Arial"/>
                <a:cs typeface="Arial"/>
                <a:sym typeface="Arial"/>
              </a:rPr>
              <a:t>1. Search Index Parameters (Top Section):</a:t>
            </a:r>
            <a:endParaRPr sz="1311">
              <a:latin typeface="Arial"/>
              <a:ea typeface="Arial"/>
              <a:cs typeface="Arial"/>
              <a:sym typeface="Arial"/>
            </a:endParaRPr>
          </a:p>
          <a:p>
            <a:pPr indent="-303529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-GB" sz="1311">
                <a:latin typeface="Arial"/>
                <a:ea typeface="Arial"/>
                <a:cs typeface="Arial"/>
                <a:sym typeface="Arial"/>
              </a:rPr>
              <a:t>Dimension Reduction</a:t>
            </a:r>
            <a:r>
              <a:rPr b="0" lang="en-GB" sz="1311">
                <a:latin typeface="Arial"/>
                <a:ea typeface="Arial"/>
                <a:cs typeface="Arial"/>
                <a:sym typeface="Arial"/>
              </a:rPr>
              <a:t>: A learned transformation reduces the dimensionality of the query vector.</a:t>
            </a:r>
            <a:br>
              <a:rPr b="0" lang="en-GB" sz="1311">
                <a:latin typeface="Arial"/>
                <a:ea typeface="Arial"/>
                <a:cs typeface="Arial"/>
                <a:sym typeface="Arial"/>
              </a:rPr>
            </a:br>
            <a:endParaRPr b="0" sz="1311">
              <a:latin typeface="Arial"/>
              <a:ea typeface="Arial"/>
              <a:cs typeface="Arial"/>
              <a:sym typeface="Arial"/>
            </a:endParaRPr>
          </a:p>
          <a:p>
            <a:pPr indent="-30352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-GB" sz="1311">
                <a:latin typeface="Arial"/>
                <a:ea typeface="Arial"/>
                <a:cs typeface="Arial"/>
                <a:sym typeface="Arial"/>
              </a:rPr>
              <a:t>IVF Centroids</a:t>
            </a:r>
            <a:r>
              <a:rPr b="0" lang="en-GB" sz="1311">
                <a:latin typeface="Arial"/>
                <a:ea typeface="Arial"/>
                <a:cs typeface="Arial"/>
                <a:sym typeface="Arial"/>
              </a:rPr>
              <a:t>: Inverted File (IVF) centroids help partition the vector space for fast lookup.</a:t>
            </a:r>
            <a:br>
              <a:rPr b="0" lang="en-GB" sz="1311">
                <a:latin typeface="Arial"/>
                <a:ea typeface="Arial"/>
                <a:cs typeface="Arial"/>
                <a:sym typeface="Arial"/>
              </a:rPr>
            </a:br>
            <a:endParaRPr b="0" sz="1311">
              <a:latin typeface="Arial"/>
              <a:ea typeface="Arial"/>
              <a:cs typeface="Arial"/>
              <a:sym typeface="Arial"/>
            </a:endParaRPr>
          </a:p>
          <a:p>
            <a:pPr indent="-30352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-GB" sz="1311">
                <a:latin typeface="Arial"/>
                <a:ea typeface="Arial"/>
                <a:cs typeface="Arial"/>
                <a:sym typeface="Arial"/>
              </a:rPr>
              <a:t>PQ Codebooks</a:t>
            </a:r>
            <a:r>
              <a:rPr b="0" lang="en-GB" sz="1311">
                <a:latin typeface="Arial"/>
                <a:ea typeface="Arial"/>
                <a:cs typeface="Arial"/>
                <a:sym typeface="Arial"/>
              </a:rPr>
              <a:t>: Product Quantization (PQ) codebooks are used to compress vectors for fast search.</a:t>
            </a:r>
            <a:br>
              <a:rPr b="0" lang="en-GB" sz="1311">
                <a:latin typeface="Arial"/>
                <a:ea typeface="Arial"/>
                <a:cs typeface="Arial"/>
                <a:sym typeface="Arial"/>
              </a:rPr>
            </a:br>
            <a:endParaRPr b="0" sz="131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311">
                <a:latin typeface="Arial"/>
                <a:ea typeface="Arial"/>
                <a:cs typeface="Arial"/>
                <a:sym typeface="Arial"/>
              </a:rPr>
              <a:t>2. Insert Index Parameters (Bottom Section):</a:t>
            </a:r>
            <a:endParaRPr sz="1311">
              <a:latin typeface="Arial"/>
              <a:ea typeface="Arial"/>
              <a:cs typeface="Arial"/>
              <a:sym typeface="Arial"/>
            </a:endParaRPr>
          </a:p>
          <a:p>
            <a:pPr indent="-303529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0" lang="en-GB" sz="1311">
                <a:latin typeface="Arial"/>
                <a:ea typeface="Arial"/>
                <a:cs typeface="Arial"/>
                <a:sym typeface="Arial"/>
              </a:rPr>
              <a:t>Similar to the search parameters, but with a separate (possibly less optimized) set of components dedicated for efficient and incremental vector </a:t>
            </a:r>
            <a:r>
              <a:rPr lang="en-GB" sz="1311">
                <a:latin typeface="Arial"/>
                <a:ea typeface="Arial"/>
                <a:cs typeface="Arial"/>
                <a:sym typeface="Arial"/>
              </a:rPr>
              <a:t>insertion</a:t>
            </a:r>
            <a:r>
              <a:rPr b="0" lang="en-GB" sz="1311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lang="en-GB" sz="1311">
                <a:latin typeface="Arial"/>
                <a:ea typeface="Arial"/>
                <a:cs typeface="Arial"/>
                <a:sym typeface="Arial"/>
              </a:rPr>
            </a:br>
            <a:endParaRPr b="0" sz="131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311">
                <a:latin typeface="Arial"/>
                <a:ea typeface="Arial"/>
                <a:cs typeface="Arial"/>
                <a:sym typeface="Arial"/>
              </a:rPr>
              <a:t>3. Partitions of Compressed Vectors:</a:t>
            </a:r>
            <a:endParaRPr sz="1311">
              <a:latin typeface="Arial"/>
              <a:ea typeface="Arial"/>
              <a:cs typeface="Arial"/>
              <a:sym typeface="Arial"/>
            </a:endParaRPr>
          </a:p>
          <a:p>
            <a:pPr indent="-303529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0" lang="en-GB" sz="1311">
                <a:latin typeface="Arial"/>
                <a:ea typeface="Arial"/>
                <a:cs typeface="Arial"/>
                <a:sym typeface="Arial"/>
              </a:rPr>
              <a:t>After quantization, vectors are stored in partitions based on IVF assignments and compressed using PQ.</a:t>
            </a:r>
            <a:br>
              <a:rPr b="0" lang="en-GB" sz="1311">
                <a:latin typeface="Arial"/>
                <a:ea typeface="Arial"/>
                <a:cs typeface="Arial"/>
                <a:sym typeface="Arial"/>
              </a:rPr>
            </a:br>
            <a:endParaRPr b="0" sz="131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311">
                <a:latin typeface="Arial"/>
                <a:ea typeface="Arial"/>
                <a:cs typeface="Arial"/>
                <a:sym typeface="Arial"/>
              </a:rPr>
              <a:t>4. Full Vectors:</a:t>
            </a:r>
            <a:endParaRPr sz="1311">
              <a:latin typeface="Arial"/>
              <a:ea typeface="Arial"/>
              <a:cs typeface="Arial"/>
              <a:sym typeface="Arial"/>
            </a:endParaRPr>
          </a:p>
          <a:p>
            <a:pPr indent="-2914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83898"/>
              <a:buFont typeface="Arial"/>
              <a:buChar char="●"/>
            </a:pPr>
            <a:r>
              <a:rPr b="0" lang="en-GB" sz="1311">
                <a:latin typeface="Arial"/>
                <a:ea typeface="Arial"/>
                <a:cs typeface="Arial"/>
                <a:sym typeface="Arial"/>
              </a:rPr>
              <a:t>The system also stores full (original or high-fidelity) vectors, used for </a:t>
            </a:r>
            <a:r>
              <a:rPr lang="en-GB" sz="1311">
                <a:latin typeface="Arial"/>
                <a:ea typeface="Arial"/>
                <a:cs typeface="Arial"/>
                <a:sym typeface="Arial"/>
              </a:rPr>
              <a:t>refinement</a:t>
            </a:r>
            <a:r>
              <a:rPr b="0" lang="en-GB" sz="1311">
                <a:latin typeface="Arial"/>
                <a:ea typeface="Arial"/>
                <a:cs typeface="Arial"/>
                <a:sym typeface="Arial"/>
              </a:rPr>
              <a:t> in the final search stage or insertion.</a:t>
            </a:r>
            <a:br>
              <a:rPr b="0" lang="en-GB" sz="1100">
                <a:latin typeface="Arial"/>
                <a:ea typeface="Arial"/>
                <a:cs typeface="Arial"/>
                <a:sym typeface="Arial"/>
              </a:rPr>
            </a:br>
            <a:endParaRPr b="0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3"/>
          <p:cNvSpPr txBox="1"/>
          <p:nvPr>
            <p:ph idx="1" type="subTitle"/>
          </p:nvPr>
        </p:nvSpPr>
        <p:spPr>
          <a:xfrm>
            <a:off x="2283575" y="-67425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 New Roman"/>
                <a:ea typeface="Times New Roman"/>
                <a:cs typeface="Times New Roman"/>
                <a:sym typeface="Times New Roman"/>
              </a:rPr>
              <a:t>HAKES-Index overview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4"/>
          <p:cNvSpPr txBox="1"/>
          <p:nvPr>
            <p:ph type="ctrTitle"/>
          </p:nvPr>
        </p:nvSpPr>
        <p:spPr>
          <a:xfrm>
            <a:off x="60200" y="1381800"/>
            <a:ext cx="7917900" cy="3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1.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Reduce Dimension: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b="0" lang="en-GB" sz="1400">
                <a:latin typeface="Arial"/>
                <a:ea typeface="Arial"/>
                <a:cs typeface="Arial"/>
                <a:sym typeface="Arial"/>
              </a:rPr>
              <a:t>The incoming 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query vector</a:t>
            </a:r>
            <a:r>
              <a:rPr b="0" lang="en-GB" sz="1400">
                <a:latin typeface="Arial"/>
                <a:ea typeface="Arial"/>
                <a:cs typeface="Arial"/>
                <a:sym typeface="Arial"/>
              </a:rPr>
              <a:t> (red) is reduced in dimension using a trained model.</a:t>
            </a:r>
            <a:br>
              <a:rPr b="0" lang="en-GB" sz="1400">
                <a:latin typeface="Arial"/>
                <a:ea typeface="Arial"/>
                <a:cs typeface="Arial"/>
                <a:sym typeface="Arial"/>
              </a:rPr>
            </a:br>
            <a:endParaRPr b="0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2. Compute LUT (Look-Up Table):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b="0" lang="en-GB" sz="1400">
                <a:latin typeface="Arial"/>
                <a:ea typeface="Arial"/>
                <a:cs typeface="Arial"/>
                <a:sym typeface="Arial"/>
              </a:rPr>
              <a:t>A LUT is computed using PQ codebooks and the reduced query. This speeds up distance calculations during search.</a:t>
            </a:r>
            <a:br>
              <a:rPr b="0" lang="en-GB" sz="1400">
                <a:latin typeface="Arial"/>
                <a:ea typeface="Arial"/>
                <a:cs typeface="Arial"/>
                <a:sym typeface="Arial"/>
              </a:rPr>
            </a:br>
            <a:endParaRPr b="0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3. Scan Selected Partitions: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b="0" lang="en-GB" sz="1400">
                <a:latin typeface="Arial"/>
                <a:ea typeface="Arial"/>
                <a:cs typeface="Arial"/>
                <a:sym typeface="Arial"/>
              </a:rPr>
              <a:t>IVF centroids identify the most relevant partitions (based on proximity to the query). Only those are scanned using PQ distance approximation from the LUT.</a:t>
            </a:r>
            <a:br>
              <a:rPr b="0" lang="en-GB" sz="1400">
                <a:latin typeface="Arial"/>
                <a:ea typeface="Arial"/>
                <a:cs typeface="Arial"/>
                <a:sym typeface="Arial"/>
              </a:rPr>
            </a:br>
            <a:endParaRPr b="0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4. Refine to TopK: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0" lang="en-GB" sz="1400">
                <a:latin typeface="Arial"/>
                <a:ea typeface="Arial"/>
                <a:cs typeface="Arial"/>
                <a:sym typeface="Arial"/>
              </a:rPr>
              <a:t>From the approximate matches, a shortlist is created. Then, 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full vectors</a:t>
            </a:r>
            <a:r>
              <a:rPr b="0" lang="en-GB" sz="1400">
                <a:latin typeface="Arial"/>
                <a:ea typeface="Arial"/>
                <a:cs typeface="Arial"/>
                <a:sym typeface="Arial"/>
              </a:rPr>
              <a:t> are used to re-rank candidates using accurate distances to retrieve the final Top-K nearest neighbors.</a:t>
            </a:r>
            <a:br>
              <a:rPr b="0" lang="en-GB" sz="1300">
                <a:latin typeface="Arial"/>
                <a:ea typeface="Arial"/>
                <a:cs typeface="Arial"/>
                <a:sym typeface="Arial"/>
              </a:rPr>
            </a:br>
            <a:endParaRPr b="0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349" name="Google Shape;349;p24"/>
          <p:cNvSpPr txBox="1"/>
          <p:nvPr>
            <p:ph idx="1" type="subTitle"/>
          </p:nvPr>
        </p:nvSpPr>
        <p:spPr>
          <a:xfrm>
            <a:off x="2298175" y="-12805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 New Roman"/>
                <a:ea typeface="Times New Roman"/>
                <a:cs typeface="Times New Roman"/>
                <a:sym typeface="Times New Roman"/>
              </a:rPr>
              <a:t>Search Workflow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5"/>
          <p:cNvSpPr txBox="1"/>
          <p:nvPr>
            <p:ph type="ctrTitle"/>
          </p:nvPr>
        </p:nvSpPr>
        <p:spPr>
          <a:xfrm>
            <a:off x="0" y="1062525"/>
            <a:ext cx="9144000" cy="398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744"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GB" sz="1744">
                <a:latin typeface="Arial"/>
                <a:ea typeface="Arial"/>
                <a:cs typeface="Arial"/>
                <a:sym typeface="Arial"/>
              </a:rPr>
              <a:t>Reduce Dimension:</a:t>
            </a:r>
            <a:endParaRPr sz="1744">
              <a:latin typeface="Arial"/>
              <a:ea typeface="Arial"/>
              <a:cs typeface="Arial"/>
              <a:sym typeface="Arial"/>
            </a:endParaRPr>
          </a:p>
          <a:p>
            <a:pPr indent="-328294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0" lang="en-GB" sz="1744">
                <a:latin typeface="Arial"/>
                <a:ea typeface="Arial"/>
                <a:cs typeface="Arial"/>
                <a:sym typeface="Arial"/>
              </a:rPr>
              <a:t>Similar to search, the new vector is first reduced in dimensionality.</a:t>
            </a:r>
            <a:br>
              <a:rPr b="0" lang="en-GB" sz="1744">
                <a:latin typeface="Arial"/>
                <a:ea typeface="Arial"/>
                <a:cs typeface="Arial"/>
                <a:sym typeface="Arial"/>
              </a:rPr>
            </a:br>
            <a:endParaRPr b="0" sz="1744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744">
                <a:latin typeface="Arial"/>
                <a:ea typeface="Arial"/>
                <a:cs typeface="Arial"/>
                <a:sym typeface="Arial"/>
              </a:rPr>
              <a:t>2. Quantize Vector:</a:t>
            </a:r>
            <a:endParaRPr sz="1744">
              <a:latin typeface="Arial"/>
              <a:ea typeface="Arial"/>
              <a:cs typeface="Arial"/>
              <a:sym typeface="Arial"/>
            </a:endParaRPr>
          </a:p>
          <a:p>
            <a:pPr indent="-328294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0" lang="en-GB" sz="1744">
                <a:latin typeface="Arial"/>
                <a:ea typeface="Arial"/>
                <a:cs typeface="Arial"/>
                <a:sym typeface="Arial"/>
              </a:rPr>
              <a:t>The reduced vector is quantized using the PQ codebooks, creating a compressed representation.</a:t>
            </a:r>
            <a:br>
              <a:rPr b="0" lang="en-GB" sz="1744">
                <a:latin typeface="Arial"/>
                <a:ea typeface="Arial"/>
                <a:cs typeface="Arial"/>
                <a:sym typeface="Arial"/>
              </a:rPr>
            </a:br>
            <a:endParaRPr b="0" sz="1744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744">
                <a:latin typeface="Arial"/>
                <a:ea typeface="Arial"/>
                <a:cs typeface="Arial"/>
                <a:sym typeface="Arial"/>
              </a:rPr>
              <a:t>3. Append to Selected Partition and Full Vectors:</a:t>
            </a:r>
            <a:endParaRPr sz="1744">
              <a:latin typeface="Arial"/>
              <a:ea typeface="Arial"/>
              <a:cs typeface="Arial"/>
              <a:sym typeface="Arial"/>
            </a:endParaRPr>
          </a:p>
          <a:p>
            <a:pPr indent="-328294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0" lang="en-GB" sz="1744">
                <a:latin typeface="Arial"/>
                <a:ea typeface="Arial"/>
                <a:cs typeface="Arial"/>
                <a:sym typeface="Arial"/>
              </a:rPr>
              <a:t>The compressed vector is assigned to the correct IVF partition and appended to the corresponding storage.</a:t>
            </a:r>
            <a:br>
              <a:rPr b="0" lang="en-GB" sz="1744">
                <a:latin typeface="Arial"/>
                <a:ea typeface="Arial"/>
                <a:cs typeface="Arial"/>
                <a:sym typeface="Arial"/>
              </a:rPr>
            </a:br>
            <a:endParaRPr b="0" sz="1744">
              <a:latin typeface="Arial"/>
              <a:ea typeface="Arial"/>
              <a:cs typeface="Arial"/>
              <a:sym typeface="Arial"/>
            </a:endParaRPr>
          </a:p>
          <a:p>
            <a:pPr indent="-31559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87261"/>
              <a:buFont typeface="Arial"/>
              <a:buChar char="●"/>
            </a:pPr>
            <a:r>
              <a:rPr b="0" lang="en-GB" sz="1744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GB" sz="1744">
                <a:latin typeface="Arial"/>
                <a:ea typeface="Arial"/>
                <a:cs typeface="Arial"/>
                <a:sym typeface="Arial"/>
              </a:rPr>
              <a:t>full version</a:t>
            </a:r>
            <a:r>
              <a:rPr b="0" lang="en-GB" sz="1744">
                <a:latin typeface="Arial"/>
                <a:ea typeface="Arial"/>
                <a:cs typeface="Arial"/>
                <a:sym typeface="Arial"/>
              </a:rPr>
              <a:t> of the vector is also stored for future refinement during search.</a:t>
            </a:r>
            <a:br>
              <a:rPr b="0" lang="en-GB" sz="1522">
                <a:latin typeface="Arial"/>
                <a:ea typeface="Arial"/>
                <a:cs typeface="Arial"/>
                <a:sym typeface="Arial"/>
              </a:rPr>
            </a:br>
            <a:endParaRPr b="0" sz="1522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55" name="Google Shape;355;p25"/>
          <p:cNvSpPr txBox="1"/>
          <p:nvPr>
            <p:ph idx="1" type="subTitle"/>
          </p:nvPr>
        </p:nvSpPr>
        <p:spPr>
          <a:xfrm>
            <a:off x="2670650" y="964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 New Roman"/>
                <a:ea typeface="Times New Roman"/>
                <a:cs typeface="Times New Roman"/>
                <a:sym typeface="Times New Roman"/>
              </a:rPr>
              <a:t>Insert Workflow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6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6"/>
          <p:cNvSpPr txBox="1"/>
          <p:nvPr>
            <p:ph idx="1" type="subTitle"/>
          </p:nvPr>
        </p:nvSpPr>
        <p:spPr>
          <a:xfrm>
            <a:off x="2206575" y="164075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latin typeface="Times New Roman"/>
                <a:ea typeface="Times New Roman"/>
                <a:cs typeface="Times New Roman"/>
                <a:sym typeface="Times New Roman"/>
              </a:rPr>
              <a:t>End-to-end index construction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2" name="Google Shape;36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17975"/>
            <a:ext cx="9143999" cy="381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7"/>
          <p:cNvSpPr txBox="1"/>
          <p:nvPr>
            <p:ph type="ctrTitle"/>
          </p:nvPr>
        </p:nvSpPr>
        <p:spPr>
          <a:xfrm>
            <a:off x="0" y="1083000"/>
            <a:ext cx="9144000" cy="40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Step 1: Initialize Index Parameters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OPQ (Optimized Product Quantization)</a:t>
            </a:r>
            <a:r>
              <a:rPr b="0" lang="en-GB" sz="15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k-means clustering</a:t>
            </a:r>
            <a:r>
              <a:rPr b="0" lang="en-GB" sz="1500">
                <a:latin typeface="Arial"/>
                <a:ea typeface="Arial"/>
                <a:cs typeface="Arial"/>
                <a:sym typeface="Arial"/>
              </a:rPr>
              <a:t> are initialized.</a:t>
            </a:r>
            <a:br>
              <a:rPr b="0" lang="en-GB" sz="1500">
                <a:latin typeface="Arial"/>
                <a:ea typeface="Arial"/>
                <a:cs typeface="Arial"/>
                <a:sym typeface="Arial"/>
              </a:rPr>
            </a:br>
            <a:endParaRPr b="0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b="0" lang="en-GB" sz="1500">
                <a:latin typeface="Arial"/>
                <a:ea typeface="Arial"/>
                <a:cs typeface="Arial"/>
                <a:sym typeface="Arial"/>
              </a:rPr>
              <a:t>OPQ: Applies rotation and dimensional reordering for better compression.</a:t>
            </a:r>
            <a:br>
              <a:rPr b="0" lang="en-GB" sz="1500">
                <a:latin typeface="Arial"/>
                <a:ea typeface="Arial"/>
                <a:cs typeface="Arial"/>
                <a:sym typeface="Arial"/>
              </a:rPr>
            </a:br>
            <a:endParaRPr b="0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b="0" lang="en-GB" sz="1500">
                <a:latin typeface="Arial"/>
                <a:ea typeface="Arial"/>
                <a:cs typeface="Arial"/>
                <a:sym typeface="Arial"/>
              </a:rPr>
              <a:t>k-means: Used to compute 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IVF centroids</a:t>
            </a:r>
            <a:r>
              <a:rPr b="0" lang="en-GB" sz="1500">
                <a:latin typeface="Arial"/>
                <a:ea typeface="Arial"/>
                <a:cs typeface="Arial"/>
                <a:sym typeface="Arial"/>
              </a:rPr>
              <a:t> (coarse clusters) from raw data vectors.</a:t>
            </a:r>
            <a:br>
              <a:rPr b="0" lang="en-GB" sz="1500">
                <a:latin typeface="Arial"/>
                <a:ea typeface="Arial"/>
                <a:cs typeface="Arial"/>
                <a:sym typeface="Arial"/>
              </a:rPr>
            </a:br>
            <a:endParaRPr b="0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Step 2: Index the Dataset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b="0" lang="en-GB" sz="1500">
                <a:latin typeface="Arial"/>
                <a:ea typeface="Arial"/>
                <a:cs typeface="Arial"/>
                <a:sym typeface="Arial"/>
              </a:rPr>
              <a:t>The dataset is 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clustered</a:t>
            </a:r>
            <a:r>
              <a:rPr b="0" lang="en-GB" sz="1500">
                <a:latin typeface="Arial"/>
                <a:ea typeface="Arial"/>
                <a:cs typeface="Arial"/>
                <a:sym typeface="Arial"/>
              </a:rPr>
              <a:t> into IVF cells (coarse centroids) using k-means.</a:t>
            </a:r>
            <a:br>
              <a:rPr b="0" lang="en-GB" sz="1500">
                <a:latin typeface="Arial"/>
                <a:ea typeface="Arial"/>
                <a:cs typeface="Arial"/>
                <a:sym typeface="Arial"/>
              </a:rPr>
            </a:br>
            <a:endParaRPr b="0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b="0" lang="en-GB" sz="1500">
                <a:latin typeface="Arial"/>
                <a:ea typeface="Arial"/>
                <a:cs typeface="Arial"/>
                <a:sym typeface="Arial"/>
              </a:rPr>
              <a:t>Each vector is 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assigned to the nearest centroid</a:t>
            </a:r>
            <a:r>
              <a:rPr b="0" lang="en-GB" sz="15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lang="en-GB" sz="1500">
                <a:latin typeface="Arial"/>
                <a:ea typeface="Arial"/>
                <a:cs typeface="Arial"/>
                <a:sym typeface="Arial"/>
              </a:rPr>
            </a:br>
            <a:endParaRPr b="0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b="0" lang="en-GB" sz="1500">
                <a:latin typeface="Arial"/>
                <a:ea typeface="Arial"/>
                <a:cs typeface="Arial"/>
                <a:sym typeface="Arial"/>
              </a:rPr>
              <a:t>Inside each cell, 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PQ codebooks</a:t>
            </a:r>
            <a:r>
              <a:rPr b="0" lang="en-GB" sz="1500">
                <a:latin typeface="Arial"/>
                <a:ea typeface="Arial"/>
                <a:cs typeface="Arial"/>
                <a:sym typeface="Arial"/>
              </a:rPr>
              <a:t> (sub-vector quantizers) are created to compress and store data vectors.</a:t>
            </a:r>
            <a:endParaRPr b="0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368" name="Google Shape;368;p27"/>
          <p:cNvSpPr txBox="1"/>
          <p:nvPr>
            <p:ph idx="1" type="subTitle"/>
          </p:nvPr>
        </p:nvSpPr>
        <p:spPr>
          <a:xfrm>
            <a:off x="2738325" y="222325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 New Roman"/>
                <a:ea typeface="Times New Roman"/>
                <a:cs typeface="Times New Roman"/>
                <a:sym typeface="Times New Roman"/>
              </a:rPr>
              <a:t>Build Base Index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8"/>
          <p:cNvSpPr txBox="1"/>
          <p:nvPr>
            <p:ph type="ctrTitle"/>
          </p:nvPr>
        </p:nvSpPr>
        <p:spPr>
          <a:xfrm>
            <a:off x="0" y="961025"/>
            <a:ext cx="9144000" cy="41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72">
                <a:latin typeface="Arial"/>
                <a:ea typeface="Arial"/>
                <a:cs typeface="Arial"/>
                <a:sym typeface="Arial"/>
              </a:rPr>
              <a:t>Step 3. Sample Data and Retrieve ANNs</a:t>
            </a:r>
            <a:endParaRPr sz="1772">
              <a:latin typeface="Arial"/>
              <a:ea typeface="Arial"/>
              <a:cs typeface="Arial"/>
              <a:sym typeface="Arial"/>
            </a:endParaRPr>
          </a:p>
          <a:p>
            <a:pPr indent="-32988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0" lang="en-GB" sz="1772">
                <a:latin typeface="Arial"/>
                <a:ea typeface="Arial"/>
                <a:cs typeface="Arial"/>
                <a:sym typeface="Arial"/>
              </a:rPr>
              <a:t>A subset of the full dataset is randomly </a:t>
            </a:r>
            <a:r>
              <a:rPr lang="en-GB" sz="1772">
                <a:latin typeface="Arial"/>
                <a:ea typeface="Arial"/>
                <a:cs typeface="Arial"/>
                <a:sym typeface="Arial"/>
              </a:rPr>
              <a:t>sampled</a:t>
            </a:r>
            <a:r>
              <a:rPr b="0" lang="en-GB" sz="1772">
                <a:latin typeface="Arial"/>
                <a:ea typeface="Arial"/>
                <a:cs typeface="Arial"/>
                <a:sym typeface="Arial"/>
              </a:rPr>
              <a:t> to use as training data.</a:t>
            </a:r>
            <a:br>
              <a:rPr b="0" lang="en-GB" sz="1772">
                <a:latin typeface="Arial"/>
                <a:ea typeface="Arial"/>
                <a:cs typeface="Arial"/>
                <a:sym typeface="Arial"/>
              </a:rPr>
            </a:br>
            <a:endParaRPr b="0" sz="1772">
              <a:latin typeface="Arial"/>
              <a:ea typeface="Arial"/>
              <a:cs typeface="Arial"/>
              <a:sym typeface="Arial"/>
            </a:endParaRPr>
          </a:p>
          <a:p>
            <a:pPr indent="-3298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0" lang="en-GB" sz="1772">
                <a:latin typeface="Arial"/>
                <a:ea typeface="Arial"/>
                <a:cs typeface="Arial"/>
                <a:sym typeface="Arial"/>
              </a:rPr>
              <a:t>For each sampled vector, its </a:t>
            </a:r>
            <a:r>
              <a:rPr lang="en-GB" sz="1772">
                <a:latin typeface="Arial"/>
                <a:ea typeface="Arial"/>
                <a:cs typeface="Arial"/>
                <a:sym typeface="Arial"/>
              </a:rPr>
              <a:t>approximate nearest neighbors (ANNs)</a:t>
            </a:r>
            <a:r>
              <a:rPr b="0" lang="en-GB" sz="1772">
                <a:latin typeface="Arial"/>
                <a:ea typeface="Arial"/>
                <a:cs typeface="Arial"/>
                <a:sym typeface="Arial"/>
              </a:rPr>
              <a:t> are retrieved from the base index.</a:t>
            </a:r>
            <a:br>
              <a:rPr b="0" lang="en-GB" sz="1772">
                <a:latin typeface="Arial"/>
                <a:ea typeface="Arial"/>
                <a:cs typeface="Arial"/>
                <a:sym typeface="Arial"/>
              </a:rPr>
            </a:br>
            <a:endParaRPr b="0" sz="1772">
              <a:latin typeface="Arial"/>
              <a:ea typeface="Arial"/>
              <a:cs typeface="Arial"/>
              <a:sym typeface="Arial"/>
            </a:endParaRPr>
          </a:p>
          <a:p>
            <a:pPr indent="-3298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0" lang="en-GB" sz="1772">
                <a:latin typeface="Arial"/>
                <a:ea typeface="Arial"/>
                <a:cs typeface="Arial"/>
                <a:sym typeface="Arial"/>
              </a:rPr>
              <a:t>These ANNs serve as weak approximations of the true neighbors and act as targets for training.</a:t>
            </a:r>
            <a:br>
              <a:rPr b="0" lang="en-GB" sz="1772">
                <a:latin typeface="Arial"/>
                <a:ea typeface="Arial"/>
                <a:cs typeface="Arial"/>
                <a:sym typeface="Arial"/>
              </a:rPr>
            </a:br>
            <a:endParaRPr b="0" sz="1772">
              <a:latin typeface="Arial"/>
              <a:ea typeface="Arial"/>
              <a:cs typeface="Arial"/>
              <a:sym typeface="Arial"/>
            </a:endParaRPr>
          </a:p>
          <a:p>
            <a:pPr indent="-3298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0" lang="en-GB" sz="1772">
                <a:latin typeface="Arial"/>
                <a:ea typeface="Arial"/>
                <a:cs typeface="Arial"/>
                <a:sym typeface="Arial"/>
              </a:rPr>
              <a:t>Both the sampled vectors and their corresponding ANNs are stored for use in the training phase.</a:t>
            </a:r>
            <a:br>
              <a:rPr b="0" lang="en-GB" sz="1772">
                <a:latin typeface="Arial"/>
                <a:ea typeface="Arial"/>
                <a:cs typeface="Arial"/>
                <a:sym typeface="Arial"/>
              </a:rPr>
            </a:br>
            <a:endParaRPr b="0" sz="1772">
              <a:latin typeface="Arial"/>
              <a:ea typeface="Arial"/>
              <a:cs typeface="Arial"/>
              <a:sym typeface="Arial"/>
            </a:endParaRPr>
          </a:p>
          <a:p>
            <a:pPr indent="-3298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0" lang="en-GB" sz="1772">
                <a:latin typeface="Arial"/>
                <a:ea typeface="Arial"/>
                <a:cs typeface="Arial"/>
                <a:sym typeface="Arial"/>
              </a:rPr>
              <a:t>This pairing helps measure and minimize errors between real and compressed-space similarity distributions.</a:t>
            </a:r>
            <a:endParaRPr b="0" sz="1772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374" name="Google Shape;374;p28"/>
          <p:cNvSpPr txBox="1"/>
          <p:nvPr>
            <p:ph idx="1" type="subTitle"/>
          </p:nvPr>
        </p:nvSpPr>
        <p:spPr>
          <a:xfrm>
            <a:off x="2573950" y="106075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 New Roman"/>
                <a:ea typeface="Times New Roman"/>
                <a:cs typeface="Times New Roman"/>
                <a:sym typeface="Times New Roman"/>
              </a:rPr>
              <a:t>Prepare Training Data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9"/>
          <p:cNvSpPr txBox="1"/>
          <p:nvPr>
            <p:ph type="ctrTitle"/>
          </p:nvPr>
        </p:nvSpPr>
        <p:spPr>
          <a:xfrm>
            <a:off x="70000" y="1488125"/>
            <a:ext cx="8256300" cy="30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Step 4. Train Dimension Reduction and Quantization Codebook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0" lang="en-GB" sz="1600">
                <a:latin typeface="Arial"/>
                <a:ea typeface="Arial"/>
                <a:cs typeface="Arial"/>
                <a:sym typeface="Arial"/>
              </a:rPr>
              <a:t>Apply optimization to learn a better OPQ matrix that improves downstream similarity accuracy.</a:t>
            </a:r>
            <a:br>
              <a:rPr b="0" lang="en-GB" sz="1600">
                <a:latin typeface="Arial"/>
                <a:ea typeface="Arial"/>
                <a:cs typeface="Arial"/>
                <a:sym typeface="Arial"/>
              </a:rPr>
            </a:br>
            <a:endParaRPr b="0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0" lang="en-GB" sz="1600">
                <a:latin typeface="Arial"/>
                <a:ea typeface="Arial"/>
                <a:cs typeface="Arial"/>
                <a:sym typeface="Arial"/>
              </a:rPr>
              <a:t>Simultaneously train PQ codebooks to quantize the reduced vectors more effectively.</a:t>
            </a:r>
            <a:br>
              <a:rPr b="0" lang="en-GB" sz="1600">
                <a:latin typeface="Arial"/>
                <a:ea typeface="Arial"/>
                <a:cs typeface="Arial"/>
                <a:sym typeface="Arial"/>
              </a:rPr>
            </a:br>
            <a:endParaRPr b="0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0" lang="en-GB" sz="1600">
                <a:latin typeface="Arial"/>
                <a:ea typeface="Arial"/>
                <a:cs typeface="Arial"/>
                <a:sym typeface="Arial"/>
              </a:rPr>
              <a:t>Calculate original similarity score using high-dimensional sampled data.</a:t>
            </a:r>
            <a:br>
              <a:rPr b="0" lang="en-GB" sz="1600">
                <a:latin typeface="Arial"/>
                <a:ea typeface="Arial"/>
                <a:cs typeface="Arial"/>
                <a:sym typeface="Arial"/>
              </a:rPr>
            </a:br>
            <a:endParaRPr b="0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0" lang="en-GB" sz="1600">
                <a:latin typeface="Arial"/>
                <a:ea typeface="Arial"/>
                <a:cs typeface="Arial"/>
                <a:sym typeface="Arial"/>
              </a:rPr>
              <a:t>Compute reconstructed similarity score after dimension reduction and quantization.</a:t>
            </a:r>
            <a:br>
              <a:rPr b="0" lang="en-GB" sz="1600">
                <a:latin typeface="Arial"/>
                <a:ea typeface="Arial"/>
                <a:cs typeface="Arial"/>
                <a:sym typeface="Arial"/>
              </a:rPr>
            </a:br>
            <a:endParaRPr b="0" sz="16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0" lang="en-GB" sz="1600">
                <a:latin typeface="Arial"/>
                <a:ea typeface="Arial"/>
                <a:cs typeface="Arial"/>
                <a:sym typeface="Arial"/>
              </a:rPr>
              <a:t>Minimize the loss  i.e., the difference in similarity distributions between original and compressed spaces.</a:t>
            </a:r>
            <a:br>
              <a:rPr b="0" lang="en-GB" sz="1100">
                <a:latin typeface="Arial"/>
                <a:ea typeface="Arial"/>
                <a:cs typeface="Arial"/>
                <a:sym typeface="Arial"/>
              </a:rPr>
            </a:b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380" name="Google Shape;380;p29"/>
          <p:cNvSpPr txBox="1"/>
          <p:nvPr>
            <p:ph idx="1" type="subTitle"/>
          </p:nvPr>
        </p:nvSpPr>
        <p:spPr>
          <a:xfrm>
            <a:off x="1587525" y="48025"/>
            <a:ext cx="66711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 New Roman"/>
                <a:ea typeface="Times New Roman"/>
                <a:cs typeface="Times New Roman"/>
                <a:sym typeface="Times New Roman"/>
              </a:rPr>
              <a:t>Learn Compression Parameters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0"/>
          <p:cNvSpPr txBox="1"/>
          <p:nvPr>
            <p:ph type="ctrTitle"/>
          </p:nvPr>
        </p:nvSpPr>
        <p:spPr>
          <a:xfrm>
            <a:off x="-100" y="898150"/>
            <a:ext cx="9144000" cy="419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22">
                <a:latin typeface="Arial"/>
                <a:ea typeface="Arial"/>
                <a:cs typeface="Arial"/>
                <a:sym typeface="Arial"/>
              </a:rPr>
              <a:t>Step 5. Use Training Data Original Assignment and Vectors After Learned Dimension Reduction</a:t>
            </a:r>
            <a:endParaRPr sz="1822">
              <a:latin typeface="Arial"/>
              <a:ea typeface="Arial"/>
              <a:cs typeface="Arial"/>
              <a:sym typeface="Arial"/>
            </a:endParaRPr>
          </a:p>
          <a:p>
            <a:pPr indent="-332739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0" lang="en-GB" sz="1822">
                <a:latin typeface="Arial"/>
                <a:ea typeface="Arial"/>
                <a:cs typeface="Arial"/>
                <a:sym typeface="Arial"/>
              </a:rPr>
              <a:t>Apply the learned OPQ transformation to the training vectors.</a:t>
            </a:r>
            <a:br>
              <a:rPr b="0" lang="en-GB" sz="1822">
                <a:latin typeface="Arial"/>
                <a:ea typeface="Arial"/>
                <a:cs typeface="Arial"/>
                <a:sym typeface="Arial"/>
              </a:rPr>
            </a:br>
            <a:endParaRPr b="0" sz="1822">
              <a:latin typeface="Arial"/>
              <a:ea typeface="Arial"/>
              <a:cs typeface="Arial"/>
              <a:sym typeface="Arial"/>
            </a:endParaRPr>
          </a:p>
          <a:p>
            <a:pPr indent="-33273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0" lang="en-GB" sz="1822">
                <a:latin typeface="Arial"/>
                <a:ea typeface="Arial"/>
                <a:cs typeface="Arial"/>
                <a:sym typeface="Arial"/>
              </a:rPr>
              <a:t>Reassign vectors to IVF cells in this newly reduced-dimensional space.</a:t>
            </a:r>
            <a:br>
              <a:rPr b="0" lang="en-GB" sz="1822">
                <a:latin typeface="Arial"/>
                <a:ea typeface="Arial"/>
                <a:cs typeface="Arial"/>
                <a:sym typeface="Arial"/>
              </a:rPr>
            </a:br>
            <a:endParaRPr b="0" sz="1822">
              <a:latin typeface="Arial"/>
              <a:ea typeface="Arial"/>
              <a:cs typeface="Arial"/>
              <a:sym typeface="Arial"/>
            </a:endParaRPr>
          </a:p>
          <a:p>
            <a:pPr indent="-33273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0" lang="en-GB" sz="1822">
                <a:latin typeface="Arial"/>
                <a:ea typeface="Arial"/>
                <a:cs typeface="Arial"/>
                <a:sym typeface="Arial"/>
              </a:rPr>
              <a:t>Recalculate the IVF centroids using these reassigned vectors.</a:t>
            </a:r>
            <a:br>
              <a:rPr b="0" lang="en-GB" sz="1822">
                <a:latin typeface="Arial"/>
                <a:ea typeface="Arial"/>
                <a:cs typeface="Arial"/>
                <a:sym typeface="Arial"/>
              </a:rPr>
            </a:br>
            <a:endParaRPr b="0" sz="1822">
              <a:latin typeface="Arial"/>
              <a:ea typeface="Arial"/>
              <a:cs typeface="Arial"/>
              <a:sym typeface="Arial"/>
            </a:endParaRPr>
          </a:p>
          <a:p>
            <a:pPr indent="-33273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0" lang="en-GB" sz="1822">
                <a:latin typeface="Arial"/>
                <a:ea typeface="Arial"/>
                <a:cs typeface="Arial"/>
                <a:sym typeface="Arial"/>
              </a:rPr>
              <a:t>This step improves the clustering quality and alignment with the compressed representation.</a:t>
            </a:r>
            <a:br>
              <a:rPr b="0" lang="en-GB" sz="1822">
                <a:latin typeface="Arial"/>
                <a:ea typeface="Arial"/>
                <a:cs typeface="Arial"/>
                <a:sym typeface="Arial"/>
              </a:rPr>
            </a:br>
            <a:endParaRPr b="0" sz="1822">
              <a:latin typeface="Arial"/>
              <a:ea typeface="Arial"/>
              <a:cs typeface="Arial"/>
              <a:sym typeface="Arial"/>
            </a:endParaRPr>
          </a:p>
          <a:p>
            <a:pPr indent="-3028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1341"/>
              <a:buFont typeface="Arial"/>
              <a:buChar char="●"/>
            </a:pPr>
            <a:r>
              <a:rPr b="0" lang="en-GB" sz="1822">
                <a:latin typeface="Arial"/>
                <a:ea typeface="Arial"/>
                <a:cs typeface="Arial"/>
                <a:sym typeface="Arial"/>
              </a:rPr>
              <a:t>These new centroids better reflect the updated structure of the data under learned compression.</a:t>
            </a:r>
            <a:br>
              <a:rPr b="0" lang="en-GB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386" name="Google Shape;386;p30"/>
          <p:cNvSpPr txBox="1"/>
          <p:nvPr>
            <p:ph idx="1" type="subTitle"/>
          </p:nvPr>
        </p:nvSpPr>
        <p:spPr>
          <a:xfrm>
            <a:off x="1877575" y="106050"/>
            <a:ext cx="52959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 New Roman"/>
                <a:ea typeface="Times New Roman"/>
                <a:cs typeface="Times New Roman"/>
                <a:sym typeface="Times New Roman"/>
              </a:rPr>
              <a:t>Recalculate IVF Centroids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1"/>
          <p:cNvSpPr txBox="1"/>
          <p:nvPr>
            <p:ph type="ctrTitle"/>
          </p:nvPr>
        </p:nvSpPr>
        <p:spPr>
          <a:xfrm>
            <a:off x="0" y="1270400"/>
            <a:ext cx="8752500" cy="36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77">
                <a:latin typeface="Arial"/>
                <a:ea typeface="Arial"/>
                <a:cs typeface="Arial"/>
                <a:sym typeface="Arial"/>
              </a:rPr>
              <a:t>Step 6. Install Learned Parameters</a:t>
            </a:r>
            <a:endParaRPr sz="1777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0" lang="en-GB" sz="1777">
                <a:latin typeface="Arial"/>
                <a:ea typeface="Arial"/>
                <a:cs typeface="Arial"/>
                <a:sym typeface="Arial"/>
              </a:rPr>
              <a:t>Replace the initialized OPQ matrix in the base index with the learned OPQ matrix.</a:t>
            </a:r>
            <a:br>
              <a:rPr b="0" lang="en-GB" sz="1777">
                <a:latin typeface="Arial"/>
                <a:ea typeface="Arial"/>
                <a:cs typeface="Arial"/>
                <a:sym typeface="Arial"/>
              </a:rPr>
            </a:br>
            <a:endParaRPr b="0" sz="1777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0" lang="en-GB" sz="1777">
                <a:latin typeface="Arial"/>
                <a:ea typeface="Arial"/>
                <a:cs typeface="Arial"/>
                <a:sym typeface="Arial"/>
              </a:rPr>
              <a:t>Swap in the learned IVF centroids to improve vector-to-cell assignment.</a:t>
            </a:r>
            <a:br>
              <a:rPr b="0" lang="en-GB" sz="1777">
                <a:latin typeface="Arial"/>
                <a:ea typeface="Arial"/>
                <a:cs typeface="Arial"/>
                <a:sym typeface="Arial"/>
              </a:rPr>
            </a:br>
            <a:endParaRPr b="0" sz="1777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0" lang="en-GB" sz="1777">
                <a:latin typeface="Arial"/>
                <a:ea typeface="Arial"/>
                <a:cs typeface="Arial"/>
                <a:sym typeface="Arial"/>
              </a:rPr>
              <a:t>Update the PQ codebooks inside each IVF cell with the trained versions.</a:t>
            </a:r>
            <a:br>
              <a:rPr b="0" lang="en-GB" sz="1777">
                <a:latin typeface="Arial"/>
                <a:ea typeface="Arial"/>
                <a:cs typeface="Arial"/>
                <a:sym typeface="Arial"/>
              </a:rPr>
            </a:br>
            <a:endParaRPr b="0" sz="1777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0" lang="en-GB" sz="1777">
                <a:latin typeface="Arial"/>
                <a:ea typeface="Arial"/>
                <a:cs typeface="Arial"/>
                <a:sym typeface="Arial"/>
              </a:rPr>
              <a:t>No need to rebuild the entire index—existing structure is reused, minimizing compute cost.</a:t>
            </a:r>
            <a:br>
              <a:rPr b="0" lang="en-GB" sz="1777">
                <a:latin typeface="Arial"/>
                <a:ea typeface="Arial"/>
                <a:cs typeface="Arial"/>
                <a:sym typeface="Arial"/>
              </a:rPr>
            </a:br>
            <a:endParaRPr b="0" sz="1777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0" lang="en-GB" sz="1777">
                <a:latin typeface="Arial"/>
                <a:ea typeface="Arial"/>
                <a:cs typeface="Arial"/>
                <a:sym typeface="Arial"/>
              </a:rPr>
              <a:t>The result is the final HAKES-index, which offers better ANN accuracy without rebuilding from scratch.</a:t>
            </a:r>
            <a:br>
              <a:rPr b="0" lang="en-GB" sz="1777">
                <a:latin typeface="Arial"/>
                <a:ea typeface="Arial"/>
                <a:cs typeface="Arial"/>
                <a:sym typeface="Arial"/>
              </a:rPr>
            </a:br>
            <a:endParaRPr b="0" sz="177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392" name="Google Shape;392;p31"/>
          <p:cNvSpPr txBox="1"/>
          <p:nvPr>
            <p:ph idx="1" type="subTitle"/>
          </p:nvPr>
        </p:nvSpPr>
        <p:spPr>
          <a:xfrm>
            <a:off x="2612575" y="77075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 New Roman"/>
                <a:ea typeface="Times New Roman"/>
                <a:cs typeface="Times New Roman"/>
                <a:sym typeface="Times New Roman"/>
              </a:rPr>
              <a:t>Update Index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2"/>
          <p:cNvSpPr txBox="1"/>
          <p:nvPr>
            <p:ph idx="1" type="subTitle"/>
          </p:nvPr>
        </p:nvSpPr>
        <p:spPr>
          <a:xfrm>
            <a:off x="-41700" y="90250"/>
            <a:ext cx="92274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 New Roman"/>
                <a:ea typeface="Times New Roman"/>
                <a:cs typeface="Times New Roman"/>
                <a:sym typeface="Times New Roman"/>
              </a:rPr>
              <a:t>Different architectures of distributed vector databases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9" name="Google Shape;39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700" y="737525"/>
            <a:ext cx="8369749" cy="418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3"/>
          <p:cNvSpPr txBox="1"/>
          <p:nvPr>
            <p:ph type="ctrTitle"/>
          </p:nvPr>
        </p:nvSpPr>
        <p:spPr>
          <a:xfrm>
            <a:off x="0" y="1024800"/>
            <a:ext cx="9144000" cy="411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0" lang="en-GB" sz="1700">
                <a:latin typeface="Arial"/>
                <a:ea typeface="Arial"/>
                <a:cs typeface="Arial"/>
                <a:sym typeface="Arial"/>
              </a:rPr>
              <a:t>Each server hosts only one read-write (rw) shard that contains both the vectors and index.</a:t>
            </a:r>
            <a:br>
              <a:rPr b="0" lang="en-GB" sz="1700">
                <a:latin typeface="Arial"/>
                <a:ea typeface="Arial"/>
                <a:cs typeface="Arial"/>
                <a:sym typeface="Arial"/>
              </a:rPr>
            </a:br>
            <a:endParaRPr b="0"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0" lang="en-GB" sz="1700">
                <a:latin typeface="Arial"/>
                <a:ea typeface="Arial"/>
                <a:cs typeface="Arial"/>
                <a:sym typeface="Arial"/>
              </a:rPr>
              <a:t>Both read (R) and write (W) operations are directed to the same rw-shard on the node.</a:t>
            </a:r>
            <a:br>
              <a:rPr b="0" lang="en-GB" sz="1700">
                <a:latin typeface="Arial"/>
                <a:ea typeface="Arial"/>
                <a:cs typeface="Arial"/>
                <a:sym typeface="Arial"/>
              </a:rPr>
            </a:br>
            <a:endParaRPr b="0"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0" lang="en-GB" sz="1700">
                <a:latin typeface="Arial"/>
                <a:ea typeface="Arial"/>
                <a:cs typeface="Arial"/>
                <a:sym typeface="Arial"/>
              </a:rPr>
              <a:t>No shard sharing or redundancy exists—each node is self-contained.</a:t>
            </a:r>
            <a:br>
              <a:rPr b="0" lang="en-GB" sz="1700">
                <a:latin typeface="Arial"/>
                <a:ea typeface="Arial"/>
                <a:cs typeface="Arial"/>
                <a:sym typeface="Arial"/>
              </a:rPr>
            </a:br>
            <a:endParaRPr b="0"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0" lang="en-GB" sz="1700">
                <a:latin typeface="Arial"/>
                <a:ea typeface="Arial"/>
                <a:cs typeface="Arial"/>
                <a:sym typeface="Arial"/>
              </a:rPr>
              <a:t>Simple design, but limits query parallelism and load balancing, since reads and writes compete on the same resource.</a:t>
            </a:r>
            <a:br>
              <a:rPr b="0" lang="en-GB" sz="1700">
                <a:latin typeface="Arial"/>
                <a:ea typeface="Arial"/>
                <a:cs typeface="Arial"/>
                <a:sym typeface="Arial"/>
              </a:rPr>
            </a:br>
            <a:endParaRPr b="0" sz="17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0" lang="en-GB" sz="1700">
                <a:latin typeface="Arial"/>
                <a:ea typeface="Arial"/>
                <a:cs typeface="Arial"/>
                <a:sym typeface="Arial"/>
              </a:rPr>
              <a:t>Poor resource utilization in high-read scenarios due to lack of read-only replicas.</a:t>
            </a:r>
            <a:br>
              <a:rPr b="0" lang="en-GB" sz="1100">
                <a:latin typeface="Arial"/>
                <a:ea typeface="Arial"/>
                <a:cs typeface="Arial"/>
                <a:sym typeface="Arial"/>
              </a:rPr>
            </a:b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3"/>
          <p:cNvSpPr txBox="1"/>
          <p:nvPr>
            <p:ph idx="1" type="subTitle"/>
          </p:nvPr>
        </p:nvSpPr>
        <p:spPr>
          <a:xfrm>
            <a:off x="656900" y="244375"/>
            <a:ext cx="81678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 New Roman"/>
                <a:ea typeface="Times New Roman"/>
                <a:cs typeface="Times New Roman"/>
                <a:sym typeface="Times New Roman"/>
              </a:rPr>
              <a:t>(a) Design I: One RW Shard per Node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4"/>
          <p:cNvSpPr txBox="1"/>
          <p:nvPr>
            <p:ph type="ctrTitle"/>
          </p:nvPr>
        </p:nvSpPr>
        <p:spPr>
          <a:xfrm>
            <a:off x="-100" y="841850"/>
            <a:ext cx="9144000" cy="43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0" lang="en-GB" sz="1800">
                <a:latin typeface="Arial"/>
                <a:ea typeface="Arial"/>
                <a:cs typeface="Arial"/>
                <a:sym typeface="Arial"/>
              </a:rPr>
              <a:t>Each node has one rw-shard and multiple ro-shards, improving read throughput.</a:t>
            </a:r>
            <a:br>
              <a:rPr b="0" lang="en-GB" sz="1800">
                <a:latin typeface="Arial"/>
                <a:ea typeface="Arial"/>
                <a:cs typeface="Arial"/>
                <a:sym typeface="Arial"/>
              </a:rPr>
            </a:br>
            <a:endParaRPr b="0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0" lang="en-GB" sz="1800">
                <a:latin typeface="Arial"/>
                <a:ea typeface="Arial"/>
                <a:cs typeface="Arial"/>
                <a:sym typeface="Arial"/>
              </a:rPr>
              <a:t>Write operations go only to the rw-shard; read operations can hit any of the ro-shards.</a:t>
            </a:r>
            <a:br>
              <a:rPr b="0" lang="en-GB" sz="1800">
                <a:latin typeface="Arial"/>
                <a:ea typeface="Arial"/>
                <a:cs typeface="Arial"/>
                <a:sym typeface="Arial"/>
              </a:rPr>
            </a:br>
            <a:endParaRPr b="0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0" lang="en-GB" sz="1800">
                <a:latin typeface="Arial"/>
                <a:ea typeface="Arial"/>
                <a:cs typeface="Arial"/>
                <a:sym typeface="Arial"/>
              </a:rPr>
              <a:t>RO shards are replicas of rw-shards, allowing read scalability and faster queries.</a:t>
            </a:r>
            <a:br>
              <a:rPr b="0" lang="en-GB" sz="1800">
                <a:latin typeface="Arial"/>
                <a:ea typeface="Arial"/>
                <a:cs typeface="Arial"/>
                <a:sym typeface="Arial"/>
              </a:rPr>
            </a:br>
            <a:endParaRPr b="0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0" lang="en-GB" sz="1800">
                <a:latin typeface="Arial"/>
                <a:ea typeface="Arial"/>
                <a:cs typeface="Arial"/>
                <a:sym typeface="Arial"/>
              </a:rPr>
              <a:t>This approach improves query latency but increases replication overhead.</a:t>
            </a:r>
            <a:br>
              <a:rPr b="0" lang="en-GB" sz="1800">
                <a:latin typeface="Arial"/>
                <a:ea typeface="Arial"/>
                <a:cs typeface="Arial"/>
                <a:sym typeface="Arial"/>
              </a:rPr>
            </a:br>
            <a:endParaRPr b="0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0" lang="en-GB" sz="1800">
                <a:latin typeface="Arial"/>
                <a:ea typeface="Arial"/>
                <a:cs typeface="Arial"/>
                <a:sym typeface="Arial"/>
              </a:rPr>
              <a:t>Updates must propagate from the rw-shard to all corresponding ro-shards, leading to synchronization complexity.</a:t>
            </a:r>
            <a:endParaRPr b="0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411" name="Google Shape;411;p34"/>
          <p:cNvSpPr txBox="1"/>
          <p:nvPr>
            <p:ph idx="1" type="subTitle"/>
          </p:nvPr>
        </p:nvSpPr>
        <p:spPr>
          <a:xfrm>
            <a:off x="0" y="61325"/>
            <a:ext cx="91440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Times New Roman"/>
                <a:ea typeface="Times New Roman"/>
                <a:cs typeface="Times New Roman"/>
                <a:sym typeface="Times New Roman"/>
              </a:rPr>
              <a:t>(b) </a:t>
            </a:r>
            <a:r>
              <a:rPr b="1" lang="en-GB" sz="3000">
                <a:latin typeface="Times New Roman"/>
                <a:ea typeface="Times New Roman"/>
                <a:cs typeface="Times New Roman"/>
                <a:sym typeface="Times New Roman"/>
              </a:rPr>
              <a:t>Design II: RW + Multiple RO Shards per Node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5"/>
          <p:cNvSpPr txBox="1"/>
          <p:nvPr>
            <p:ph type="ctrTitle"/>
          </p:nvPr>
        </p:nvSpPr>
        <p:spPr>
          <a:xfrm>
            <a:off x="0" y="861100"/>
            <a:ext cx="9144000" cy="428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-337819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0" lang="en-GB" sz="1911">
                <a:latin typeface="Arial"/>
                <a:ea typeface="Arial"/>
                <a:cs typeface="Arial"/>
                <a:sym typeface="Arial"/>
              </a:rPr>
              <a:t>Read-write and read-only shards are distributed across servers, not confined per node.</a:t>
            </a:r>
            <a:br>
              <a:rPr b="0" lang="en-GB" sz="1911">
                <a:latin typeface="Arial"/>
                <a:ea typeface="Arial"/>
                <a:cs typeface="Arial"/>
                <a:sym typeface="Arial"/>
              </a:rPr>
            </a:br>
            <a:endParaRPr b="0" sz="1911">
              <a:latin typeface="Arial"/>
              <a:ea typeface="Arial"/>
              <a:cs typeface="Arial"/>
              <a:sym typeface="Arial"/>
            </a:endParaRPr>
          </a:p>
          <a:p>
            <a:pPr indent="-33781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0" lang="en-GB" sz="1911">
                <a:latin typeface="Arial"/>
                <a:ea typeface="Arial"/>
                <a:cs typeface="Arial"/>
                <a:sym typeface="Arial"/>
              </a:rPr>
              <a:t>A server can host multiple shards of any type (rw or ro), improving load balancing.</a:t>
            </a:r>
            <a:br>
              <a:rPr b="0" lang="en-GB" sz="1911">
                <a:latin typeface="Arial"/>
                <a:ea typeface="Arial"/>
                <a:cs typeface="Arial"/>
                <a:sym typeface="Arial"/>
              </a:rPr>
            </a:br>
            <a:endParaRPr b="0" sz="1911">
              <a:latin typeface="Arial"/>
              <a:ea typeface="Arial"/>
              <a:cs typeface="Arial"/>
              <a:sym typeface="Arial"/>
            </a:endParaRPr>
          </a:p>
          <a:p>
            <a:pPr indent="-33781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0" lang="en-GB" sz="1911">
                <a:latin typeface="Arial"/>
                <a:ea typeface="Arial"/>
                <a:cs typeface="Arial"/>
                <a:sym typeface="Arial"/>
              </a:rPr>
              <a:t>Write and read requests are routed to different shards dynamically across nodes.</a:t>
            </a:r>
            <a:br>
              <a:rPr b="0" lang="en-GB" sz="1911">
                <a:latin typeface="Arial"/>
                <a:ea typeface="Arial"/>
                <a:cs typeface="Arial"/>
                <a:sym typeface="Arial"/>
              </a:rPr>
            </a:br>
            <a:endParaRPr b="0" sz="1911">
              <a:latin typeface="Arial"/>
              <a:ea typeface="Arial"/>
              <a:cs typeface="Arial"/>
              <a:sym typeface="Arial"/>
            </a:endParaRPr>
          </a:p>
          <a:p>
            <a:pPr indent="-33781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0" lang="en-GB" sz="1911">
                <a:latin typeface="Arial"/>
                <a:ea typeface="Arial"/>
                <a:cs typeface="Arial"/>
                <a:sym typeface="Arial"/>
              </a:rPr>
              <a:t>This design enables flexibility and resource efficiency, especially in heterogeneous environments.</a:t>
            </a:r>
            <a:br>
              <a:rPr b="0" lang="en-GB" sz="1911">
                <a:latin typeface="Arial"/>
                <a:ea typeface="Arial"/>
                <a:cs typeface="Arial"/>
                <a:sym typeface="Arial"/>
              </a:rPr>
            </a:br>
            <a:endParaRPr b="0" sz="1911">
              <a:latin typeface="Arial"/>
              <a:ea typeface="Arial"/>
              <a:cs typeface="Arial"/>
              <a:sym typeface="Arial"/>
            </a:endParaRPr>
          </a:p>
          <a:p>
            <a:pPr indent="-33147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4186"/>
              <a:buFont typeface="Arial"/>
              <a:buChar char="●"/>
            </a:pPr>
            <a:r>
              <a:rPr b="0" lang="en-GB" sz="1911">
                <a:latin typeface="Arial"/>
                <a:ea typeface="Arial"/>
                <a:cs typeface="Arial"/>
                <a:sym typeface="Arial"/>
              </a:rPr>
              <a:t>However, it introduces index lookup overhead, as there’s no global coordination of data placement.</a:t>
            </a:r>
            <a:br>
              <a:rPr b="0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417" name="Google Shape;417;p35"/>
          <p:cNvSpPr txBox="1"/>
          <p:nvPr>
            <p:ph idx="1" type="subTitle"/>
          </p:nvPr>
        </p:nvSpPr>
        <p:spPr>
          <a:xfrm>
            <a:off x="520225" y="165700"/>
            <a:ext cx="91440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Times New Roman"/>
                <a:ea typeface="Times New Roman"/>
                <a:cs typeface="Times New Roman"/>
                <a:sym typeface="Times New Roman"/>
              </a:rPr>
              <a:t>(c) </a:t>
            </a:r>
            <a:r>
              <a:rPr b="1" lang="en-GB" sz="3000">
                <a:latin typeface="Times New Roman"/>
                <a:ea typeface="Times New Roman"/>
                <a:cs typeface="Times New Roman"/>
                <a:sym typeface="Times New Roman"/>
              </a:rPr>
              <a:t>Design III: Distributed RW/RO Shards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6"/>
          <p:cNvSpPr txBox="1"/>
          <p:nvPr>
            <p:ph type="ctrTitle"/>
          </p:nvPr>
        </p:nvSpPr>
        <p:spPr>
          <a:xfrm>
            <a:off x="20250" y="734075"/>
            <a:ext cx="9103500" cy="453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0" lang="en-GB" sz="1600">
                <a:latin typeface="Arial"/>
                <a:ea typeface="Arial"/>
                <a:cs typeface="Arial"/>
                <a:sym typeface="Arial"/>
              </a:rPr>
              <a:t>HAKES introduces a Global Index that maintains the mapping from vector IDs to shard locations.</a:t>
            </a:r>
            <a:br>
              <a:rPr b="0" lang="en-GB" sz="1600">
                <a:latin typeface="Arial"/>
                <a:ea typeface="Arial"/>
                <a:cs typeface="Arial"/>
                <a:sym typeface="Arial"/>
              </a:rPr>
            </a:br>
            <a:endParaRPr b="0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0" lang="en-GB" sz="1600">
                <a:latin typeface="Arial"/>
                <a:ea typeface="Arial"/>
                <a:cs typeface="Arial"/>
                <a:sym typeface="Arial"/>
              </a:rPr>
              <a:t>Write operations are routed via the Global Index to the appropriate rw-shard that stores the target vector.</a:t>
            </a:r>
            <a:br>
              <a:rPr b="0" lang="en-GB" sz="1600">
                <a:latin typeface="Arial"/>
                <a:ea typeface="Arial"/>
                <a:cs typeface="Arial"/>
                <a:sym typeface="Arial"/>
              </a:rPr>
            </a:br>
            <a:endParaRPr b="0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0" lang="en-GB" sz="1600">
                <a:latin typeface="Arial"/>
                <a:ea typeface="Arial"/>
                <a:cs typeface="Arial"/>
                <a:sym typeface="Arial"/>
              </a:rPr>
              <a:t>Read operations are also routed by the Global Index to the optimal shard (rw or ro), maximizing throughput.</a:t>
            </a:r>
            <a:br>
              <a:rPr b="0" lang="en-GB" sz="1600">
                <a:latin typeface="Arial"/>
                <a:ea typeface="Arial"/>
                <a:cs typeface="Arial"/>
                <a:sym typeface="Arial"/>
              </a:rPr>
            </a:br>
            <a:endParaRPr b="0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0" lang="en-GB" sz="1600">
                <a:latin typeface="Arial"/>
                <a:ea typeface="Arial"/>
                <a:cs typeface="Arial"/>
                <a:sym typeface="Arial"/>
              </a:rPr>
              <a:t>This design decouples indexing and storage, enabling better scalability and routing efficiency.</a:t>
            </a:r>
            <a:br>
              <a:rPr b="0" lang="en-GB" sz="1600">
                <a:latin typeface="Arial"/>
                <a:ea typeface="Arial"/>
                <a:cs typeface="Arial"/>
                <a:sym typeface="Arial"/>
              </a:rPr>
            </a:br>
            <a:endParaRPr b="0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0" lang="en-GB" sz="1600">
                <a:latin typeface="Arial"/>
                <a:ea typeface="Arial"/>
                <a:cs typeface="Arial"/>
                <a:sym typeface="Arial"/>
              </a:rPr>
              <a:t>With the global index, HAKES minimizes data duplication, improves query response time, and supports multi-shard fan-out intelligently.</a:t>
            </a:r>
            <a:br>
              <a:rPr b="0"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423" name="Google Shape;423;p36"/>
          <p:cNvSpPr txBox="1"/>
          <p:nvPr>
            <p:ph idx="1" type="subTitle"/>
          </p:nvPr>
        </p:nvSpPr>
        <p:spPr>
          <a:xfrm>
            <a:off x="108150" y="38675"/>
            <a:ext cx="102774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latin typeface="Times New Roman"/>
                <a:ea typeface="Times New Roman"/>
                <a:cs typeface="Times New Roman"/>
                <a:sym typeface="Times New Roman"/>
              </a:rPr>
              <a:t>(d) HAKES Design: Global Index with RW/RO Separation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7"/>
          <p:cNvSpPr txBox="1"/>
          <p:nvPr>
            <p:ph type="ctrTitle"/>
          </p:nvPr>
        </p:nvSpPr>
        <p:spPr>
          <a:xfrm>
            <a:off x="0" y="806850"/>
            <a:ext cx="9144000" cy="352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latin typeface="Arial"/>
              <a:ea typeface="Arial"/>
              <a:cs typeface="Arial"/>
              <a:sym typeface="Arial"/>
            </a:endParaRPr>
          </a:p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0" lang="en-GB" sz="1772">
                <a:latin typeface="Arial"/>
                <a:ea typeface="Arial"/>
                <a:cs typeface="Arial"/>
                <a:sym typeface="Arial"/>
              </a:rPr>
              <a:t>HAKES supports scalable, update-efficient ANN search</a:t>
            </a:r>
            <a:endParaRPr b="0" sz="1772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772">
              <a:latin typeface="Arial"/>
              <a:ea typeface="Arial"/>
              <a:cs typeface="Arial"/>
              <a:sym typeface="Arial"/>
            </a:endParaRPr>
          </a:p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0" lang="en-GB" sz="1772">
                <a:latin typeface="Arial"/>
                <a:ea typeface="Arial"/>
                <a:cs typeface="Arial"/>
                <a:sym typeface="Arial"/>
              </a:rPr>
              <a:t>HAKES = high-throughput, high-recall, scalable vector DB</a:t>
            </a:r>
            <a:br>
              <a:rPr b="0" lang="en-GB" sz="1772">
                <a:latin typeface="Arial"/>
                <a:ea typeface="Arial"/>
                <a:cs typeface="Arial"/>
                <a:sym typeface="Arial"/>
              </a:rPr>
            </a:br>
            <a:endParaRPr b="0" sz="1772">
              <a:latin typeface="Arial"/>
              <a:ea typeface="Arial"/>
              <a:cs typeface="Arial"/>
              <a:sym typeface="Arial"/>
            </a:endParaRPr>
          </a:p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0" lang="en-GB" sz="1772">
                <a:latin typeface="Arial"/>
                <a:ea typeface="Arial"/>
                <a:cs typeface="Arial"/>
                <a:sym typeface="Arial"/>
              </a:rPr>
              <a:t>Filter-refine design is efficient and accurate</a:t>
            </a:r>
            <a:br>
              <a:rPr b="0" lang="en-GB" sz="1772">
                <a:latin typeface="Arial"/>
                <a:ea typeface="Arial"/>
                <a:cs typeface="Arial"/>
                <a:sym typeface="Arial"/>
              </a:rPr>
            </a:br>
            <a:endParaRPr b="0" sz="1772">
              <a:latin typeface="Arial"/>
              <a:ea typeface="Arial"/>
              <a:cs typeface="Arial"/>
              <a:sym typeface="Arial"/>
            </a:endParaRPr>
          </a:p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0" lang="en-GB" sz="1772">
                <a:latin typeface="Arial"/>
                <a:ea typeface="Arial"/>
                <a:cs typeface="Arial"/>
                <a:sym typeface="Arial"/>
              </a:rPr>
              <a:t>Decoupling search/insert = better concurrency</a:t>
            </a:r>
            <a:endParaRPr b="0" sz="1772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772">
              <a:latin typeface="Arial"/>
              <a:ea typeface="Arial"/>
              <a:cs typeface="Arial"/>
              <a:sym typeface="Arial"/>
            </a:endParaRPr>
          </a:p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0" lang="en-GB" sz="1772">
                <a:latin typeface="Arial"/>
                <a:ea typeface="Arial"/>
                <a:cs typeface="Arial"/>
                <a:sym typeface="Arial"/>
              </a:rPr>
              <a:t>Scales well with inserts and writes</a:t>
            </a:r>
            <a:br>
              <a:rPr b="0" lang="en-GB" sz="1772">
                <a:latin typeface="Arial"/>
                <a:ea typeface="Arial"/>
                <a:cs typeface="Arial"/>
                <a:sym typeface="Arial"/>
              </a:rPr>
            </a:br>
            <a:endParaRPr b="0" sz="1772">
              <a:latin typeface="Arial"/>
              <a:ea typeface="Arial"/>
              <a:cs typeface="Arial"/>
              <a:sym typeface="Arial"/>
            </a:endParaRPr>
          </a:p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0" lang="en-GB" sz="1772">
                <a:latin typeface="Arial"/>
                <a:ea typeface="Arial"/>
                <a:cs typeface="Arial"/>
                <a:sym typeface="Arial"/>
              </a:rPr>
              <a:t>Outperforms all tested baselines</a:t>
            </a:r>
            <a:br>
              <a:rPr b="0" lang="en-GB" sz="1772">
                <a:latin typeface="Arial"/>
                <a:ea typeface="Arial"/>
                <a:cs typeface="Arial"/>
                <a:sym typeface="Arial"/>
              </a:rPr>
            </a:br>
            <a:endParaRPr b="0" sz="1772">
              <a:latin typeface="Arial"/>
              <a:ea typeface="Arial"/>
              <a:cs typeface="Arial"/>
              <a:sym typeface="Arial"/>
            </a:endParaRPr>
          </a:p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0" lang="en-GB" sz="1772">
                <a:latin typeface="Arial"/>
                <a:ea typeface="Arial"/>
                <a:cs typeface="Arial"/>
                <a:sym typeface="Arial"/>
              </a:rPr>
              <a:t>Suitable for modern AI systems like RAG</a:t>
            </a:r>
            <a:endParaRPr b="0" sz="1772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772">
              <a:latin typeface="Arial"/>
              <a:ea typeface="Arial"/>
              <a:cs typeface="Arial"/>
              <a:sym typeface="Arial"/>
            </a:endParaRPr>
          </a:p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0" lang="en-GB" sz="1772">
                <a:latin typeface="Arial"/>
                <a:ea typeface="Arial"/>
                <a:cs typeface="Arial"/>
                <a:sym typeface="Arial"/>
              </a:rPr>
              <a:t>Better than graph-based ANN</a:t>
            </a:r>
            <a:endParaRPr b="0" sz="1772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7"/>
          <p:cNvSpPr txBox="1"/>
          <p:nvPr>
            <p:ph idx="1" type="subTitle"/>
          </p:nvPr>
        </p:nvSpPr>
        <p:spPr>
          <a:xfrm>
            <a:off x="1810825" y="99850"/>
            <a:ext cx="91041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 New Roman"/>
                <a:ea typeface="Times New Roman"/>
                <a:cs typeface="Times New Roman"/>
                <a:sym typeface="Times New Roman"/>
              </a:rPr>
              <a:t>Conclusion &amp; Takeaways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8"/>
          <p:cNvSpPr txBox="1"/>
          <p:nvPr>
            <p:ph type="ctrTitle"/>
          </p:nvPr>
        </p:nvSpPr>
        <p:spPr>
          <a:xfrm>
            <a:off x="371725" y="1233125"/>
            <a:ext cx="8481900" cy="12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Searching for Best Practices in Retrieval-Augmented Generation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5" name="Google Shape;435;p38"/>
          <p:cNvSpPr txBox="1"/>
          <p:nvPr/>
        </p:nvSpPr>
        <p:spPr>
          <a:xfrm>
            <a:off x="219625" y="2647850"/>
            <a:ext cx="8634000" cy="23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lt1"/>
                </a:solidFill>
              </a:rPr>
              <a:t>Authors : </a:t>
            </a:r>
            <a:r>
              <a:rPr lang="en-GB" sz="1700">
                <a:solidFill>
                  <a:schemeClr val="lt1"/>
                </a:solidFill>
              </a:rPr>
              <a:t>Xiaohua Wang, Zhenghua Wang, Xuan Gao, Feiran Zhang, Yixin Wu, Zhibo Xu, Tianyuan Shi, Zhengyuan Wang,Shizheng Li, Qi Qian, Ruicheng Yin, Changze Lv, Xiaoqing Zheng*, Xuanjing Huang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lt1"/>
                </a:solidFill>
              </a:rPr>
              <a:t>Affiliation</a:t>
            </a:r>
            <a:r>
              <a:rPr b="1" lang="en-GB" sz="1700">
                <a:solidFill>
                  <a:schemeClr val="lt1"/>
                </a:solidFill>
              </a:rPr>
              <a:t>s: </a:t>
            </a:r>
            <a:r>
              <a:rPr lang="en-GB" sz="1500">
                <a:solidFill>
                  <a:schemeClr val="lt1"/>
                </a:solidFill>
              </a:rPr>
              <a:t>School of Computer Science, Fudan University, Shanghai, China</a:t>
            </a:r>
            <a:br>
              <a:rPr lang="en-GB" sz="1500">
                <a:solidFill>
                  <a:schemeClr val="lt1"/>
                </a:solidFill>
              </a:rPr>
            </a:br>
            <a:r>
              <a:rPr lang="en-GB" sz="1500">
                <a:solidFill>
                  <a:schemeClr val="lt1"/>
                </a:solidFill>
              </a:rPr>
              <a:t>Shanghai Key Laboratory of Intelligent Information Processing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9"/>
          <p:cNvSpPr txBox="1"/>
          <p:nvPr>
            <p:ph type="ctrTitle"/>
          </p:nvPr>
        </p:nvSpPr>
        <p:spPr>
          <a:xfrm>
            <a:off x="491525" y="319791"/>
            <a:ext cx="5207700" cy="52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            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9"/>
          <p:cNvSpPr txBox="1"/>
          <p:nvPr/>
        </p:nvSpPr>
        <p:spPr>
          <a:xfrm>
            <a:off x="100050" y="689425"/>
            <a:ext cx="8416500" cy="43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Large Language Models (LLMs) often </a:t>
            </a:r>
            <a:r>
              <a:rPr b="1" lang="en-GB" sz="1300">
                <a:solidFill>
                  <a:schemeClr val="lt1"/>
                </a:solidFill>
              </a:rPr>
              <a:t>hallucinate</a:t>
            </a:r>
            <a:r>
              <a:rPr lang="en-GB" sz="1300">
                <a:solidFill>
                  <a:schemeClr val="lt1"/>
                </a:solidFill>
              </a:rPr>
              <a:t> or lack </a:t>
            </a:r>
            <a:r>
              <a:rPr b="1" lang="en-GB" sz="1300">
                <a:solidFill>
                  <a:schemeClr val="lt1"/>
                </a:solidFill>
              </a:rPr>
              <a:t>up-to-date knowledge</a:t>
            </a:r>
            <a:br>
              <a:rPr b="1" lang="en-GB" sz="1300">
                <a:solidFill>
                  <a:schemeClr val="lt1"/>
                </a:solidFill>
              </a:rPr>
            </a:br>
            <a:endParaRPr b="1"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en-GB" sz="1300">
                <a:solidFill>
                  <a:schemeClr val="lt1"/>
                </a:solidFill>
              </a:rPr>
              <a:t>Retrieval-Augmented Generation (RAG)</a:t>
            </a:r>
            <a:r>
              <a:rPr lang="en-GB" sz="1300">
                <a:solidFill>
                  <a:schemeClr val="lt1"/>
                </a:solidFill>
              </a:rPr>
              <a:t> enhances LLMs by retrieving </a:t>
            </a:r>
            <a:r>
              <a:rPr b="1" lang="en-GB" sz="1300">
                <a:solidFill>
                  <a:schemeClr val="lt1"/>
                </a:solidFill>
              </a:rPr>
              <a:t>relevant external documents</a:t>
            </a:r>
            <a:br>
              <a:rPr b="1" lang="en-GB" sz="1300">
                <a:solidFill>
                  <a:schemeClr val="lt1"/>
                </a:solidFill>
              </a:rPr>
            </a:br>
            <a:endParaRPr b="1"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RAG is powerful for:</a:t>
            </a:r>
            <a:br>
              <a:rPr lang="en-GB" sz="1300">
                <a:solidFill>
                  <a:schemeClr val="lt1"/>
                </a:solidFill>
              </a:rPr>
            </a:b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AutoNum type="alphaLcPeriod"/>
            </a:pPr>
            <a:r>
              <a:rPr lang="en-GB" sz="1300">
                <a:solidFill>
                  <a:schemeClr val="lt1"/>
                </a:solidFill>
              </a:rPr>
              <a:t>Reducing hallucinations</a:t>
            </a:r>
            <a:br>
              <a:rPr lang="en-GB" sz="1300">
                <a:solidFill>
                  <a:schemeClr val="lt1"/>
                </a:solidFill>
              </a:rPr>
            </a:b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AutoNum type="alphaLcPeriod"/>
            </a:pPr>
            <a:r>
              <a:rPr lang="en-GB" sz="1300">
                <a:solidFill>
                  <a:schemeClr val="lt1"/>
                </a:solidFill>
              </a:rPr>
              <a:t>Handling time-sensitive or domain-specific queries</a:t>
            </a:r>
            <a:br>
              <a:rPr lang="en-GB" sz="1300">
                <a:solidFill>
                  <a:schemeClr val="lt1"/>
                </a:solidFill>
              </a:rPr>
            </a:b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AutoNum type="alphaLcPeriod"/>
            </a:pPr>
            <a:r>
              <a:rPr lang="en-GB" sz="1300">
                <a:solidFill>
                  <a:schemeClr val="lt1"/>
                </a:solidFill>
              </a:rPr>
              <a:t>Boosting quality with grounded responses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lt1"/>
                </a:solidFill>
              </a:rPr>
              <a:t>Current Challenges in RAG Systems:</a:t>
            </a:r>
            <a:endParaRPr b="1"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 Complex and fragmented implementations</a:t>
            </a:r>
            <a:br>
              <a:rPr lang="en-GB" sz="1300">
                <a:solidFill>
                  <a:schemeClr val="lt1"/>
                </a:solidFill>
              </a:rPr>
            </a:b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 High inference latency</a:t>
            </a:r>
            <a:br>
              <a:rPr lang="en-GB" sz="1300">
                <a:solidFill>
                  <a:schemeClr val="lt1"/>
                </a:solidFill>
              </a:rPr>
            </a:b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 Lack of unified best practices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0"/>
          <p:cNvSpPr txBox="1"/>
          <p:nvPr>
            <p:ph type="ctrTitle"/>
          </p:nvPr>
        </p:nvSpPr>
        <p:spPr>
          <a:xfrm>
            <a:off x="2535875" y="276292"/>
            <a:ext cx="4164000" cy="64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7" name="Google Shape;447;p40"/>
          <p:cNvSpPr txBox="1"/>
          <p:nvPr/>
        </p:nvSpPr>
        <p:spPr>
          <a:xfrm>
            <a:off x="219650" y="798175"/>
            <a:ext cx="7883700" cy="40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 sz="2000">
                <a:solidFill>
                  <a:schemeClr val="lt1"/>
                </a:solidFill>
              </a:rPr>
              <a:t>Investigate and evaluate modular components of RAG workflows.</a:t>
            </a:r>
            <a:endParaRPr sz="20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 sz="2000">
                <a:solidFill>
                  <a:schemeClr val="lt1"/>
                </a:solidFill>
              </a:rPr>
              <a:t>Identify optimal methods for each RAG module.</a:t>
            </a:r>
            <a:endParaRPr sz="20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 sz="2000">
                <a:solidFill>
                  <a:schemeClr val="lt1"/>
                </a:solidFill>
              </a:rPr>
              <a:t>Recommend best practices for:</a:t>
            </a:r>
            <a:endParaRPr sz="2000">
              <a:solidFill>
                <a:schemeClr val="lt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lphaLcPeriod"/>
            </a:pPr>
            <a:r>
              <a:rPr lang="en-GB" sz="2000">
                <a:solidFill>
                  <a:schemeClr val="lt1"/>
                </a:solidFill>
              </a:rPr>
              <a:t>High-performance setups</a:t>
            </a:r>
            <a:endParaRPr sz="2000">
              <a:solidFill>
                <a:schemeClr val="lt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lphaLcPeriod"/>
            </a:pPr>
            <a:r>
              <a:rPr lang="en-GB" sz="2000">
                <a:solidFill>
                  <a:schemeClr val="lt1"/>
                </a:solidFill>
              </a:rPr>
              <a:t>Balanced performance-efficiency setups</a:t>
            </a:r>
            <a:endParaRPr sz="20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 sz="2000">
                <a:solidFill>
                  <a:schemeClr val="lt1"/>
                </a:solidFill>
              </a:rPr>
              <a:t>Provide a standardized evaluation framework for RAG.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1"/>
          <p:cNvSpPr txBox="1"/>
          <p:nvPr>
            <p:ph type="ctrTitle"/>
          </p:nvPr>
        </p:nvSpPr>
        <p:spPr>
          <a:xfrm>
            <a:off x="1448450" y="145825"/>
            <a:ext cx="5251500" cy="61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Problem Statement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3" name="Google Shape;453;p41"/>
          <p:cNvSpPr txBox="1"/>
          <p:nvPr/>
        </p:nvSpPr>
        <p:spPr>
          <a:xfrm>
            <a:off x="187025" y="1037400"/>
            <a:ext cx="8829900" cy="3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 sz="1800">
                <a:solidFill>
                  <a:schemeClr val="lt1"/>
                </a:solidFill>
              </a:rPr>
              <a:t>Many RAG approaches exist but differ in design and results.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 sz="1800">
                <a:solidFill>
                  <a:schemeClr val="lt1"/>
                </a:solidFill>
              </a:rPr>
              <a:t>No comprehensive study to determine the best practices across all modules.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 sz="1800">
                <a:solidFill>
                  <a:schemeClr val="lt1"/>
                </a:solidFill>
              </a:rPr>
              <a:t>Trade-offs between performance (accuracy, quality) and efficiency (latency, cost).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 sz="1800">
                <a:solidFill>
                  <a:schemeClr val="lt1"/>
                </a:solidFill>
              </a:rPr>
              <a:t>This paper aims to systematically </a:t>
            </a:r>
            <a:r>
              <a:rPr b="1" lang="en-GB" sz="1800">
                <a:solidFill>
                  <a:schemeClr val="lt1"/>
                </a:solidFill>
              </a:rPr>
              <a:t>identify the best-performing RAG pipeline settings</a:t>
            </a:r>
            <a:r>
              <a:rPr lang="en-GB" sz="1800">
                <a:solidFill>
                  <a:schemeClr val="lt1"/>
                </a:solidFill>
              </a:rPr>
              <a:t> through extensive experimentation.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2"/>
          <p:cNvSpPr txBox="1"/>
          <p:nvPr>
            <p:ph type="ctrTitle"/>
          </p:nvPr>
        </p:nvSpPr>
        <p:spPr>
          <a:xfrm>
            <a:off x="1861675" y="145823"/>
            <a:ext cx="5469600" cy="7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RAG Workflow Overview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9" name="Google Shape;459;p42"/>
          <p:cNvSpPr txBox="1"/>
          <p:nvPr/>
        </p:nvSpPr>
        <p:spPr>
          <a:xfrm>
            <a:off x="-106575" y="912350"/>
            <a:ext cx="3936600" cy="4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AutoNum type="arabicPeriod"/>
            </a:pPr>
            <a:r>
              <a:rPr lang="en-GB" sz="22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Query Classification</a:t>
            </a:r>
            <a:endParaRPr sz="22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arabicPeriod"/>
            </a:pPr>
            <a:r>
              <a:rPr lang="en-GB" sz="22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Chunking</a:t>
            </a:r>
            <a:endParaRPr sz="22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arabicPeriod"/>
            </a:pPr>
            <a:r>
              <a:rPr lang="en-GB" sz="22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Embedding</a:t>
            </a:r>
            <a:endParaRPr sz="22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arabicPeriod"/>
            </a:pPr>
            <a:r>
              <a:rPr lang="en-GB" sz="22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Vector Database</a:t>
            </a:r>
            <a:endParaRPr sz="22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arabicPeriod"/>
            </a:pPr>
            <a:r>
              <a:rPr lang="en-GB" sz="22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Retrieval</a:t>
            </a:r>
            <a:endParaRPr sz="22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arabicPeriod"/>
            </a:pPr>
            <a:r>
              <a:rPr lang="en-GB" sz="22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Reranking</a:t>
            </a:r>
            <a:endParaRPr sz="22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arabicPeriod"/>
            </a:pPr>
            <a:r>
              <a:rPr lang="en-GB" sz="22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Repacking</a:t>
            </a:r>
            <a:endParaRPr sz="22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arabicPeriod"/>
            </a:pPr>
            <a:r>
              <a:rPr lang="en-GB" sz="22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Summarization</a:t>
            </a:r>
            <a:endParaRPr sz="22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arabicPeriod"/>
            </a:pPr>
            <a:r>
              <a:rPr lang="en-GB" sz="22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Generation (Fine-Tuning)</a:t>
            </a:r>
            <a:endParaRPr sz="22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60" name="Google Shape;46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0775" y="912338"/>
            <a:ext cx="5316074" cy="394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3"/>
          <p:cNvSpPr txBox="1"/>
          <p:nvPr>
            <p:ph type="ctrTitle"/>
          </p:nvPr>
        </p:nvSpPr>
        <p:spPr>
          <a:xfrm>
            <a:off x="1035225" y="254550"/>
            <a:ext cx="7024800" cy="59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Research Methodology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6" name="Google Shape;466;p43"/>
          <p:cNvSpPr txBox="1"/>
          <p:nvPr/>
        </p:nvSpPr>
        <p:spPr>
          <a:xfrm>
            <a:off x="219650" y="939525"/>
            <a:ext cx="8253600" cy="40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Modular design: RAG pipeline is split into independent components.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• Step 1: Candidate Selection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  – Select top-performing techniques for each module (e.g</a:t>
            </a:r>
            <a:r>
              <a:rPr lang="en-GB" sz="1600">
                <a:solidFill>
                  <a:schemeClr val="lt1"/>
                </a:solidFill>
              </a:rPr>
              <a:t>.,</a:t>
            </a:r>
            <a:r>
              <a:rPr lang="en-GB" sz="1600">
                <a:solidFill>
                  <a:schemeClr val="lt1"/>
                </a:solidFill>
              </a:rPr>
              <a:t> retrieval, reranking).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• Step 2: Isolated Evaluation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  – Test one method at a time while keeping others fixed.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  – Identify its individual impact on performance.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• Step 3: Pipeline Integration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  – Combine best methods across modules into a full RAG system.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  – Optimize for either maximum performance or efficiency.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• Evaluation: 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  – Tasks: Commonsense, Fact-checking, QA (open-domain, multi-hop, medical)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  – Metrics: Accuracy, EM, F1, Faithfulness, Latency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4"/>
          <p:cNvSpPr txBox="1"/>
          <p:nvPr>
            <p:ph type="ctrTitle"/>
          </p:nvPr>
        </p:nvSpPr>
        <p:spPr>
          <a:xfrm>
            <a:off x="1981275" y="-2"/>
            <a:ext cx="5556600" cy="7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Query Classification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2" name="Google Shape;472;p44"/>
          <p:cNvSpPr txBox="1"/>
          <p:nvPr/>
        </p:nvSpPr>
        <p:spPr>
          <a:xfrm>
            <a:off x="143550" y="618675"/>
            <a:ext cx="8699400" cy="42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lt1"/>
                </a:solidFill>
              </a:rPr>
              <a:t>Motivation:</a:t>
            </a:r>
            <a:endParaRPr b="1"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Retrieval-Augmented Generation (RAG) improves accuracy but increases latency.</a:t>
            </a:r>
            <a:br>
              <a:rPr lang="en-GB" sz="1300">
                <a:solidFill>
                  <a:schemeClr val="lt1"/>
                </a:solidFill>
              </a:rPr>
            </a:b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Not all queries require retrieval—some are fully answerable using the LLM’s internal knowledge.</a:t>
            </a:r>
            <a:br>
              <a:rPr lang="en-GB" sz="1300">
                <a:solidFill>
                  <a:schemeClr val="lt1"/>
                </a:solidFill>
              </a:rPr>
            </a:b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Objective: Automatically classify whether a query </a:t>
            </a:r>
            <a:r>
              <a:rPr b="1" lang="en-GB" sz="1300">
                <a:solidFill>
                  <a:schemeClr val="lt1"/>
                </a:solidFill>
              </a:rPr>
              <a:t>requires retrieval</a:t>
            </a:r>
            <a:r>
              <a:rPr lang="en-GB" sz="1300">
                <a:solidFill>
                  <a:schemeClr val="lt1"/>
                </a:solidFill>
              </a:rPr>
              <a:t> or can be handled </a:t>
            </a:r>
            <a:r>
              <a:rPr b="1" lang="en-GB" sz="1300">
                <a:solidFill>
                  <a:schemeClr val="lt1"/>
                </a:solidFill>
              </a:rPr>
              <a:t>directly by the LLM</a:t>
            </a:r>
            <a:r>
              <a:rPr lang="en-GB" sz="1300">
                <a:solidFill>
                  <a:schemeClr val="lt1"/>
                </a:solidFill>
              </a:rPr>
              <a:t>.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lt1"/>
                </a:solidFill>
              </a:rPr>
              <a:t>Approach: Define Task Sufficiency</a:t>
            </a:r>
            <a:r>
              <a:rPr lang="en-GB" sz="1100">
                <a:solidFill>
                  <a:schemeClr val="lt1"/>
                </a:solidFill>
              </a:rPr>
              <a:t>::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GB" sz="1100">
                <a:solidFill>
                  <a:schemeClr val="lt1"/>
                </a:solidFill>
              </a:rPr>
              <a:t>Sufficient</a:t>
            </a:r>
            <a:r>
              <a:rPr lang="en-GB" sz="1100">
                <a:solidFill>
                  <a:schemeClr val="lt1"/>
                </a:solidFill>
              </a:rPr>
              <a:t>: Task is answerable from user input alone → No Retrieval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GB" sz="1100">
                <a:solidFill>
                  <a:schemeClr val="lt1"/>
                </a:solidFill>
              </a:rPr>
              <a:t>Insufficient</a:t>
            </a:r>
            <a:r>
              <a:rPr lang="en-GB" sz="1100">
                <a:solidFill>
                  <a:schemeClr val="lt1"/>
                </a:solidFill>
              </a:rPr>
              <a:t>: Task requires external knowledge →  Retrieval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</p:txBody>
      </p:sp>
      <p:graphicFrame>
        <p:nvGraphicFramePr>
          <p:cNvPr id="473" name="Google Shape;473;p44"/>
          <p:cNvGraphicFramePr/>
          <p:nvPr/>
        </p:nvGraphicFramePr>
        <p:xfrm>
          <a:off x="143550" y="3125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{F0CCD287-B4FA-44F8-B7B1-190A3A04613E}</a:tableStyleId>
              </a:tblPr>
              <a:tblGrid>
                <a:gridCol w="2076175"/>
                <a:gridCol w="2076175"/>
                <a:gridCol w="2076175"/>
                <a:gridCol w="2076175"/>
              </a:tblGrid>
              <a:tr h="30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Task Type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Example Query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Retrieval Needed?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Reasoning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Rewriting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Rewrite: </a:t>
                      </a:r>
                      <a:r>
                        <a:rPr i="1" lang="en-GB" sz="1200">
                          <a:solidFill>
                            <a:schemeClr val="lt1"/>
                          </a:solidFill>
                        </a:rPr>
                        <a:t>The cat sat on the mat. It was boring.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No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Task is fully based on input; no external data required.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Introduction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Introduce </a:t>
                      </a:r>
                      <a:r>
                        <a:rPr i="1" lang="en-GB" sz="1200">
                          <a:solidFill>
                            <a:schemeClr val="lt1"/>
                          </a:solidFill>
                        </a:rPr>
                        <a:t>Sora</a:t>
                      </a: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, a new AI model by OpenAI.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Yes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Requires knowledge about </a:t>
                      </a:r>
                      <a:r>
                        <a:rPr i="1" lang="en-GB" sz="1200">
                          <a:solidFill>
                            <a:schemeClr val="lt1"/>
                          </a:solidFill>
                        </a:rPr>
                        <a:t>Sora</a:t>
                      </a: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, not seen in training data.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5"/>
          <p:cNvSpPr txBox="1"/>
          <p:nvPr>
            <p:ph type="ctrTitle"/>
          </p:nvPr>
        </p:nvSpPr>
        <p:spPr>
          <a:xfrm>
            <a:off x="1100475" y="330675"/>
            <a:ext cx="6807600" cy="55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Query Classification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45"/>
          <p:cNvSpPr txBox="1"/>
          <p:nvPr/>
        </p:nvSpPr>
        <p:spPr>
          <a:xfrm>
            <a:off x="105675" y="515425"/>
            <a:ext cx="8797200" cy="45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</a:rPr>
              <a:t>Dataset Overview: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-GB" sz="1200">
                <a:solidFill>
                  <a:schemeClr val="lt1"/>
                </a:solidFill>
              </a:rPr>
              <a:t>111K total samples</a:t>
            </a:r>
            <a:r>
              <a:rPr lang="en-GB" sz="1200">
                <a:solidFill>
                  <a:schemeClr val="lt1"/>
                </a:solidFill>
              </a:rPr>
              <a:t> across </a:t>
            </a:r>
            <a:r>
              <a:rPr b="1" lang="en-GB" sz="1200">
                <a:solidFill>
                  <a:schemeClr val="lt1"/>
                </a:solidFill>
              </a:rPr>
              <a:t>15 task types</a:t>
            </a:r>
            <a:br>
              <a:rPr b="1" lang="en-GB" sz="1200">
                <a:solidFill>
                  <a:schemeClr val="lt1"/>
                </a:solidFill>
              </a:rPr>
            </a:b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-GB" sz="1200">
                <a:solidFill>
                  <a:schemeClr val="lt1"/>
                </a:solidFill>
              </a:rPr>
              <a:t>64K</a:t>
            </a:r>
            <a:r>
              <a:rPr lang="en-GB" sz="1200">
                <a:solidFill>
                  <a:schemeClr val="lt1"/>
                </a:solidFill>
              </a:rPr>
              <a:t> labeled as </a:t>
            </a:r>
            <a:r>
              <a:rPr i="1" lang="en-GB" sz="1200">
                <a:solidFill>
                  <a:schemeClr val="lt1"/>
                </a:solidFill>
              </a:rPr>
              <a:t>retrieval required</a:t>
            </a:r>
            <a:br>
              <a:rPr i="1" lang="en-GB" sz="1200">
                <a:solidFill>
                  <a:schemeClr val="lt1"/>
                </a:solidFill>
              </a:rPr>
            </a:br>
            <a:endParaRPr i="1"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-GB" sz="1200">
                <a:solidFill>
                  <a:schemeClr val="lt1"/>
                </a:solidFill>
              </a:rPr>
              <a:t>47K</a:t>
            </a:r>
            <a:r>
              <a:rPr lang="en-GB" sz="1200">
                <a:solidFill>
                  <a:schemeClr val="lt1"/>
                </a:solidFill>
              </a:rPr>
              <a:t> labeled as </a:t>
            </a:r>
            <a:r>
              <a:rPr i="1" lang="en-GB" sz="1200">
                <a:solidFill>
                  <a:schemeClr val="lt1"/>
                </a:solidFill>
              </a:rPr>
              <a:t>no retrieval required</a:t>
            </a:r>
            <a:br>
              <a:rPr i="1" lang="en-GB" sz="1200">
                <a:solidFill>
                  <a:schemeClr val="lt1"/>
                </a:solidFill>
              </a:rPr>
            </a:br>
            <a:endParaRPr i="1"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</a:rPr>
              <a:t>Data Sources:</a:t>
            </a:r>
            <a:r>
              <a:rPr lang="en-GB" sz="1200">
                <a:solidFill>
                  <a:schemeClr val="lt1"/>
                </a:solidFill>
              </a:rPr>
              <a:t>Code: </a:t>
            </a:r>
            <a:r>
              <a:rPr lang="en-GB"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code_alpaca_20k, </a:t>
            </a:r>
            <a:r>
              <a:rPr lang="en-GB" sz="1200">
                <a:solidFill>
                  <a:schemeClr val="lt1"/>
                </a:solidFill>
              </a:rPr>
              <a:t>Medical: </a:t>
            </a:r>
            <a:r>
              <a:rPr lang="en-GB"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medical_questions_pairs,</a:t>
            </a:r>
            <a:r>
              <a:rPr lang="en-GB" sz="1200">
                <a:solidFill>
                  <a:schemeClr val="lt1"/>
                </a:solidFill>
              </a:rPr>
              <a:t>Suggestions:</a:t>
            </a:r>
            <a:r>
              <a:rPr lang="en-GB" sz="1200">
                <a:solidFill>
                  <a:schemeClr val="lt1"/>
                </a:solidFill>
              </a:rPr>
              <a:t> </a:t>
            </a:r>
            <a:r>
              <a:rPr lang="en-GB"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oasst_quality_with_suggestions, </a:t>
            </a:r>
            <a:r>
              <a:rPr lang="en-GB" sz="1200">
                <a:solidFill>
                  <a:schemeClr val="lt1"/>
                </a:solidFill>
              </a:rPr>
              <a:t>Roleplay: </a:t>
            </a:r>
            <a:r>
              <a:rPr lang="en-GB"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roleplay_alpaca,</a:t>
            </a:r>
            <a:r>
              <a:rPr lang="en-GB" sz="1200">
                <a:solidFill>
                  <a:schemeClr val="lt1"/>
                </a:solidFill>
              </a:rPr>
              <a:t>Multi-task: </a:t>
            </a:r>
            <a:r>
              <a:rPr lang="en-GB"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Databricks-Dolly-15K, </a:t>
            </a:r>
            <a:r>
              <a:rPr lang="en-GB" sz="1200">
                <a:solidFill>
                  <a:schemeClr val="lt1"/>
                </a:solidFill>
              </a:rPr>
              <a:t>Synthetic: GPT-4 for uncovered tasks</a:t>
            </a:r>
            <a:br>
              <a:rPr lang="en-GB" sz="1200">
                <a:solidFill>
                  <a:schemeClr val="lt1"/>
                </a:solidFill>
              </a:rPr>
            </a:br>
            <a:r>
              <a:rPr b="1" lang="en-GB" sz="1200">
                <a:solidFill>
                  <a:schemeClr val="lt1"/>
                </a:solidFill>
              </a:rPr>
              <a:t>Model &amp; Training: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-GB" sz="1200">
                <a:solidFill>
                  <a:schemeClr val="lt1"/>
                </a:solidFill>
              </a:rPr>
              <a:t>Model</a:t>
            </a:r>
            <a:r>
              <a:rPr lang="en-GB" sz="1200">
                <a:solidFill>
                  <a:schemeClr val="lt1"/>
                </a:solidFill>
              </a:rPr>
              <a:t>: </a:t>
            </a:r>
            <a:r>
              <a:rPr lang="en-GB"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BERT-base-multilingual-cased</a:t>
            </a:r>
            <a:br>
              <a:rPr lang="en-GB"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2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-GB" sz="1200">
                <a:solidFill>
                  <a:schemeClr val="lt1"/>
                </a:solidFill>
              </a:rPr>
              <a:t>Batch size</a:t>
            </a:r>
            <a:r>
              <a:rPr lang="en-GB" sz="1200">
                <a:solidFill>
                  <a:schemeClr val="lt1"/>
                </a:solidFill>
              </a:rPr>
              <a:t>: 16</a:t>
            </a:r>
            <a:br>
              <a:rPr lang="en-GB" sz="1200">
                <a:solidFill>
                  <a:schemeClr val="lt1"/>
                </a:solidFill>
              </a:rPr>
            </a:b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-GB" sz="1200">
                <a:solidFill>
                  <a:schemeClr val="lt1"/>
                </a:solidFill>
              </a:rPr>
              <a:t>Learning rate</a:t>
            </a:r>
            <a:r>
              <a:rPr lang="en-GB" sz="1200">
                <a:solidFill>
                  <a:schemeClr val="lt1"/>
                </a:solidFill>
              </a:rPr>
              <a:t>: 1e-5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80" name="Google Shape;480;p45"/>
          <p:cNvSpPr txBox="1"/>
          <p:nvPr/>
        </p:nvSpPr>
        <p:spPr>
          <a:xfrm>
            <a:off x="3949500" y="2853400"/>
            <a:ext cx="5194500" cy="22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481" name="Google Shape;481;p45"/>
          <p:cNvGraphicFramePr/>
          <p:nvPr/>
        </p:nvGraphicFramePr>
        <p:xfrm>
          <a:off x="4306350" y="285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{5D1A7BFB-AFC5-478E-94C4-FD4E1BAADA06}</a:tableStyleId>
              </a:tblPr>
              <a:tblGrid>
                <a:gridCol w="1764025"/>
                <a:gridCol w="1120025"/>
              </a:tblGrid>
              <a:tr h="474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</a:rPr>
                        <a:t>Metric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</a:rPr>
                        <a:t>Score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Accuracy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95%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Precision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96%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Recall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94%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F1 Score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95%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6"/>
          <p:cNvSpPr txBox="1"/>
          <p:nvPr>
            <p:ph type="ctrTitle"/>
          </p:nvPr>
        </p:nvSpPr>
        <p:spPr>
          <a:xfrm>
            <a:off x="660650" y="-152250"/>
            <a:ext cx="6415800" cy="69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Chunking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7" name="Google Shape;487;p46"/>
          <p:cNvSpPr txBox="1"/>
          <p:nvPr/>
        </p:nvSpPr>
        <p:spPr>
          <a:xfrm>
            <a:off x="230525" y="765550"/>
            <a:ext cx="8123100" cy="39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488" name="Google Shape;488;p46"/>
          <p:cNvGraphicFramePr/>
          <p:nvPr/>
        </p:nvGraphicFramePr>
        <p:xfrm>
          <a:off x="289175" y="488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{F0CCD287-B4FA-44F8-B7B1-190A3A04613E}</a:tableStyleId>
              </a:tblPr>
              <a:tblGrid>
                <a:gridCol w="1713125"/>
                <a:gridCol w="1713125"/>
                <a:gridCol w="1713125"/>
                <a:gridCol w="1713125"/>
                <a:gridCol w="1713125"/>
              </a:tblGrid>
              <a:tr h="570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chemeClr val="lt1"/>
                          </a:solidFill>
                        </a:rPr>
                        <a:t>Strategy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chemeClr val="lt1"/>
                          </a:solidFill>
                        </a:rPr>
                        <a:t>Description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chemeClr val="lt1"/>
                          </a:solidFill>
                        </a:rPr>
                        <a:t>Pros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chemeClr val="lt1"/>
                          </a:solidFill>
                        </a:rPr>
                        <a:t>Cons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chemeClr val="lt1"/>
                          </a:solidFill>
                        </a:rPr>
                        <a:t>Why Chosen / Not Chosen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9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Small2Big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Matches small chunks, returns larger surrounding blocks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Retains context, boosts relevance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Slightly more complex retrieval logic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Effective but more complex; not primary choice for simplicity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9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Sliding Window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Overlapping chunks with fixed stride and window size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High recall, good for long contexts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May include redundant content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Useful for recall but adds redundancy and overhead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Sentence-level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Splits documents at sentence boundaries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Simple, preserves semantic coherence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May lose deeper semantic blocks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Chosen for balancing simplicity and semantic preservation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9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Token-level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Splits based on token count (e.g., 512 tokens)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Fast, easy to implement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Often breaks sentences and semantics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Too coarse, hurts retrieval quality due to broken semantics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7"/>
          <p:cNvSpPr txBox="1"/>
          <p:nvPr>
            <p:ph type="ctrTitle"/>
          </p:nvPr>
        </p:nvSpPr>
        <p:spPr>
          <a:xfrm>
            <a:off x="1013475" y="134949"/>
            <a:ext cx="6731400" cy="8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Experimental Results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94" name="Google Shape;494;p47"/>
          <p:cNvGraphicFramePr/>
          <p:nvPr/>
        </p:nvGraphicFramePr>
        <p:xfrm>
          <a:off x="147800" y="87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{F0CCD287-B4FA-44F8-B7B1-190A3A04613E}</a:tableStyleId>
              </a:tblPr>
              <a:tblGrid>
                <a:gridCol w="1991900"/>
                <a:gridCol w="1991900"/>
                <a:gridCol w="1991900"/>
                <a:gridCol w="1991900"/>
              </a:tblGrid>
              <a:tr h="347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1"/>
                          </a:solidFill>
                        </a:rPr>
                        <a:t>Chunking Technique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Faithfulness (%)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Relevancy (%)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Comment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Original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95.74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95.37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Baseline performance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Small2Big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96.67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95.37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Better context via large block return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Sliding Window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97.41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96.85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Best overall, though adds redundancy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5" name="Google Shape;495;p47"/>
          <p:cNvSpPr txBox="1"/>
          <p:nvPr/>
        </p:nvSpPr>
        <p:spPr>
          <a:xfrm>
            <a:off x="241400" y="3168750"/>
            <a:ext cx="7188000" cy="15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Key Insight:</a:t>
            </a:r>
            <a:endParaRPr b="1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-GB">
                <a:solidFill>
                  <a:schemeClr val="lt1"/>
                </a:solidFill>
              </a:rPr>
              <a:t>Sliding Window</a:t>
            </a:r>
            <a:r>
              <a:rPr lang="en-GB">
                <a:solidFill>
                  <a:schemeClr val="lt1"/>
                </a:solidFill>
              </a:rPr>
              <a:t> performs best but adds overhead.</a:t>
            </a:r>
            <a:br>
              <a:rPr lang="en-GB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-GB">
                <a:solidFill>
                  <a:schemeClr val="lt1"/>
                </a:solidFill>
              </a:rPr>
              <a:t>Small2Big</a:t>
            </a:r>
            <a:r>
              <a:rPr lang="en-GB">
                <a:solidFill>
                  <a:schemeClr val="lt1"/>
                </a:solidFill>
              </a:rPr>
              <a:t> is also strong but slightly more complex.</a:t>
            </a:r>
            <a:br>
              <a:rPr lang="en-GB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-GB">
                <a:solidFill>
                  <a:schemeClr val="lt1"/>
                </a:solidFill>
              </a:rPr>
              <a:t>Sentence-level chunking</a:t>
            </a:r>
            <a:r>
              <a:rPr lang="en-GB">
                <a:solidFill>
                  <a:schemeClr val="lt1"/>
                </a:solidFill>
              </a:rPr>
              <a:t> with </a:t>
            </a:r>
            <a:r>
              <a:rPr b="1" lang="en-GB">
                <a:solidFill>
                  <a:schemeClr val="lt1"/>
                </a:solidFill>
              </a:rPr>
              <a:t>sliding window</a:t>
            </a:r>
            <a:r>
              <a:rPr lang="en-GB">
                <a:solidFill>
                  <a:schemeClr val="lt1"/>
                </a:solidFill>
              </a:rPr>
              <a:t> gives top results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8"/>
          <p:cNvSpPr txBox="1"/>
          <p:nvPr>
            <p:ph type="ctrTitle"/>
          </p:nvPr>
        </p:nvSpPr>
        <p:spPr>
          <a:xfrm>
            <a:off x="1850800" y="-2"/>
            <a:ext cx="4599900" cy="57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Embedding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1" name="Google Shape;501;p48"/>
          <p:cNvSpPr txBox="1"/>
          <p:nvPr/>
        </p:nvSpPr>
        <p:spPr>
          <a:xfrm>
            <a:off x="143550" y="558925"/>
            <a:ext cx="8764500" cy="44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502" name="Google Shape;502;p48"/>
          <p:cNvGraphicFramePr/>
          <p:nvPr/>
        </p:nvGraphicFramePr>
        <p:xfrm>
          <a:off x="223950" y="576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{F0CCD287-B4FA-44F8-B7B1-190A3A04613E}</a:tableStyleId>
              </a:tblPr>
              <a:tblGrid>
                <a:gridCol w="1676150"/>
                <a:gridCol w="1676150"/>
                <a:gridCol w="1676150"/>
                <a:gridCol w="1676150"/>
                <a:gridCol w="1676150"/>
              </a:tblGrid>
              <a:tr h="87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Model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Type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Strengths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Weaknesses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Why Chosen / Not Chosen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BAAI/bge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Contrastive LLM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High performance on multiple retrieval benchmarks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Higher memory and compute requirements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Not chosen due to higher resource consumption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GTE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Lightweight LLM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Very efficient; small model size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Lower retrieval accuracy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Not chosen due to weaker semantic matching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LLM-Embedder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Contrastive LLM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Best trade-off between performance and model size; strong semantic alignment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Slightly slower than smaller models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lt1"/>
                          </a:solidFill>
                        </a:rPr>
                        <a:t>Chosen</a:t>
                      </a:r>
                      <a:r>
                        <a:rPr lang="en-GB">
                          <a:solidFill>
                            <a:schemeClr val="lt1"/>
                          </a:solidFill>
                        </a:rPr>
                        <a:t> for its </a:t>
                      </a:r>
                      <a:r>
                        <a:rPr b="1" lang="en-GB">
                          <a:solidFill>
                            <a:schemeClr val="lt1"/>
                          </a:solidFill>
                        </a:rPr>
                        <a:t>balanced performance</a:t>
                      </a:r>
                      <a:r>
                        <a:rPr lang="en-GB">
                          <a:solidFill>
                            <a:schemeClr val="lt1"/>
                          </a:solidFill>
                        </a:rPr>
                        <a:t>, generalization, and compact size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9"/>
          <p:cNvSpPr txBox="1"/>
          <p:nvPr>
            <p:ph type="ctrTitle"/>
          </p:nvPr>
        </p:nvSpPr>
        <p:spPr>
          <a:xfrm>
            <a:off x="1524575" y="330667"/>
            <a:ext cx="4783800" cy="69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Embedding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08" name="Google Shape;508;p49"/>
          <p:cNvGraphicFramePr/>
          <p:nvPr/>
        </p:nvGraphicFramePr>
        <p:xfrm>
          <a:off x="262000" y="11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{F0CCD287-B4FA-44F8-B7B1-190A3A04613E}</a:tableStyleId>
              </a:tblPr>
              <a:tblGrid>
                <a:gridCol w="1724000"/>
                <a:gridCol w="1724000"/>
                <a:gridCol w="1724000"/>
                <a:gridCol w="1724000"/>
                <a:gridCol w="1724000"/>
              </a:tblGrid>
              <a:tr h="783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Model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Type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Strengths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Weaknesses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Why Chosen / Not Chosen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Jina-v2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General-purpose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Supports long-document embeddings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Can underperform on domain-specific queries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Not chosen; lacks consistency across RAG use cases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5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all-mpnet-base-v2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General-purpose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Popular and well-tested for generic semantic search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Weaker performance on specialized or nuanced retrieval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Not chosen due to insufficient accuracy in comparison to contrastive LLMs like LLM-Embedder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0"/>
          <p:cNvSpPr txBox="1"/>
          <p:nvPr>
            <p:ph type="ctrTitle"/>
          </p:nvPr>
        </p:nvSpPr>
        <p:spPr>
          <a:xfrm>
            <a:off x="900125" y="316090"/>
            <a:ext cx="4968600" cy="38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Experimental Results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4" name="Google Shape;51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400" y="696500"/>
            <a:ext cx="6541600" cy="3244325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50"/>
          <p:cNvSpPr txBox="1"/>
          <p:nvPr/>
        </p:nvSpPr>
        <p:spPr>
          <a:xfrm>
            <a:off x="78300" y="4038675"/>
            <a:ext cx="8655900" cy="10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GB" sz="1200">
                <a:solidFill>
                  <a:schemeClr val="lt1"/>
                </a:solidFill>
              </a:rPr>
              <a:t>LLM-Embedder outperforms other models with a strong balance between accuracy and efficiency, making it the most practical choice for real-world RAG systems.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GB" sz="1200">
                <a:solidFill>
                  <a:schemeClr val="lt1"/>
                </a:solidFill>
              </a:rPr>
              <a:t>While </a:t>
            </a:r>
            <a:r>
              <a:rPr lang="en-GB" sz="1200">
                <a:solidFill>
                  <a:schemeClr val="lt1"/>
                </a:solidFill>
              </a:rPr>
              <a:t>larger models like BAAI/bge offer slight accuracy gains, they require more memory and add latency with diminishing returns.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1"/>
          <p:cNvSpPr txBox="1"/>
          <p:nvPr>
            <p:ph type="ctrTitle"/>
          </p:nvPr>
        </p:nvSpPr>
        <p:spPr>
          <a:xfrm>
            <a:off x="1383200" y="178424"/>
            <a:ext cx="6067800" cy="7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Experimental Results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21" name="Google Shape;521;p51"/>
          <p:cNvGraphicFramePr/>
          <p:nvPr/>
        </p:nvGraphicFramePr>
        <p:xfrm>
          <a:off x="289175" y="90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{F0CCD287-B4FA-44F8-B7B1-190A3A04613E}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1"/>
                          </a:solidFill>
                        </a:rPr>
                        <a:t>Chunk Size (Tokens)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Average Faithfulness (%)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Average Relevancy (%)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   </a:t>
                      </a:r>
                      <a:r>
                        <a:rPr lang="en-GB">
                          <a:solidFill>
                            <a:schemeClr val="lt1"/>
                          </a:solidFill>
                        </a:rPr>
                        <a:t>2048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80.37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91.11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1024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94.26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95.56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512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97.59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97.41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256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97.22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97.78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128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95.74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97.22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22" name="Google Shape;522;p51"/>
          <p:cNvSpPr txBox="1"/>
          <p:nvPr/>
        </p:nvSpPr>
        <p:spPr>
          <a:xfrm>
            <a:off x="187025" y="3494975"/>
            <a:ext cx="7111800" cy="12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lt1"/>
                </a:solidFill>
              </a:rPr>
              <a:t>Key Insight: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Larger chunks (2048) lack faithfulness due to excessive context.</a:t>
            </a:r>
            <a:br>
              <a:rPr lang="en-GB" sz="1300">
                <a:solidFill>
                  <a:schemeClr val="lt1"/>
                </a:solidFill>
              </a:rPr>
            </a:b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Smaller chunks (128) slightly reduce faithfulness, likely due to insufficient context.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52"/>
          <p:cNvSpPr txBox="1"/>
          <p:nvPr>
            <p:ph type="ctrTitle"/>
          </p:nvPr>
        </p:nvSpPr>
        <p:spPr>
          <a:xfrm>
            <a:off x="2031025" y="80492"/>
            <a:ext cx="4354200" cy="61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Vector Databases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8" name="Google Shape;528;p52"/>
          <p:cNvSpPr txBox="1"/>
          <p:nvPr/>
        </p:nvSpPr>
        <p:spPr>
          <a:xfrm>
            <a:off x="230525" y="700300"/>
            <a:ext cx="8808000" cy="44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</a:rPr>
              <a:t>Purpose</a:t>
            </a:r>
            <a:r>
              <a:rPr b="1" lang="en-GB" sz="1500">
                <a:solidFill>
                  <a:schemeClr val="lt1"/>
                </a:solidFill>
              </a:rPr>
              <a:t>:</a:t>
            </a:r>
            <a:r>
              <a:rPr lang="en-GB" sz="1500">
                <a:solidFill>
                  <a:schemeClr val="lt1"/>
                </a:solidFill>
              </a:rPr>
              <a:t>Efficiently store and retrieve embedding vectors with metadata using </a:t>
            </a:r>
            <a:r>
              <a:rPr b="1" lang="en-GB" sz="1500">
                <a:solidFill>
                  <a:schemeClr val="lt1"/>
                </a:solidFill>
              </a:rPr>
              <a:t>ANN (Approximate Nearest Neighbor)</a:t>
            </a:r>
            <a:r>
              <a:rPr lang="en-GB" sz="1500">
                <a:solidFill>
                  <a:schemeClr val="lt1"/>
                </a:solidFill>
              </a:rPr>
              <a:t> search.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lt1"/>
                </a:solidFill>
              </a:rPr>
              <a:t>Selection Criteria:</a:t>
            </a:r>
            <a:endParaRPr b="1"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 </a:t>
            </a:r>
            <a:r>
              <a:rPr b="1" lang="en-GB" sz="1300">
                <a:solidFill>
                  <a:schemeClr val="lt1"/>
                </a:solidFill>
              </a:rPr>
              <a:t>Multiple Index Types</a:t>
            </a:r>
            <a:r>
              <a:rPr lang="en-GB" sz="1300">
                <a:solidFill>
                  <a:schemeClr val="lt1"/>
                </a:solidFill>
              </a:rPr>
              <a:t>: Adaptable to data &amp; use case</a:t>
            </a:r>
            <a:br>
              <a:rPr lang="en-GB" sz="1300">
                <a:solidFill>
                  <a:schemeClr val="lt1"/>
                </a:solidFill>
              </a:rPr>
            </a:b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 </a:t>
            </a:r>
            <a:r>
              <a:rPr b="1" lang="en-GB" sz="1300">
                <a:solidFill>
                  <a:schemeClr val="lt1"/>
                </a:solidFill>
              </a:rPr>
              <a:t>Billion-scale Vector Support</a:t>
            </a:r>
            <a:r>
              <a:rPr lang="en-GB" sz="1300">
                <a:solidFill>
                  <a:schemeClr val="lt1"/>
                </a:solidFill>
              </a:rPr>
              <a:t>: Scalability for LLM corpora</a:t>
            </a:r>
            <a:br>
              <a:rPr lang="en-GB" sz="1300">
                <a:solidFill>
                  <a:schemeClr val="lt1"/>
                </a:solidFill>
              </a:rPr>
            </a:b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 </a:t>
            </a:r>
            <a:r>
              <a:rPr b="1" lang="en-GB" sz="1300">
                <a:solidFill>
                  <a:schemeClr val="lt1"/>
                </a:solidFill>
              </a:rPr>
              <a:t>Hybrid Search</a:t>
            </a:r>
            <a:r>
              <a:rPr lang="en-GB" sz="1300">
                <a:solidFill>
                  <a:schemeClr val="lt1"/>
                </a:solidFill>
              </a:rPr>
              <a:t>: Combines vector + keyword (semantic + exact match)</a:t>
            </a:r>
            <a:br>
              <a:rPr lang="en-GB" sz="1300">
                <a:solidFill>
                  <a:schemeClr val="lt1"/>
                </a:solidFill>
              </a:rPr>
            </a:b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 </a:t>
            </a:r>
            <a:r>
              <a:rPr b="1" lang="en-GB" sz="1300">
                <a:solidFill>
                  <a:schemeClr val="lt1"/>
                </a:solidFill>
              </a:rPr>
              <a:t>Cloud-native Capabilities</a:t>
            </a:r>
            <a:r>
              <a:rPr lang="en-GB" sz="1300">
                <a:solidFill>
                  <a:schemeClr val="lt1"/>
                </a:solidFill>
              </a:rPr>
              <a:t>: Easy integration, scalability</a:t>
            </a:r>
            <a:br>
              <a:rPr lang="en-GB" sz="1300">
                <a:solidFill>
                  <a:schemeClr val="lt1"/>
                </a:solidFill>
              </a:rPr>
            </a:b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lt1"/>
                </a:solidFill>
              </a:rPr>
              <a:t>Databases Evaluated: </a:t>
            </a:r>
            <a:r>
              <a:rPr lang="en-GB" sz="1300">
                <a:solidFill>
                  <a:schemeClr val="lt1"/>
                </a:solidFill>
              </a:rPr>
              <a:t>Weaviate ,Faiss ,Chroma,Qdrant,Milvus</a:t>
            </a:r>
            <a:br>
              <a:rPr lang="en-GB" sz="1300">
                <a:solidFill>
                  <a:schemeClr val="lt1"/>
                </a:solidFill>
              </a:rPr>
            </a:b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lt1"/>
                </a:solidFill>
              </a:rPr>
              <a:t>Conclusion: Milvus</a:t>
            </a:r>
            <a:r>
              <a:rPr lang="en-GB" sz="1300">
                <a:solidFill>
                  <a:schemeClr val="lt1"/>
                </a:solidFill>
              </a:rPr>
              <a:t> selected</a:t>
            </a:r>
            <a:br>
              <a:rPr lang="en-GB" sz="1300">
                <a:solidFill>
                  <a:schemeClr val="lt1"/>
                </a:solidFill>
              </a:rPr>
            </a:br>
            <a:r>
              <a:rPr lang="en-GB" sz="1300">
                <a:solidFill>
                  <a:schemeClr val="lt1"/>
                </a:solidFill>
              </a:rPr>
              <a:t> → Best overall performance across </a:t>
            </a:r>
            <a:r>
              <a:rPr b="1" lang="en-GB" sz="1300">
                <a:solidFill>
                  <a:schemeClr val="lt1"/>
                </a:solidFill>
              </a:rPr>
              <a:t>all 4 criteria</a:t>
            </a:r>
            <a:br>
              <a:rPr b="1" lang="en-GB" sz="1300">
                <a:solidFill>
                  <a:schemeClr val="lt1"/>
                </a:solidFill>
              </a:rPr>
            </a:br>
            <a:r>
              <a:rPr lang="en-GB" sz="1100">
                <a:solidFill>
                  <a:schemeClr val="lt1"/>
                </a:solidFill>
              </a:rPr>
              <a:t> → Most suitable for large-scale, production-ready RAG systems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529" name="Google Shape;52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0250" y="1428875"/>
            <a:ext cx="3235575" cy="239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3"/>
          <p:cNvSpPr txBox="1"/>
          <p:nvPr>
            <p:ph type="ctrTitle"/>
          </p:nvPr>
        </p:nvSpPr>
        <p:spPr>
          <a:xfrm>
            <a:off x="1089600" y="69698"/>
            <a:ext cx="5524200" cy="57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Retrieval Methods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35" name="Google Shape;535;p53"/>
          <p:cNvGraphicFramePr/>
          <p:nvPr/>
        </p:nvGraphicFramePr>
        <p:xfrm>
          <a:off x="119600" y="74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{F0CCD287-B4FA-44F8-B7B1-190A3A04613E}</a:tableStyleId>
              </a:tblPr>
              <a:tblGrid>
                <a:gridCol w="2130550"/>
                <a:gridCol w="2130550"/>
                <a:gridCol w="2130550"/>
                <a:gridCol w="2130550"/>
              </a:tblGrid>
              <a:tr h="543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1"/>
                          </a:solidFill>
                        </a:rPr>
                        <a:t>Technique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Problem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Solution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Goal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6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Query Rewriting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Original queries lack clarity or semantics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Use LLM (Zephyr-7B-alpha) to rewrite user queries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Increase alignment with relevant documents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Query Decomposition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Complex questions contain multiple intents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Use GPT-3.5-turbo to split into sub-queries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Retrieve more granular and relevant chunks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60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Pseudo-document Generation (HyDE)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Query might not match phrasing in corpus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Generate hypothetical answer with GPT-3.5-turbo-instruct, then embed it for retrieval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Improve semantic retrieval with answer-like context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Hybrid Search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Leverage strengths of lexical &amp; semantic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Combine BM25 (sparse) + Dense retrieval (LLM-Embedder)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Enhance overall retrieval quality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4"/>
          <p:cNvSpPr txBox="1"/>
          <p:nvPr>
            <p:ph type="ctrTitle"/>
          </p:nvPr>
        </p:nvSpPr>
        <p:spPr>
          <a:xfrm>
            <a:off x="317500" y="156700"/>
            <a:ext cx="8238900" cy="54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Retrieval Methods — Experimental Results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41" name="Google Shape;541;p54"/>
          <p:cNvGraphicFramePr/>
          <p:nvPr/>
        </p:nvGraphicFramePr>
        <p:xfrm>
          <a:off x="197875" y="1163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{5D1A7BFB-AFC5-478E-94C4-FD4E1BAADA06}</a:tableStyleId>
              </a:tblPr>
              <a:tblGrid>
                <a:gridCol w="2800300"/>
                <a:gridCol w="2299200"/>
                <a:gridCol w="2299200"/>
                <a:gridCol w="840100"/>
              </a:tblGrid>
              <a:tr h="329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</a:rPr>
                        <a:t>Method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</a:rPr>
                        <a:t>mAP (TREC DL 2019)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</a:rPr>
                        <a:t>mAP (TREC DL 2020)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</a:rPr>
                        <a:t>Latency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BM25 (sparse)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30.13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28.56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0.07s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Contriever (unsupervised)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23.99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23.98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1–3s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LLM-Embedder (supervised)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44.66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45.60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~0.7s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+ Query Rewriting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44.56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45.16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~2–7s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+ Query Decomposition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41.93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43.30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&gt;14s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+ HyDE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50.87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50.94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~7s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+ Hybrid Search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47.14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47.72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~3s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</a:rPr>
                        <a:t>Hybrid + HyDE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</a:rPr>
                        <a:t>52.13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</a:rPr>
                        <a:t>53.13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~3s–11s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5"/>
          <p:cNvSpPr txBox="1"/>
          <p:nvPr>
            <p:ph type="ctrTitle"/>
          </p:nvPr>
        </p:nvSpPr>
        <p:spPr>
          <a:xfrm>
            <a:off x="1905175" y="-60808"/>
            <a:ext cx="4816200" cy="69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Reranking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7" name="Google Shape;547;p55"/>
          <p:cNvSpPr txBox="1"/>
          <p:nvPr/>
        </p:nvSpPr>
        <p:spPr>
          <a:xfrm>
            <a:off x="0" y="548050"/>
            <a:ext cx="75249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</a:rPr>
              <a:t>G</a:t>
            </a:r>
            <a:r>
              <a:rPr b="1" lang="en-GB" sz="1200">
                <a:solidFill>
                  <a:schemeClr val="lt1"/>
                </a:solidFill>
              </a:rPr>
              <a:t>oal:</a:t>
            </a:r>
            <a:r>
              <a:rPr lang="en-GB" sz="1200">
                <a:solidFill>
                  <a:schemeClr val="lt1"/>
                </a:solidFill>
              </a:rPr>
              <a:t> Reorder retrieved documents to maximize relevance at the top using advanced semantic or probabilistic models.</a:t>
            </a:r>
            <a:endParaRPr sz="12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548" name="Google Shape;548;p55"/>
          <p:cNvGraphicFramePr/>
          <p:nvPr/>
        </p:nvGraphicFramePr>
        <p:xfrm>
          <a:off x="88400" y="107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{5D1A7BFB-AFC5-478E-94C4-FD4E1BAADA06}</a:tableStyleId>
              </a:tblPr>
              <a:tblGrid>
                <a:gridCol w="1051650"/>
                <a:gridCol w="6414200"/>
                <a:gridCol w="1501350"/>
              </a:tblGrid>
              <a:tr h="347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</a:rPr>
                        <a:t>Approach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</a:rPr>
                        <a:t>Description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</a:rPr>
                        <a:t>Trade‑off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</a:rPr>
                        <a:t>DLM Reranking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Uses fine-tuned deep language models (e.g., </a:t>
                      </a:r>
                      <a:r>
                        <a:rPr b="1" lang="en-GB" sz="1200">
                          <a:solidFill>
                            <a:schemeClr val="lt1"/>
                          </a:solidFill>
                        </a:rPr>
                        <a:t>monoT5</a:t>
                      </a: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, </a:t>
                      </a:r>
                      <a:r>
                        <a:rPr b="1" lang="en-GB" sz="1200">
                          <a:solidFill>
                            <a:schemeClr val="lt1"/>
                          </a:solidFill>
                        </a:rPr>
                        <a:t>monoBERT</a:t>
                      </a: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, </a:t>
                      </a:r>
                      <a:r>
                        <a:rPr b="1" lang="en-GB" sz="1200">
                          <a:solidFill>
                            <a:schemeClr val="lt1"/>
                          </a:solidFill>
                        </a:rPr>
                        <a:t>RankLLaMA</a:t>
                      </a: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) to rerank documents. These models are trained to predict whether a document is relevant ("true"/"false") based on the input query + document pair.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Highest accuracy;  Lower efficiency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</a:rPr>
                        <a:t>TILDE Reranking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A lightweight, precomputed query likelihood approach (</a:t>
                      </a:r>
                      <a:r>
                        <a:rPr b="1" lang="en-GB" sz="1200">
                          <a:solidFill>
                            <a:schemeClr val="lt1"/>
                          </a:solidFill>
                        </a:rPr>
                        <a:t>TILDEv2</a:t>
                      </a: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) that enables fast reranking by summing log-probabilities of query tokens. Designed for speed and small index size.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 Extremely fast;  Slightly lower accuracy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49" name="Google Shape;549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6575" y="3148600"/>
            <a:ext cx="5889025" cy="1873425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55"/>
          <p:cNvSpPr txBox="1"/>
          <p:nvPr/>
        </p:nvSpPr>
        <p:spPr>
          <a:xfrm>
            <a:off x="88400" y="3114375"/>
            <a:ext cx="2849100" cy="17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lt1"/>
                </a:solidFill>
              </a:rPr>
              <a:t>Final Choice:</a:t>
            </a:r>
            <a:r>
              <a:rPr lang="en-GB" sz="1300">
                <a:solidFill>
                  <a:schemeClr val="lt1"/>
                </a:solidFill>
              </a:rPr>
              <a:t> </a:t>
            </a:r>
            <a:r>
              <a:rPr lang="en-GB" sz="1500">
                <a:solidFill>
                  <a:schemeClr val="lt1"/>
                </a:solidFill>
              </a:rPr>
              <a:t>monoT5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</a:rPr>
              <a:t>Chosen for its strong trade-off between effectiveness and efficiency, making it suitable for most production and research scenarios.</a:t>
            </a:r>
            <a:endParaRPr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6"/>
          <p:cNvSpPr txBox="1"/>
          <p:nvPr>
            <p:ph type="ctrTitle"/>
          </p:nvPr>
        </p:nvSpPr>
        <p:spPr>
          <a:xfrm>
            <a:off x="893875" y="-7"/>
            <a:ext cx="6545400" cy="89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Document Repacking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6" name="Google Shape;556;p56"/>
          <p:cNvSpPr txBox="1"/>
          <p:nvPr/>
        </p:nvSpPr>
        <p:spPr>
          <a:xfrm>
            <a:off x="131200" y="830875"/>
            <a:ext cx="8995200" cy="38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lt1"/>
                </a:solidFill>
              </a:rPr>
              <a:t>Objective:</a:t>
            </a:r>
            <a:r>
              <a:rPr lang="en-GB" sz="1300">
                <a:solidFill>
                  <a:schemeClr val="lt1"/>
                </a:solidFill>
              </a:rPr>
              <a:t>Improve downstream QA performance by optimizing document order with repacking methods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</a:rPr>
              <a:t>Repacking Methods Compared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</p:txBody>
      </p:sp>
      <p:graphicFrame>
        <p:nvGraphicFramePr>
          <p:cNvPr id="557" name="Google Shape;557;p56"/>
          <p:cNvGraphicFramePr/>
          <p:nvPr/>
        </p:nvGraphicFramePr>
        <p:xfrm>
          <a:off x="293750" y="1598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{5D1A7BFB-AFC5-478E-94C4-FD4E1BAADA06}</a:tableStyleId>
              </a:tblPr>
              <a:tblGrid>
                <a:gridCol w="875475"/>
                <a:gridCol w="4752700"/>
                <a:gridCol w="1156925"/>
                <a:gridCol w="1219450"/>
              </a:tblGrid>
              <a:tr h="413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</a:rPr>
                        <a:t>Method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</a:rPr>
                        <a:t>Description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</a:rPr>
                        <a:t>Avg. Score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</a:rPr>
                        <a:t>Latency (s)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</a:rPr>
                        <a:t>Sides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Place relevant info at both head &amp; tail (default)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</a:rPr>
                        <a:t>0.443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11.71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Forward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Descending relevancy order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0.437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11.68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Reverse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Ascending relevancy order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0.446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11.70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58" name="Google Shape;558;p56"/>
          <p:cNvSpPr txBox="1"/>
          <p:nvPr/>
        </p:nvSpPr>
        <p:spPr>
          <a:xfrm>
            <a:off x="185575" y="3124250"/>
            <a:ext cx="8220900" cy="15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</a:rPr>
              <a:t>Key Insights: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GB" sz="1200">
                <a:solidFill>
                  <a:schemeClr val="lt1"/>
                </a:solidFill>
              </a:rPr>
              <a:t>All repacking methods improve QA performance over no repacking.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-GB" sz="1200">
                <a:solidFill>
                  <a:schemeClr val="lt1"/>
                </a:solidFill>
              </a:rPr>
              <a:t>Reverse</a:t>
            </a:r>
            <a:r>
              <a:rPr lang="en-GB" sz="1200">
                <a:solidFill>
                  <a:schemeClr val="lt1"/>
                </a:solidFill>
              </a:rPr>
              <a:t> ordering slightly outperforms others in average score but with similar latency.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-GB" sz="1200">
                <a:solidFill>
                  <a:schemeClr val="lt1"/>
                </a:solidFill>
              </a:rPr>
              <a:t>Sides</a:t>
            </a:r>
            <a:r>
              <a:rPr lang="en-GB" sz="1200">
                <a:solidFill>
                  <a:schemeClr val="lt1"/>
                </a:solidFill>
              </a:rPr>
              <a:t> method chosen as default due to balance of performance and theoretical motivation from Liu et al. (2024a).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GB" sz="1200">
                <a:solidFill>
                  <a:schemeClr val="lt1"/>
                </a:solidFill>
              </a:rPr>
              <a:t>Repacking integrated with classification, retrieval, and reranking modules boosts overall system accuracy and F1 scores.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GB" sz="1200">
                <a:solidFill>
                  <a:schemeClr val="lt1"/>
                </a:solidFill>
              </a:rPr>
              <a:t>Latency remains stable (~11.7s per query), maintaining efficiency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7"/>
          <p:cNvSpPr txBox="1"/>
          <p:nvPr>
            <p:ph type="ctrTitle"/>
          </p:nvPr>
        </p:nvSpPr>
        <p:spPr>
          <a:xfrm>
            <a:off x="1992150" y="-115201"/>
            <a:ext cx="5860500" cy="7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Summarization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4" name="Google Shape;564;p57"/>
          <p:cNvSpPr txBox="1"/>
          <p:nvPr/>
        </p:nvSpPr>
        <p:spPr>
          <a:xfrm>
            <a:off x="76225" y="493675"/>
            <a:ext cx="8471100" cy="37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</a:rPr>
              <a:t>Goal: </a:t>
            </a:r>
            <a:r>
              <a:rPr lang="en-GB" sz="1200">
                <a:solidFill>
                  <a:schemeClr val="lt1"/>
                </a:solidFill>
              </a:rPr>
              <a:t>Reduce redundancy and prompt length to improve LLM response quality and speed.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</a:rPr>
              <a:t>Methods (Query-Based Focus)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-GB" sz="1200">
                <a:solidFill>
                  <a:schemeClr val="lt1"/>
                </a:solidFill>
              </a:rPr>
              <a:t>Recomp: </a:t>
            </a:r>
            <a:r>
              <a:rPr i="1" lang="en-GB" sz="1200">
                <a:solidFill>
                  <a:schemeClr val="lt1"/>
                </a:solidFill>
              </a:rPr>
              <a:t>Extractive:</a:t>
            </a:r>
            <a:r>
              <a:rPr lang="en-GB" sz="1200">
                <a:solidFill>
                  <a:schemeClr val="lt1"/>
                </a:solidFill>
              </a:rPr>
              <a:t> Selects key sentences</a:t>
            </a:r>
            <a:br>
              <a:rPr lang="en-GB" sz="1200">
                <a:solidFill>
                  <a:schemeClr val="lt1"/>
                </a:solidFill>
              </a:rPr>
            </a:br>
            <a:r>
              <a:rPr lang="en-GB" sz="1200">
                <a:solidFill>
                  <a:schemeClr val="lt1"/>
                </a:solidFill>
              </a:rPr>
              <a:t>                </a:t>
            </a:r>
            <a:r>
              <a:rPr i="1" lang="en-GB" sz="1200">
                <a:solidFill>
                  <a:schemeClr val="lt1"/>
                </a:solidFill>
              </a:rPr>
              <a:t>Abstractive:</a:t>
            </a:r>
            <a:r>
              <a:rPr lang="en-GB" sz="1200">
                <a:solidFill>
                  <a:schemeClr val="lt1"/>
                </a:solidFill>
              </a:rPr>
              <a:t> Synthesizes cross-document info</a:t>
            </a:r>
            <a:br>
              <a:rPr lang="en-GB" sz="1200">
                <a:solidFill>
                  <a:schemeClr val="lt1"/>
                </a:solidFill>
              </a:rPr>
            </a:b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-GB" sz="1200">
                <a:solidFill>
                  <a:schemeClr val="lt1"/>
                </a:solidFill>
              </a:rPr>
              <a:t>LongLLMLingua:</a:t>
            </a:r>
            <a:r>
              <a:rPr lang="en-GB" sz="1200">
                <a:solidFill>
                  <a:schemeClr val="lt1"/>
                </a:solidFill>
              </a:rPr>
              <a:t> Emphasizes query-relevant content</a:t>
            </a:r>
            <a:br>
              <a:rPr lang="en-GB" sz="1200">
                <a:solidFill>
                  <a:schemeClr val="lt1"/>
                </a:solidFill>
              </a:rPr>
            </a:b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-GB" sz="1200">
                <a:solidFill>
                  <a:schemeClr val="lt1"/>
                </a:solidFill>
              </a:rPr>
              <a:t>SelectiveContext (Non-query-based):</a:t>
            </a:r>
            <a:r>
              <a:rPr lang="en-GB" sz="1200">
                <a:solidFill>
                  <a:schemeClr val="lt1"/>
                </a:solidFill>
              </a:rPr>
              <a:t> Removes low-info tokens using a causal LM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</a:rPr>
              <a:t>Setup : Model:</a:t>
            </a:r>
            <a:r>
              <a:rPr lang="en-GB" sz="1200">
                <a:solidFill>
                  <a:schemeClr val="lt1"/>
                </a:solidFill>
              </a:rPr>
              <a:t> LLaMA 3–8B-Instruct, </a:t>
            </a:r>
            <a:r>
              <a:rPr b="1" lang="en-GB" sz="1200">
                <a:solidFill>
                  <a:schemeClr val="lt1"/>
                </a:solidFill>
              </a:rPr>
              <a:t>Ratio:</a:t>
            </a:r>
            <a:r>
              <a:rPr lang="en-GB" sz="1200">
                <a:solidFill>
                  <a:schemeClr val="lt1"/>
                </a:solidFill>
              </a:rPr>
              <a:t> 0.4, </a:t>
            </a:r>
            <a:r>
              <a:rPr b="1" lang="en-GB" sz="1200">
                <a:solidFill>
                  <a:schemeClr val="lt1"/>
                </a:solidFill>
              </a:rPr>
              <a:t>Datasets:</a:t>
            </a:r>
            <a:r>
              <a:rPr lang="en-GB" sz="1200">
                <a:solidFill>
                  <a:schemeClr val="lt1"/>
                </a:solidFill>
              </a:rPr>
              <a:t> NQ, TriviaQA,  HotpotQA,  </a:t>
            </a:r>
            <a:r>
              <a:rPr b="1" lang="en-GB" sz="1200">
                <a:solidFill>
                  <a:schemeClr val="lt1"/>
                </a:solidFill>
              </a:rPr>
              <a:t>Metrics:</a:t>
            </a:r>
            <a:r>
              <a:rPr lang="en-GB" sz="1200">
                <a:solidFill>
                  <a:schemeClr val="lt1"/>
                </a:solidFill>
              </a:rPr>
              <a:t> F1, token count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5" name="Google Shape;565;p57"/>
          <p:cNvSpPr txBox="1"/>
          <p:nvPr/>
        </p:nvSpPr>
        <p:spPr>
          <a:xfrm>
            <a:off x="165300" y="2962125"/>
            <a:ext cx="2783700" cy="20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</a:rPr>
              <a:t>Result</a:t>
            </a:r>
            <a:r>
              <a:rPr lang="en-GB" sz="1200">
                <a:solidFill>
                  <a:schemeClr val="lt1"/>
                </a:solidFill>
              </a:rPr>
              <a:t> : </a:t>
            </a:r>
            <a:r>
              <a:rPr b="1" lang="en-GB" sz="1200">
                <a:solidFill>
                  <a:schemeClr val="lt1"/>
                </a:solidFill>
              </a:rPr>
              <a:t>Recomp (Abstractive)</a:t>
            </a:r>
            <a:r>
              <a:rPr lang="en-GB" sz="1200">
                <a:solidFill>
                  <a:schemeClr val="lt1"/>
                </a:solidFill>
              </a:rPr>
              <a:t> as the best summarization method due to its superior performance across all datasets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66" name="Google Shape;566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2975" y="2962125"/>
            <a:ext cx="5999100" cy="213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8"/>
          <p:cNvSpPr txBox="1"/>
          <p:nvPr>
            <p:ph type="ctrTitle"/>
          </p:nvPr>
        </p:nvSpPr>
        <p:spPr>
          <a:xfrm>
            <a:off x="1296200" y="-9"/>
            <a:ext cx="48924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Generator Fine-Tuning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2" name="Google Shape;572;p58"/>
          <p:cNvSpPr txBox="1"/>
          <p:nvPr/>
        </p:nvSpPr>
        <p:spPr>
          <a:xfrm>
            <a:off x="100050" y="406700"/>
            <a:ext cx="8145000" cy="46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lt1"/>
                </a:solidFill>
              </a:rPr>
              <a:t>Objective: </a:t>
            </a:r>
            <a:r>
              <a:rPr lang="en-GB" sz="1300">
                <a:solidFill>
                  <a:schemeClr val="lt1"/>
                </a:solidFill>
              </a:rPr>
              <a:t>Enhance LLM generation quality by studying the impact of </a:t>
            </a:r>
            <a:r>
              <a:rPr b="1" lang="en-GB" sz="1300">
                <a:solidFill>
                  <a:schemeClr val="lt1"/>
                </a:solidFill>
              </a:rPr>
              <a:t>relevant vs. irrelevant contexts</a:t>
            </a:r>
            <a:r>
              <a:rPr lang="en-GB" sz="1300">
                <a:solidFill>
                  <a:schemeClr val="lt1"/>
                </a:solidFill>
              </a:rPr>
              <a:t> during fine-tuning.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lt1"/>
                </a:solidFill>
              </a:rPr>
              <a:t>Model &amp; Setup: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GB" sz="1100">
                <a:solidFill>
                  <a:schemeClr val="lt1"/>
                </a:solidFill>
              </a:rPr>
              <a:t>Base Model:</a:t>
            </a:r>
            <a:r>
              <a:rPr lang="en-GB" sz="1100">
                <a:solidFill>
                  <a:schemeClr val="lt1"/>
                </a:solidFill>
              </a:rPr>
              <a:t> LLaMA-2-7B (Touvron et al., 2023b)</a:t>
            </a:r>
            <a:br>
              <a:rPr lang="en-GB" sz="1100">
                <a:solidFill>
                  <a:schemeClr val="lt1"/>
                </a:solidFill>
              </a:rPr>
            </a:b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GB" sz="1100">
                <a:solidFill>
                  <a:schemeClr val="lt1"/>
                </a:solidFill>
              </a:rPr>
              <a:t>Technique:</a:t>
            </a:r>
            <a:r>
              <a:rPr lang="en-GB" sz="1100">
                <a:solidFill>
                  <a:schemeClr val="lt1"/>
                </a:solidFill>
              </a:rPr>
              <a:t> LoRA + int8 quantization</a:t>
            </a:r>
            <a:br>
              <a:rPr lang="en-GB" sz="1100">
                <a:solidFill>
                  <a:schemeClr val="lt1"/>
                </a:solidFill>
              </a:rPr>
            </a:b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GB" sz="1100">
                <a:solidFill>
                  <a:schemeClr val="lt1"/>
                </a:solidFill>
              </a:rPr>
              <a:t>Training:</a:t>
            </a:r>
            <a:r>
              <a:rPr lang="en-GB" sz="1100">
                <a:solidFill>
                  <a:schemeClr val="lt1"/>
                </a:solidFill>
              </a:rPr>
              <a:t> 3 epochs, batch size 4, max seq length 1600, learning rate 5e-5</a:t>
            </a:r>
            <a:br>
              <a:rPr lang="en-GB" sz="1100">
                <a:solidFill>
                  <a:schemeClr val="lt1"/>
                </a:solidFill>
              </a:rPr>
            </a:b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GB" sz="1100">
                <a:solidFill>
                  <a:schemeClr val="lt1"/>
                </a:solidFill>
              </a:rPr>
              <a:t>Evaluation:</a:t>
            </a:r>
            <a:r>
              <a:rPr lang="en-GB" sz="1100">
                <a:solidFill>
                  <a:schemeClr val="lt1"/>
                </a:solidFill>
              </a:rPr>
              <a:t> Zero-shot on validation sets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GB" sz="1100">
                <a:solidFill>
                  <a:schemeClr val="lt1"/>
                </a:solidFill>
              </a:rPr>
              <a:t>using </a:t>
            </a:r>
            <a:r>
              <a:rPr b="1" lang="en-GB" sz="1100">
                <a:solidFill>
                  <a:schemeClr val="lt1"/>
                </a:solidFill>
              </a:rPr>
              <a:t>Ground-Truth Coverage</a:t>
            </a:r>
            <a:r>
              <a:rPr lang="en-GB" sz="1100">
                <a:solidFill>
                  <a:schemeClr val="lt1"/>
                </a:solidFill>
              </a:rPr>
              <a:t> (lenient EM)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lt1"/>
                </a:solidFill>
              </a:rPr>
              <a:t>Context Configurations (D):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GB" sz="1100">
                <a:solidFill>
                  <a:schemeClr val="lt1"/>
                </a:solidFill>
              </a:rPr>
              <a:t>Dg</a:t>
            </a:r>
            <a:r>
              <a:rPr lang="en-GB" sz="1100">
                <a:solidFill>
                  <a:schemeClr val="lt1"/>
                </a:solidFill>
              </a:rPr>
              <a:t> = {dgold}: Only relevant doc</a:t>
            </a:r>
            <a:br>
              <a:rPr lang="en-GB" sz="1100">
                <a:solidFill>
                  <a:schemeClr val="lt1"/>
                </a:solidFill>
              </a:rPr>
            </a:b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GB" sz="1100">
                <a:solidFill>
                  <a:schemeClr val="lt1"/>
                </a:solidFill>
              </a:rPr>
              <a:t>Dr</a:t>
            </a:r>
            <a:r>
              <a:rPr lang="en-GB" sz="1100">
                <a:solidFill>
                  <a:schemeClr val="lt1"/>
                </a:solidFill>
              </a:rPr>
              <a:t> = {drandom}: Only random doc</a:t>
            </a:r>
            <a:br>
              <a:rPr lang="en-GB" sz="1100">
                <a:solidFill>
                  <a:schemeClr val="lt1"/>
                </a:solidFill>
              </a:rPr>
            </a:b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GB" sz="1100">
                <a:solidFill>
                  <a:schemeClr val="lt1"/>
                </a:solidFill>
              </a:rPr>
              <a:t>Dgr</a:t>
            </a:r>
            <a:r>
              <a:rPr lang="en-GB" sz="1100">
                <a:solidFill>
                  <a:schemeClr val="lt1"/>
                </a:solidFill>
              </a:rPr>
              <a:t> = {dgold, drandom}: Relevant + random</a:t>
            </a:r>
            <a:br>
              <a:rPr lang="en-GB" sz="1100">
                <a:solidFill>
                  <a:schemeClr val="lt1"/>
                </a:solidFill>
              </a:rPr>
            </a:b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GB" sz="1100">
                <a:solidFill>
                  <a:schemeClr val="lt1"/>
                </a:solidFill>
              </a:rPr>
              <a:t>Dgg</a:t>
            </a:r>
            <a:r>
              <a:rPr lang="en-GB" sz="1100">
                <a:solidFill>
                  <a:schemeClr val="lt1"/>
                </a:solidFill>
              </a:rPr>
              <a:t> = {dgold, dgold}: Duplicated relevant doc</a:t>
            </a:r>
            <a:br>
              <a:rPr lang="en-GB" sz="1100">
                <a:solidFill>
                  <a:schemeClr val="lt1"/>
                </a:solidFill>
              </a:rPr>
            </a:b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GB" sz="1100">
                <a:solidFill>
                  <a:schemeClr val="lt1"/>
                </a:solidFill>
              </a:rPr>
              <a:t>D∅</a:t>
            </a:r>
            <a:r>
              <a:rPr lang="en-GB" sz="1100">
                <a:solidFill>
                  <a:schemeClr val="lt1"/>
                </a:solidFill>
              </a:rPr>
              <a:t> = No retrieval (baseline)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573" name="Google Shape;57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8775" y="972150"/>
            <a:ext cx="3775221" cy="3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59"/>
          <p:cNvSpPr txBox="1"/>
          <p:nvPr>
            <p:ph type="ctrTitle"/>
          </p:nvPr>
        </p:nvSpPr>
        <p:spPr>
          <a:xfrm>
            <a:off x="1328825" y="1"/>
            <a:ext cx="4446600" cy="9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Generator Fine-Tuning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59"/>
          <p:cNvSpPr txBox="1"/>
          <p:nvPr/>
        </p:nvSpPr>
        <p:spPr>
          <a:xfrm>
            <a:off x="197900" y="615475"/>
            <a:ext cx="8362200" cy="39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</a:rPr>
              <a:t>Datasets (Train/Eval):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GB" sz="1200">
                <a:solidFill>
                  <a:schemeClr val="lt1"/>
                </a:solidFill>
              </a:rPr>
              <a:t>ASQA (2,090 / 483)</a:t>
            </a:r>
            <a:br>
              <a:rPr lang="en-GB" sz="1200">
                <a:solidFill>
                  <a:schemeClr val="lt1"/>
                </a:solidFill>
              </a:rPr>
            </a:b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GB" sz="1200">
                <a:solidFill>
                  <a:schemeClr val="lt1"/>
                </a:solidFill>
              </a:rPr>
              <a:t>HotpotQA (15k / 7,405)</a:t>
            </a:r>
            <a:br>
              <a:rPr lang="en-GB" sz="1200">
                <a:solidFill>
                  <a:schemeClr val="lt1"/>
                </a:solidFill>
              </a:rPr>
            </a:b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GB" sz="1200">
                <a:solidFill>
                  <a:schemeClr val="lt1"/>
                </a:solidFill>
              </a:rPr>
              <a:t>TriviaQA (9k / 6,368)</a:t>
            </a:r>
            <a:br>
              <a:rPr lang="en-GB" sz="1200">
                <a:solidFill>
                  <a:schemeClr val="lt1"/>
                </a:solidFill>
              </a:rPr>
            </a:b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GB" sz="1200">
                <a:solidFill>
                  <a:schemeClr val="lt1"/>
                </a:solidFill>
              </a:rPr>
              <a:t>NQ (15k / 8,006)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GB" sz="1200">
                <a:solidFill>
                  <a:schemeClr val="lt1"/>
                </a:solidFill>
              </a:rPr>
              <a:t>NarrativeQA, SQuAD, TruthfulQA (used in training only)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</a:rPr>
              <a:t>Best Performance:</a:t>
            </a:r>
            <a:r>
              <a:rPr lang="en-GB" sz="1200">
                <a:solidFill>
                  <a:schemeClr val="lt1"/>
                </a:solidFill>
              </a:rPr>
              <a:t> 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GB" sz="1200">
                <a:solidFill>
                  <a:schemeClr val="lt1"/>
                </a:solidFill>
              </a:rPr>
              <a:t>Model trained with </a:t>
            </a:r>
            <a:r>
              <a:rPr b="1" lang="en-GB" sz="1200">
                <a:solidFill>
                  <a:schemeClr val="lt1"/>
                </a:solidFill>
              </a:rPr>
              <a:t>Dgr</a:t>
            </a:r>
            <a:r>
              <a:rPr lang="en-GB" sz="1200">
                <a:solidFill>
                  <a:schemeClr val="lt1"/>
                </a:solidFill>
              </a:rPr>
              <a:t> (relevant + random)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GB" sz="1200">
                <a:solidFill>
                  <a:schemeClr val="lt1"/>
                </a:solidFill>
              </a:rPr>
              <a:t>Most robust across clean and noisy input contexts</a:t>
            </a:r>
            <a:endParaRPr sz="12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80" name="Google Shape;58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615475"/>
            <a:ext cx="4494650" cy="380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60"/>
          <p:cNvSpPr txBox="1"/>
          <p:nvPr>
            <p:ph type="ctrTitle"/>
          </p:nvPr>
        </p:nvSpPr>
        <p:spPr>
          <a:xfrm>
            <a:off x="1557175" y="221924"/>
            <a:ext cx="6915900" cy="2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RAG System Evaluation Summary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6" name="Google Shape;586;p60"/>
          <p:cNvSpPr txBox="1"/>
          <p:nvPr/>
        </p:nvSpPr>
        <p:spPr>
          <a:xfrm>
            <a:off x="0" y="776425"/>
            <a:ext cx="6157200" cy="4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</a:rPr>
              <a:t>Tasks: </a:t>
            </a:r>
            <a:r>
              <a:rPr lang="en-GB" sz="1200">
                <a:solidFill>
                  <a:schemeClr val="lt1"/>
                </a:solidFill>
              </a:rPr>
              <a:t>Commonsense, Fact Checking, Open-Domain QA, MultiHop QA, Medical QA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</a:rPr>
              <a:t>Metrics: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GB" sz="1200">
                <a:solidFill>
                  <a:schemeClr val="lt1"/>
                </a:solidFill>
              </a:rPr>
              <a:t>Accuracy (Commonsense, Fact Checking, Medical QA)</a:t>
            </a:r>
            <a:br>
              <a:rPr lang="en-GB" sz="1200">
                <a:solidFill>
                  <a:schemeClr val="lt1"/>
                </a:solidFill>
              </a:rPr>
            </a:b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GB" sz="1200">
                <a:solidFill>
                  <a:schemeClr val="lt1"/>
                </a:solidFill>
              </a:rPr>
              <a:t>EM &amp; F1 (Open-Domain &amp; MultiHop QA)</a:t>
            </a:r>
            <a:br>
              <a:rPr lang="en-GB" sz="1200">
                <a:solidFill>
                  <a:schemeClr val="lt1"/>
                </a:solidFill>
              </a:rPr>
            </a:b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GB" sz="1200">
                <a:solidFill>
                  <a:schemeClr val="lt1"/>
                </a:solidFill>
              </a:rPr>
              <a:t>RAG Score: Avg. of</a:t>
            </a:r>
            <a:br>
              <a:rPr lang="en-GB" sz="1200">
                <a:solidFill>
                  <a:schemeClr val="lt1"/>
                </a:solidFill>
              </a:rPr>
            </a:br>
            <a:endParaRPr sz="1200">
              <a:solidFill>
                <a:schemeClr val="lt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</a:pPr>
            <a:r>
              <a:rPr lang="en-GB" sz="1200">
                <a:solidFill>
                  <a:schemeClr val="lt1"/>
                </a:solidFill>
              </a:rPr>
              <a:t>Faithfulness</a:t>
            </a:r>
            <a:br>
              <a:rPr lang="en-GB" sz="1200">
                <a:solidFill>
                  <a:schemeClr val="lt1"/>
                </a:solidFill>
              </a:rPr>
            </a:br>
            <a:endParaRPr sz="1200">
              <a:solidFill>
                <a:schemeClr val="lt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</a:pPr>
            <a:r>
              <a:rPr lang="en-GB" sz="1200">
                <a:solidFill>
                  <a:schemeClr val="lt1"/>
                </a:solidFill>
              </a:rPr>
              <a:t>Context &amp; Answer Relevancy</a:t>
            </a:r>
            <a:br>
              <a:rPr lang="en-GB" sz="1200">
                <a:solidFill>
                  <a:schemeClr val="lt1"/>
                </a:solidFill>
              </a:rPr>
            </a:br>
            <a:endParaRPr sz="1200">
              <a:solidFill>
                <a:schemeClr val="lt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</a:pPr>
            <a:r>
              <a:rPr lang="en-GB" sz="1200">
                <a:solidFill>
                  <a:schemeClr val="lt1"/>
                </a:solidFill>
              </a:rPr>
              <a:t>Answer Correctness</a:t>
            </a:r>
            <a:br>
              <a:rPr lang="en-GB" sz="1200">
                <a:solidFill>
                  <a:schemeClr val="lt1"/>
                </a:solidFill>
              </a:rPr>
            </a:br>
            <a:endParaRPr sz="1200">
              <a:solidFill>
                <a:schemeClr val="lt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</a:pPr>
            <a:r>
              <a:rPr lang="en-GB" sz="1200">
                <a:solidFill>
                  <a:schemeClr val="lt1"/>
                </a:solidFill>
              </a:rPr>
              <a:t>Retrieval Similarity</a:t>
            </a:r>
            <a:br>
              <a:rPr lang="en-GB" sz="1200">
                <a:solidFill>
                  <a:schemeClr val="lt1"/>
                </a:solidFill>
              </a:rPr>
            </a:b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</a:rPr>
              <a:t>Setup:</a:t>
            </a:r>
            <a:r>
              <a:rPr lang="en-GB" sz="1200">
                <a:solidFill>
                  <a:schemeClr val="lt1"/>
                </a:solidFill>
              </a:rPr>
              <a:t> Same corpus used; max 500 samples per dataset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1"/>
          <p:cNvSpPr txBox="1"/>
          <p:nvPr>
            <p:ph type="ctrTitle"/>
          </p:nvPr>
        </p:nvSpPr>
        <p:spPr>
          <a:xfrm>
            <a:off x="1383200" y="-2"/>
            <a:ext cx="4741200" cy="5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Results &amp; Key Findings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2" name="Google Shape;592;p61"/>
          <p:cNvSpPr txBox="1"/>
          <p:nvPr/>
        </p:nvSpPr>
        <p:spPr>
          <a:xfrm>
            <a:off x="90450" y="472000"/>
            <a:ext cx="8876100" cy="48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lt1"/>
                </a:solidFill>
              </a:rPr>
              <a:t>Q</a:t>
            </a:r>
            <a:r>
              <a:rPr b="1" lang="en-GB" sz="1200">
                <a:solidFill>
                  <a:schemeClr val="lt1"/>
                </a:solidFill>
              </a:rPr>
              <a:t>uery Classification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GB" sz="1200">
                <a:solidFill>
                  <a:schemeClr val="lt1"/>
                </a:solidFill>
              </a:rPr>
              <a:t>Improves accuracy (0.428 → 0.443)</a:t>
            </a:r>
            <a:br>
              <a:rPr lang="en-GB" sz="1200">
                <a:solidFill>
                  <a:schemeClr val="lt1"/>
                </a:solidFill>
              </a:rPr>
            </a:b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GB" sz="1200">
                <a:solidFill>
                  <a:schemeClr val="lt1"/>
                </a:solidFill>
              </a:rPr>
              <a:t>Reduces latency (16.41s → 11.58s)</a:t>
            </a:r>
            <a:br>
              <a:rPr lang="en-GB" sz="1200">
                <a:solidFill>
                  <a:schemeClr val="lt1"/>
                </a:solidFill>
              </a:rPr>
            </a:b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GB" sz="1200">
                <a:solidFill>
                  <a:schemeClr val="lt1"/>
                </a:solidFill>
              </a:rPr>
              <a:t>Filters out unnecessary retrieval for faster response</a:t>
            </a:r>
            <a:br>
              <a:rPr lang="en-GB" sz="1200">
                <a:solidFill>
                  <a:schemeClr val="lt1"/>
                </a:solidFill>
              </a:rPr>
            </a:b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</a:rPr>
              <a:t>2. Retrieval Module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-GB" sz="1200">
                <a:solidFill>
                  <a:schemeClr val="lt1"/>
                </a:solidFill>
              </a:rPr>
              <a:t>Hybrid (Dense + BM25)</a:t>
            </a:r>
            <a:r>
              <a:rPr lang="en-GB" sz="1200">
                <a:solidFill>
                  <a:schemeClr val="lt1"/>
                </a:solidFill>
              </a:rPr>
              <a:t> balances semantics &amp; term-matching</a:t>
            </a:r>
            <a:br>
              <a:rPr lang="en-GB" sz="1200">
                <a:solidFill>
                  <a:schemeClr val="lt1"/>
                </a:solidFill>
              </a:rPr>
            </a:b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-GB" sz="1200">
                <a:solidFill>
                  <a:schemeClr val="lt1"/>
                </a:solidFill>
              </a:rPr>
              <a:t>Hybrid+HyDE</a:t>
            </a:r>
            <a:r>
              <a:rPr lang="en-GB" sz="1200">
                <a:solidFill>
                  <a:schemeClr val="lt1"/>
                </a:solidFill>
              </a:rPr>
              <a:t> achieves highest RAG score (0.58) but slower</a:t>
            </a:r>
            <a:br>
              <a:rPr lang="en-GB" sz="1200">
                <a:solidFill>
                  <a:schemeClr val="lt1"/>
                </a:solidFill>
              </a:rPr>
            </a:b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-GB" sz="1200">
                <a:solidFill>
                  <a:schemeClr val="lt1"/>
                </a:solidFill>
              </a:rPr>
              <a:t>Original/Hybrid</a:t>
            </a:r>
            <a:r>
              <a:rPr lang="en-GB" sz="1200">
                <a:solidFill>
                  <a:schemeClr val="lt1"/>
                </a:solidFill>
              </a:rPr>
              <a:t> recommended for efficiency</a:t>
            </a:r>
            <a:br>
              <a:rPr lang="en-GB" sz="1200">
                <a:solidFill>
                  <a:schemeClr val="lt1"/>
                </a:solidFill>
              </a:rPr>
            </a:b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</a:rPr>
              <a:t>3. Reranking Module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GB" sz="1200">
                <a:solidFill>
                  <a:schemeClr val="lt1"/>
                </a:solidFill>
              </a:rPr>
              <a:t>Essential for quality results</a:t>
            </a:r>
            <a:br>
              <a:rPr lang="en-GB" sz="1200">
                <a:solidFill>
                  <a:schemeClr val="lt1"/>
                </a:solidFill>
              </a:rPr>
            </a:b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-GB" sz="1200">
                <a:solidFill>
                  <a:schemeClr val="lt1"/>
                </a:solidFill>
              </a:rPr>
              <a:t>monoT5</a:t>
            </a:r>
            <a:r>
              <a:rPr lang="en-GB" sz="1200">
                <a:solidFill>
                  <a:schemeClr val="lt1"/>
                </a:solidFill>
              </a:rPr>
              <a:t> outperforms monoBERT &amp; RankLLaMA due to architecture and scale</a:t>
            </a:r>
            <a:br>
              <a:rPr lang="en-GB" sz="1200">
                <a:solidFill>
                  <a:schemeClr val="lt1"/>
                </a:solidFill>
              </a:rPr>
            </a:b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62"/>
          <p:cNvSpPr txBox="1"/>
          <p:nvPr>
            <p:ph type="ctrTitle"/>
          </p:nvPr>
        </p:nvSpPr>
        <p:spPr>
          <a:xfrm>
            <a:off x="1502825" y="91449"/>
            <a:ext cx="6144000" cy="5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Results &amp; Key Findings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8" name="Google Shape;598;p62"/>
          <p:cNvSpPr txBox="1"/>
          <p:nvPr/>
        </p:nvSpPr>
        <p:spPr>
          <a:xfrm>
            <a:off x="219650" y="787300"/>
            <a:ext cx="8003400" cy="4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</a:rPr>
              <a:t>4. </a:t>
            </a:r>
            <a:r>
              <a:rPr b="1" lang="en-GB">
                <a:solidFill>
                  <a:schemeClr val="lt1"/>
                </a:solidFill>
              </a:rPr>
              <a:t>Repacking Strategy</a:t>
            </a:r>
            <a:endParaRPr b="1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-GB">
                <a:solidFill>
                  <a:schemeClr val="lt1"/>
                </a:solidFill>
              </a:rPr>
              <a:t>Reverse order</a:t>
            </a:r>
            <a:r>
              <a:rPr lang="en-GB">
                <a:solidFill>
                  <a:schemeClr val="lt1"/>
                </a:solidFill>
              </a:rPr>
              <a:t> gives best RAG score (0.560) by placing relevant context first</a:t>
            </a:r>
            <a:br>
              <a:rPr lang="en-GB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5. Summarization Module</a:t>
            </a:r>
            <a:endParaRPr b="1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-GB">
                <a:solidFill>
                  <a:schemeClr val="lt1"/>
                </a:solidFill>
              </a:rPr>
              <a:t>Recomp (Extractive)</a:t>
            </a:r>
            <a:r>
              <a:rPr lang="en-GB">
                <a:solidFill>
                  <a:schemeClr val="lt1"/>
                </a:solidFill>
              </a:rPr>
              <a:t> &gt; LongLLMLingua</a:t>
            </a:r>
            <a:br>
              <a:rPr lang="en-GB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GB">
                <a:solidFill>
                  <a:schemeClr val="lt1"/>
                </a:solidFill>
              </a:rPr>
              <a:t>Preserves meaning and fits length constraints</a:t>
            </a:r>
            <a:br>
              <a:rPr lang="en-GB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GB">
                <a:solidFill>
                  <a:schemeClr val="lt1"/>
                </a:solidFill>
              </a:rPr>
              <a:t>Can be skipped to reduce latency when needed</a:t>
            </a:r>
            <a:br>
              <a:rPr lang="en-GB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Conclusion: </a:t>
            </a:r>
            <a:r>
              <a:rPr lang="en-GB">
                <a:solidFill>
                  <a:schemeClr val="lt1"/>
                </a:solidFill>
              </a:rPr>
              <a:t>Each module contributes to performance. Best config:</a:t>
            </a:r>
            <a:br>
              <a:rPr lang="en-GB">
                <a:solidFill>
                  <a:schemeClr val="lt1"/>
                </a:solidFill>
              </a:rPr>
            </a:br>
            <a:r>
              <a:rPr lang="en-GB">
                <a:solidFill>
                  <a:schemeClr val="lt1"/>
                </a:solidFill>
              </a:rPr>
              <a:t> Classification + Hybrid Retrieval + monoT5 + Reverse Packing + Recomp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63"/>
          <p:cNvSpPr txBox="1"/>
          <p:nvPr>
            <p:ph type="ctrTitle"/>
          </p:nvPr>
        </p:nvSpPr>
        <p:spPr>
          <a:xfrm>
            <a:off x="856500" y="184851"/>
            <a:ext cx="5420100" cy="5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Results &amp; Key Findings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4" name="Google Shape;604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9200" y="603225"/>
            <a:ext cx="6491926" cy="443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64"/>
          <p:cNvSpPr txBox="1"/>
          <p:nvPr>
            <p:ph type="ctrTitle"/>
          </p:nvPr>
        </p:nvSpPr>
        <p:spPr>
          <a:xfrm>
            <a:off x="154425" y="87050"/>
            <a:ext cx="8797200" cy="8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Multimodal RAG: Retrieval as Generation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64"/>
          <p:cNvSpPr txBox="1"/>
          <p:nvPr/>
        </p:nvSpPr>
        <p:spPr>
          <a:xfrm>
            <a:off x="1339700" y="906900"/>
            <a:ext cx="6263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11" name="Google Shape;611;p64"/>
          <p:cNvSpPr txBox="1"/>
          <p:nvPr/>
        </p:nvSpPr>
        <p:spPr>
          <a:xfrm>
            <a:off x="154425" y="406700"/>
            <a:ext cx="8286000" cy="46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</a:rPr>
              <a:t>Objective: </a:t>
            </a:r>
            <a:r>
              <a:rPr lang="en-GB" sz="1500">
                <a:solidFill>
                  <a:schemeClr val="lt1"/>
                </a:solidFill>
              </a:rPr>
              <a:t>Enhance RAG to process </a:t>
            </a:r>
            <a:r>
              <a:rPr b="1" lang="en-GB" sz="1500">
                <a:solidFill>
                  <a:schemeClr val="lt1"/>
                </a:solidFill>
              </a:rPr>
              <a:t>image-text pairs</a:t>
            </a:r>
            <a:r>
              <a:rPr lang="en-GB" sz="1500">
                <a:solidFill>
                  <a:schemeClr val="lt1"/>
                </a:solidFill>
              </a:rPr>
              <a:t> for </a:t>
            </a:r>
            <a:r>
              <a:rPr b="1" lang="en-GB" sz="1500">
                <a:solidFill>
                  <a:schemeClr val="lt1"/>
                </a:solidFill>
              </a:rPr>
              <a:t>retrieval</a:t>
            </a:r>
            <a:r>
              <a:rPr lang="en-GB" sz="1500">
                <a:solidFill>
                  <a:schemeClr val="lt1"/>
                </a:solidFill>
              </a:rPr>
              <a:t> and </a:t>
            </a:r>
            <a:r>
              <a:rPr b="1" lang="en-GB" sz="1500">
                <a:solidFill>
                  <a:schemeClr val="lt1"/>
                </a:solidFill>
              </a:rPr>
              <a:t>generation</a:t>
            </a:r>
            <a:r>
              <a:rPr lang="en-GB" sz="1500">
                <a:solidFill>
                  <a:schemeClr val="lt1"/>
                </a:solidFill>
              </a:rPr>
              <a:t>, improving performance in multimodal (text + image) tasks.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612" name="Google Shape;612;p64"/>
          <p:cNvGraphicFramePr/>
          <p:nvPr/>
        </p:nvGraphicFramePr>
        <p:xfrm>
          <a:off x="154413" y="1291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{5D1A7BFB-AFC5-478E-94C4-FD4E1BAADA06}</a:tableStyleId>
              </a:tblPr>
              <a:tblGrid>
                <a:gridCol w="2403400"/>
                <a:gridCol w="5828250"/>
              </a:tblGrid>
              <a:tr h="435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chemeClr val="lt1"/>
                          </a:solidFill>
                        </a:rPr>
                        <a:t>Component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chemeClr val="lt1"/>
                          </a:solidFill>
                        </a:rPr>
                        <a:t>Details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chemeClr val="lt1"/>
                          </a:solidFill>
                        </a:rPr>
                        <a:t>Text-to-Image Retrieval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• Text query → search image DB using similarity (e.g., CLIP)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• If high match → </a:t>
                      </a:r>
                      <a:r>
                        <a:rPr b="1" lang="en-GB" sz="1300">
                          <a:solidFill>
                            <a:schemeClr val="lt1"/>
                          </a:solidFill>
                        </a:rPr>
                        <a:t>return retrieved image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• Else → </a:t>
                      </a:r>
                      <a:r>
                        <a:rPr b="1" lang="en-GB" sz="1300">
                          <a:solidFill>
                            <a:schemeClr val="lt1"/>
                          </a:solidFill>
                        </a:rPr>
                        <a:t>generate image</a:t>
                      </a: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 via model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chemeClr val="lt1"/>
                          </a:solidFill>
                        </a:rPr>
                        <a:t>Image-to-Text Retrieval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• Input image → match with images in DB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• If high similarity → </a:t>
                      </a:r>
                      <a:r>
                        <a:rPr b="1" lang="en-GB" sz="1300">
                          <a:solidFill>
                            <a:schemeClr val="lt1"/>
                          </a:solidFill>
                        </a:rPr>
                        <a:t>return pre-stored caption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• Else → </a:t>
                      </a:r>
                      <a:r>
                        <a:rPr b="1" lang="en-GB" sz="1300">
                          <a:solidFill>
                            <a:schemeClr val="lt1"/>
                          </a:solidFill>
                        </a:rPr>
                        <a:t>generate new caption</a:t>
                      </a: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 with captioning model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chemeClr val="lt1"/>
                          </a:solidFill>
                        </a:rPr>
                        <a:t>Evaluation Metrics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• </a:t>
                      </a:r>
                      <a:r>
                        <a:rPr b="1" lang="en-GB" sz="1300">
                          <a:solidFill>
                            <a:schemeClr val="lt1"/>
                          </a:solidFill>
                        </a:rPr>
                        <a:t>Answer Correctness</a:t>
                      </a: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: Accuracy vs. ground truth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1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chemeClr val="lt1"/>
                          </a:solidFill>
                        </a:rPr>
                        <a:t>Implementation Setup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• Max tokens: 100 (OpenQA/MultiHop), 50 (others)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• Truncate docs to 2048 words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• </a:t>
                      </a:r>
                      <a:r>
                        <a:rPr b="1" lang="en-GB" sz="1300">
                          <a:solidFill>
                            <a:schemeClr val="lt1"/>
                          </a:solidFill>
                        </a:rPr>
                        <a:t>Greedy decoding</a:t>
                      </a: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, </a:t>
                      </a:r>
                      <a:r>
                        <a:rPr b="1" lang="en-GB" sz="1300">
                          <a:solidFill>
                            <a:schemeClr val="lt1"/>
                          </a:solidFill>
                        </a:rPr>
                        <a:t>0-shot evaluation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• Regex used to standardize generated answers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65"/>
          <p:cNvSpPr txBox="1"/>
          <p:nvPr>
            <p:ph type="ctrTitle"/>
          </p:nvPr>
        </p:nvSpPr>
        <p:spPr>
          <a:xfrm>
            <a:off x="110925" y="-50025"/>
            <a:ext cx="84492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Multimodal RAG: Retrieval as Generation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8" name="Google Shape;618;p65"/>
          <p:cNvSpPr txBox="1"/>
          <p:nvPr/>
        </p:nvSpPr>
        <p:spPr>
          <a:xfrm>
            <a:off x="110925" y="906925"/>
            <a:ext cx="8036100" cy="4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/>
          </a:p>
        </p:txBody>
      </p:sp>
      <p:pic>
        <p:nvPicPr>
          <p:cNvPr id="619" name="Google Shape;619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913" y="933525"/>
            <a:ext cx="4067175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65"/>
          <p:cNvSpPr txBox="1"/>
          <p:nvPr/>
        </p:nvSpPr>
        <p:spPr>
          <a:xfrm>
            <a:off x="219650" y="2298800"/>
            <a:ext cx="4352400" cy="24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</a:rPr>
              <a:t>Key Takeaways</a:t>
            </a:r>
            <a:endParaRPr b="1" sz="15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Retrieval is </a:t>
            </a:r>
            <a:r>
              <a:rPr b="1" lang="en-GB" sz="1300">
                <a:solidFill>
                  <a:schemeClr val="lt1"/>
                </a:solidFill>
              </a:rPr>
              <a:t>significantly faster</a:t>
            </a:r>
            <a:r>
              <a:rPr lang="en-GB" sz="1300">
                <a:solidFill>
                  <a:schemeClr val="lt1"/>
                </a:solidFill>
              </a:rPr>
              <a:t> than generation.</a:t>
            </a:r>
            <a:br>
              <a:rPr lang="en-GB" sz="1300">
                <a:solidFill>
                  <a:schemeClr val="lt1"/>
                </a:solidFill>
              </a:rPr>
            </a:b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Quality is </a:t>
            </a:r>
            <a:r>
              <a:rPr b="1" lang="en-GB" sz="1300">
                <a:solidFill>
                  <a:schemeClr val="lt1"/>
                </a:solidFill>
              </a:rPr>
              <a:t>comparable</a:t>
            </a:r>
            <a:r>
              <a:rPr lang="en-GB" sz="1300">
                <a:solidFill>
                  <a:schemeClr val="lt1"/>
                </a:solidFill>
              </a:rPr>
              <a:t>—and better when relevant content exists in retrieval base.</a:t>
            </a:r>
            <a:br>
              <a:rPr lang="en-GB" sz="1300">
                <a:solidFill>
                  <a:schemeClr val="lt1"/>
                </a:solidFill>
              </a:rPr>
            </a:b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Retrieval performance improves by </a:t>
            </a:r>
            <a:r>
              <a:rPr b="1" lang="en-GB" sz="1300">
                <a:solidFill>
                  <a:schemeClr val="lt1"/>
                </a:solidFill>
              </a:rPr>
              <a:t>expanding and refining the dataset</a:t>
            </a:r>
            <a:r>
              <a:rPr lang="en-GB" sz="1300">
                <a:solidFill>
                  <a:schemeClr val="lt1"/>
                </a:solidFill>
              </a:rPr>
              <a:t>.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21" name="Google Shape;621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3500" y="580675"/>
            <a:ext cx="4404724" cy="434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66"/>
          <p:cNvSpPr txBox="1"/>
          <p:nvPr>
            <p:ph type="ctrTitle"/>
          </p:nvPr>
        </p:nvSpPr>
        <p:spPr>
          <a:xfrm>
            <a:off x="437150" y="58819"/>
            <a:ext cx="6023400" cy="9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7" name="Google Shape;627;p66"/>
          <p:cNvSpPr txBox="1"/>
          <p:nvPr/>
        </p:nvSpPr>
        <p:spPr>
          <a:xfrm>
            <a:off x="219650" y="993900"/>
            <a:ext cx="8231700" cy="3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GB" sz="1600">
                <a:solidFill>
                  <a:schemeClr val="lt1"/>
                </a:solidFill>
              </a:rPr>
              <a:t>Limited Chunking Scope: Only a few chunking techniques were tested (e.g., sentence-level, sliding window).</a:t>
            </a:r>
            <a:br>
              <a:rPr lang="en-GB" sz="1600">
                <a:solidFill>
                  <a:schemeClr val="lt1"/>
                </a:solidFill>
              </a:rPr>
            </a:b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GB" sz="1600">
                <a:solidFill>
                  <a:schemeClr val="lt1"/>
                </a:solidFill>
              </a:rPr>
              <a:t>Retriever Fine-Tuning was not explored in depth; focus was only on generator fine-tuning.</a:t>
            </a:r>
            <a:br>
              <a:rPr lang="en-GB" sz="1600">
                <a:solidFill>
                  <a:schemeClr val="lt1"/>
                </a:solidFill>
              </a:rPr>
            </a:b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GB" sz="1600">
                <a:solidFill>
                  <a:schemeClr val="lt1"/>
                </a:solidFill>
              </a:rPr>
              <a:t> Experiments used only text modality for most of the evaluation.</a:t>
            </a:r>
            <a:br>
              <a:rPr lang="en-GB" sz="1600">
                <a:solidFill>
                  <a:schemeClr val="lt1"/>
                </a:solidFill>
              </a:rPr>
            </a:b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GB" sz="1600">
                <a:solidFill>
                  <a:schemeClr val="lt1"/>
                </a:solidFill>
              </a:rPr>
              <a:t>High cost of building large vector DBs and running evaluations limited broader comparisons.</a:t>
            </a:r>
            <a:br>
              <a:rPr lang="en-GB" sz="1600"/>
            </a:b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67"/>
          <p:cNvSpPr txBox="1"/>
          <p:nvPr>
            <p:ph type="ctrTitle"/>
          </p:nvPr>
        </p:nvSpPr>
        <p:spPr>
          <a:xfrm>
            <a:off x="882975" y="113192"/>
            <a:ext cx="4968600" cy="69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Future Work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3" name="Google Shape;633;p67"/>
          <p:cNvSpPr txBox="1"/>
          <p:nvPr/>
        </p:nvSpPr>
        <p:spPr>
          <a:xfrm>
            <a:off x="100050" y="722050"/>
            <a:ext cx="8623200" cy="42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GB">
                <a:solidFill>
                  <a:schemeClr val="lt1"/>
                </a:solidFill>
              </a:rPr>
              <a:t>J</a:t>
            </a:r>
            <a:r>
              <a:rPr lang="en-GB" sz="1700">
                <a:solidFill>
                  <a:schemeClr val="lt1"/>
                </a:solidFill>
              </a:rPr>
              <a:t>oint Retriever–Generator Fine-Tuning: Study effects of co-training both components.</a:t>
            </a:r>
            <a:br>
              <a:rPr lang="en-GB" sz="1700">
                <a:solidFill>
                  <a:schemeClr val="lt1"/>
                </a:solidFill>
              </a:rPr>
            </a:b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-GB" sz="1700">
                <a:solidFill>
                  <a:schemeClr val="lt1"/>
                </a:solidFill>
              </a:rPr>
              <a:t>More Chunking Techniques: Explore semantic chunking, query-aware chunking, and metadata enrichment.</a:t>
            </a:r>
            <a:br>
              <a:rPr lang="en-GB" sz="1700">
                <a:solidFill>
                  <a:schemeClr val="lt1"/>
                </a:solidFill>
              </a:rPr>
            </a:b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-GB" sz="1700">
                <a:solidFill>
                  <a:schemeClr val="lt1"/>
                </a:solidFill>
              </a:rPr>
              <a:t> Expand Multimodal RAG: Extend current methods to handle video, speech, and cross-modal retrieval tasks.</a:t>
            </a:r>
            <a:br>
              <a:rPr lang="en-GB" sz="1700">
                <a:solidFill>
                  <a:schemeClr val="lt1"/>
                </a:solidFill>
              </a:rPr>
            </a:b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-GB" sz="1700">
                <a:solidFill>
                  <a:schemeClr val="lt1"/>
                </a:solidFill>
              </a:rPr>
              <a:t> Dynamic Module Switching: Adapt pipeline configuration at runtime based on query type or latency constraints.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68"/>
          <p:cNvSpPr txBox="1"/>
          <p:nvPr>
            <p:ph type="ctrTitle"/>
          </p:nvPr>
        </p:nvSpPr>
        <p:spPr>
          <a:xfrm>
            <a:off x="1209200" y="1613829"/>
            <a:ext cx="5980800" cy="13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          THANK YOU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